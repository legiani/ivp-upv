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2" r:id="rId9"/>
    <p:sldId id="265" r:id="rId10"/>
    <p:sldId id="266" r:id="rId11"/>
    <p:sldId id="267" r:id="rId12"/>
    <p:sldId id="269" r:id="rId13"/>
    <p:sldId id="268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95C9449A-030B-4BC4-B176-1C1D63B8C649}">
          <p14:sldIdLst>
            <p14:sldId id="256"/>
            <p14:sldId id="257"/>
            <p14:sldId id="258"/>
            <p14:sldId id="259"/>
            <p14:sldId id="260"/>
            <p14:sldId id="263"/>
            <p14:sldId id="264"/>
            <p14:sldId id="262"/>
            <p14:sldId id="265"/>
            <p14:sldId id="266"/>
            <p14:sldId id="267"/>
            <p14:sldId id="269"/>
            <p14:sldId id="268"/>
            <p14:sldId id="270"/>
            <p14:sldId id="271"/>
            <p14:sldId id="272"/>
            <p14:sldId id="273"/>
            <p14:sldId id="275"/>
            <p14:sldId id="276"/>
            <p14:sldId id="277"/>
            <p14:sldId id="2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5/15/2023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A22D72-E75A-BE6E-3605-AD56E5E8A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925" y="2404534"/>
            <a:ext cx="8731078" cy="1646302"/>
          </a:xfrm>
        </p:spPr>
        <p:txBody>
          <a:bodyPr/>
          <a:lstStyle/>
          <a:p>
            <a:r>
              <a:rPr lang="cs-CZ" dirty="0"/>
              <a:t>Názory pedagogů středních škol na vybrané problémy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971EED4-8CD5-96AB-CA43-73DF520857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Autorka práce: Ing. Kamila Bulušková</a:t>
            </a:r>
          </a:p>
          <a:p>
            <a:r>
              <a:rPr lang="cs-CZ" dirty="0"/>
              <a:t>Vedoucí práce: Ing. Kateřina Tomšíková, Ph.D.</a:t>
            </a:r>
          </a:p>
        </p:txBody>
      </p:sp>
    </p:spTree>
    <p:extLst>
      <p:ext uri="{BB962C8B-B14F-4D97-AF65-F5344CB8AC3E}">
        <p14:creationId xmlns:p14="http://schemas.microsoft.com/office/powerpoint/2010/main" val="2849302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8BEEBD-6A20-6B5E-3A83-E9A5773E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Cíle práce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544118-29BC-B391-70F5-2DB04DD54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7176"/>
            <a:ext cx="8596668" cy="3880773"/>
          </a:xfrm>
        </p:spPr>
        <p:txBody>
          <a:bodyPr>
            <a:normAutofit/>
          </a:bodyPr>
          <a:lstStyle/>
          <a:p>
            <a:r>
              <a:rPr lang="cs-CZ" sz="2800" dirty="0"/>
              <a:t>Analýza názorů pedagogů středních škol na vybrané téma</a:t>
            </a:r>
          </a:p>
          <a:p>
            <a:r>
              <a:rPr lang="cs-CZ" sz="2800" dirty="0"/>
              <a:t>Syntéza a komparace zjištěných poznatků</a:t>
            </a:r>
          </a:p>
          <a:p>
            <a:r>
              <a:rPr lang="cs-CZ" sz="2800" dirty="0"/>
              <a:t>Vyslovení vlastního doporučení pro zlepšení současné situace</a:t>
            </a: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D31FD3D7-8933-6B9F-0A06-28277E9FB42C}"/>
              </a:ext>
            </a:extLst>
          </p:cNvPr>
          <p:cNvSpPr txBox="1">
            <a:spLocks/>
          </p:cNvSpPr>
          <p:nvPr/>
        </p:nvSpPr>
        <p:spPr>
          <a:xfrm>
            <a:off x="677334" y="412002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cs-CZ" dirty="0"/>
              <a:t>Metodika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E08710D0-D349-F0AA-ADEA-E4069EF52E6A}"/>
              </a:ext>
            </a:extLst>
          </p:cNvPr>
          <p:cNvSpPr txBox="1">
            <a:spLocks/>
          </p:cNvSpPr>
          <p:nvPr/>
        </p:nvSpPr>
        <p:spPr>
          <a:xfrm>
            <a:off x="677334" y="4880899"/>
            <a:ext cx="8596668" cy="1220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800" dirty="0"/>
              <a:t>Analýza informací z odborných monografií</a:t>
            </a:r>
          </a:p>
          <a:p>
            <a:r>
              <a:rPr lang="cs-CZ" sz="2800" dirty="0"/>
              <a:t>Dotazníkové šetření u pedagogů</a:t>
            </a:r>
          </a:p>
        </p:txBody>
      </p:sp>
    </p:spTree>
    <p:extLst>
      <p:ext uri="{BB962C8B-B14F-4D97-AF65-F5344CB8AC3E}">
        <p14:creationId xmlns:p14="http://schemas.microsoft.com/office/powerpoint/2010/main" val="2359701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AC5BDB-87BB-FEEB-EC0F-B284DFD1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Teoretická část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8425A4-A16A-901A-E2D1-CE962022F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800"/>
            <a:ext cx="8596668" cy="5629275"/>
          </a:xfrm>
        </p:spPr>
        <p:txBody>
          <a:bodyPr>
            <a:normAutofit/>
          </a:bodyPr>
          <a:lstStyle/>
          <a:p>
            <a:r>
              <a:rPr lang="cs-CZ" sz="2800" b="1" dirty="0"/>
              <a:t>Základní pojmy z oblasti vzdělávání</a:t>
            </a:r>
          </a:p>
          <a:p>
            <a:pPr lvl="1"/>
            <a:r>
              <a:rPr lang="cs-CZ" sz="2400" dirty="0"/>
              <a:t>Vzdělávání, vzdělávací soustava v ČR, výchovně-vzdělávací proces (cíle, prostředky)</a:t>
            </a:r>
          </a:p>
          <a:p>
            <a:r>
              <a:rPr lang="cs-CZ" sz="2800" b="1" dirty="0"/>
              <a:t>Základní pojmy z oblasti transgender</a:t>
            </a:r>
          </a:p>
          <a:p>
            <a:pPr lvl="1"/>
            <a:r>
              <a:rPr lang="cs-CZ" sz="2400" dirty="0"/>
              <a:t>Pohlaví, rod, genderová role, genderová identita, transgender identita</a:t>
            </a:r>
          </a:p>
          <a:p>
            <a:pPr lvl="1"/>
            <a:r>
              <a:rPr lang="cs-CZ" sz="2400" dirty="0"/>
              <a:t>Legislativa ČR spjatá s transgender</a:t>
            </a:r>
          </a:p>
          <a:p>
            <a:r>
              <a:rPr lang="cs-CZ" sz="2800" b="1" dirty="0"/>
              <a:t>Transgender v prostředí škol</a:t>
            </a:r>
          </a:p>
          <a:p>
            <a:pPr lvl="1"/>
            <a:r>
              <a:rPr lang="cs-CZ" sz="2400" dirty="0"/>
              <a:t>Tvorba respektujícího prostředí, podpůrná opatření ze strany školy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36051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4AD23F-3D0E-922B-CD4C-5407AE234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Praktická část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B4169FA-7CB6-BEDC-C35C-8B44506F8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Charakteristika místa šetření</a:t>
            </a:r>
          </a:p>
          <a:p>
            <a:r>
              <a:rPr lang="cs-CZ" sz="2800" dirty="0"/>
              <a:t>Realizace dotazníkového šetření</a:t>
            </a:r>
            <a:endParaRPr lang="cs-CZ" sz="2400" dirty="0"/>
          </a:p>
          <a:p>
            <a:r>
              <a:rPr lang="cs-CZ" sz="2800" dirty="0"/>
              <a:t>Zhodnocení výsledků dotazníkového šetření</a:t>
            </a:r>
          </a:p>
          <a:p>
            <a:r>
              <a:rPr lang="cs-CZ" sz="2800" dirty="0"/>
              <a:t>Vlastní doporučení</a:t>
            </a:r>
          </a:p>
        </p:txBody>
      </p:sp>
    </p:spTree>
    <p:extLst>
      <p:ext uri="{BB962C8B-B14F-4D97-AF65-F5344CB8AC3E}">
        <p14:creationId xmlns:p14="http://schemas.microsoft.com/office/powerpoint/2010/main" val="121811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0DD24B-637A-5DCF-A92D-0291A379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Charakteristika skupiny respondentů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01B845-08F8-D181-00A9-2ECF6CB33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800" dirty="0"/>
              <a:t>64 oslovených středoškolských pedagogů</a:t>
            </a:r>
          </a:p>
          <a:p>
            <a:pPr lvl="1"/>
            <a:r>
              <a:rPr lang="cs-CZ" sz="2400" dirty="0"/>
              <a:t>37 žen (57,8 %), 27 mužů (42,2 %)</a:t>
            </a:r>
          </a:p>
          <a:p>
            <a:pPr lvl="1"/>
            <a:r>
              <a:rPr lang="cs-CZ" sz="2400" dirty="0"/>
              <a:t>Mezi respondenty byly nejvíce zastoupeny věkové skupiny v rozmezí věku 41–50 let (28,1 %) a 51–60 let (23,4 %) </a:t>
            </a:r>
          </a:p>
          <a:p>
            <a:pPr lvl="1"/>
            <a:r>
              <a:rPr lang="cs-CZ" sz="2400" dirty="0"/>
              <a:t>Délka pedagogické praxe respondentů byla nejčastěji delší, než 31 let (26,6 %), následována skupinou s délkou praxe v rozmezí 16-25 let (20,3 %)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16867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BB1BE02F-1287-F0AE-0F70-8F54CAE16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811" y="1605435"/>
            <a:ext cx="10649447" cy="44804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190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A4EF838B-E0EA-B452-06B8-E5EFA70E27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685" y="1606585"/>
            <a:ext cx="10254413" cy="46418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3915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376BBE6-B58E-0B9D-26BF-41C59B4975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227" y="1541059"/>
            <a:ext cx="10397409" cy="4368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378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A3F613A-5E27-613A-3583-1569DCAED8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2" y="1605225"/>
            <a:ext cx="10248898" cy="4643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5892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777F42F7-BCDB-316E-5A04-61863187C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417" y="1705497"/>
            <a:ext cx="10035903" cy="45429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0967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85716E82-3482-712C-DD0F-EC80E8D34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166" y="1798267"/>
            <a:ext cx="10546101" cy="44298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131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5D4DD2BF-288C-DCE2-E08B-33C1A7CB8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497" y="1642532"/>
            <a:ext cx="10457161" cy="43925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5460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47FCE5-AD33-BDDD-58AA-B9FD5E1B8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Zmiňované kroky k usnadnění inkluze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98702E-CB72-09EB-9D49-E2F406868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Poskytnutí poradenství dotyčnému žáku/žákyni či jeho/jejím zákonným zástupcům</a:t>
            </a:r>
          </a:p>
          <a:p>
            <a:r>
              <a:rPr lang="cs-CZ" sz="2400" dirty="0"/>
              <a:t>Přijetí preferovaného nového jména ze strany školy</a:t>
            </a:r>
          </a:p>
          <a:p>
            <a:r>
              <a:rPr lang="cs-CZ" sz="2400" dirty="0"/>
              <a:t>Citlivé vysvětlení situace spolužákům dotyčné/ho</a:t>
            </a:r>
          </a:p>
          <a:p>
            <a:r>
              <a:rPr lang="cs-CZ" sz="2400" dirty="0"/>
              <a:t>Vyhrazení samostatných WC či převlékáren</a:t>
            </a:r>
          </a:p>
          <a:p>
            <a:r>
              <a:rPr lang="cs-CZ" sz="2400" dirty="0"/>
              <a:t>Realizace speciálního školení pro pedagogické pracovníky</a:t>
            </a:r>
          </a:p>
        </p:txBody>
      </p:sp>
    </p:spTree>
    <p:extLst>
      <p:ext uri="{BB962C8B-B14F-4D97-AF65-F5344CB8AC3E}">
        <p14:creationId xmlns:p14="http://schemas.microsoft.com/office/powerpoint/2010/main" val="3903734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EDD596-8530-285D-5340-4B7BB12A3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Vyjádření osobního názoru respondentů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D76F2A-2DCA-6D07-EA20-565F6CCE8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8800"/>
            <a:ext cx="8596668" cy="4629149"/>
          </a:xfrm>
        </p:spPr>
        <p:txBody>
          <a:bodyPr>
            <a:normAutofit/>
          </a:bodyPr>
          <a:lstStyle/>
          <a:p>
            <a:r>
              <a:rPr lang="cs-CZ" sz="2400" dirty="0"/>
              <a:t>Transgender problematika je v dnešní době „módní“ záležitostí, příležitostí ke způsobení senzace mezi spolužáky</a:t>
            </a:r>
          </a:p>
          <a:p>
            <a:r>
              <a:rPr lang="cs-CZ" sz="2400" dirty="0"/>
              <a:t>Skutečnost výskytu transgender osoby ve škole byla složitěji přijata ze strany starších pedagogů</a:t>
            </a:r>
          </a:p>
          <a:p>
            <a:r>
              <a:rPr lang="cs-CZ" sz="2400" dirty="0"/>
              <a:t>Nutnost zajištění dalšího vzdělávání pedagogů v této problematice</a:t>
            </a:r>
          </a:p>
          <a:p>
            <a:r>
              <a:rPr lang="cs-CZ" sz="2400" dirty="0"/>
              <a:t>Pro některé pedagogy je transgender novou problematikou, mnozí ji však vnímají jako běžnou</a:t>
            </a:r>
          </a:p>
          <a:p>
            <a:r>
              <a:rPr lang="cs-CZ" sz="2400" dirty="0"/>
              <a:t>Žádná odpověď nebyla negativního či nenávistného charakteru</a:t>
            </a:r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399253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32" name="Rectangle 18">
            <a:extLst>
              <a:ext uri="{FF2B5EF4-FFF2-40B4-BE49-F238E27FC236}">
                <a16:creationId xmlns:a16="http://schemas.microsoft.com/office/drawing/2014/main" id="{4F57DB1C-6494-4CC4-A5E8-93195756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20">
            <a:extLst>
              <a:ext uri="{FF2B5EF4-FFF2-40B4-BE49-F238E27FC236}">
                <a16:creationId xmlns:a16="http://schemas.microsoft.com/office/drawing/2014/main" id="{FFFB778B-5206-4BB0-A468-327E71367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4" name="Freeform: Shape 22">
            <a:extLst>
              <a:ext uri="{FF2B5EF4-FFF2-40B4-BE49-F238E27FC236}">
                <a16:creationId xmlns:a16="http://schemas.microsoft.com/office/drawing/2014/main" id="{E6C0471D-BE03-4D81-BDB5-D510BC0D8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3379" y="0"/>
            <a:ext cx="5438621" cy="6857999"/>
          </a:xfrm>
          <a:custGeom>
            <a:avLst/>
            <a:gdLst>
              <a:gd name="connsiteX0" fmla="*/ 0 w 5438621"/>
              <a:gd name="connsiteY0" fmla="*/ 0 h 6857999"/>
              <a:gd name="connsiteX1" fmla="*/ 573774 w 5438621"/>
              <a:gd name="connsiteY1" fmla="*/ 0 h 6857999"/>
              <a:gd name="connsiteX2" fmla="*/ 1182808 w 5438621"/>
              <a:gd name="connsiteY2" fmla="*/ 0 h 6857999"/>
              <a:gd name="connsiteX3" fmla="*/ 4537195 w 5438621"/>
              <a:gd name="connsiteY3" fmla="*/ 0 h 6857999"/>
              <a:gd name="connsiteX4" fmla="*/ 5187609 w 5438621"/>
              <a:gd name="connsiteY4" fmla="*/ 0 h 6857999"/>
              <a:gd name="connsiteX5" fmla="*/ 5438621 w 5438621"/>
              <a:gd name="connsiteY5" fmla="*/ 0 h 6857999"/>
              <a:gd name="connsiteX6" fmla="*/ 5438621 w 5438621"/>
              <a:gd name="connsiteY6" fmla="*/ 6857999 h 6857999"/>
              <a:gd name="connsiteX7" fmla="*/ 4802807 w 5438621"/>
              <a:gd name="connsiteY7" fmla="*/ 6857999 h 6857999"/>
              <a:gd name="connsiteX8" fmla="*/ 4537195 w 5438621"/>
              <a:gd name="connsiteY8" fmla="*/ 6857999 h 6857999"/>
              <a:gd name="connsiteX9" fmla="*/ 1182808 w 5438621"/>
              <a:gd name="connsiteY9" fmla="*/ 6857999 h 6857999"/>
              <a:gd name="connsiteX10" fmla="*/ 1049897 w 5438621"/>
              <a:gd name="connsiteY1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38621" h="6857999">
                <a:moveTo>
                  <a:pt x="0" y="0"/>
                </a:moveTo>
                <a:lnTo>
                  <a:pt x="573774" y="0"/>
                </a:lnTo>
                <a:lnTo>
                  <a:pt x="1182808" y="0"/>
                </a:lnTo>
                <a:lnTo>
                  <a:pt x="4537195" y="0"/>
                </a:lnTo>
                <a:lnTo>
                  <a:pt x="5187609" y="0"/>
                </a:lnTo>
                <a:lnTo>
                  <a:pt x="5438621" y="0"/>
                </a:lnTo>
                <a:lnTo>
                  <a:pt x="5438621" y="6857999"/>
                </a:lnTo>
                <a:lnTo>
                  <a:pt x="4802807" y="6857999"/>
                </a:lnTo>
                <a:lnTo>
                  <a:pt x="4537195" y="6857999"/>
                </a:lnTo>
                <a:lnTo>
                  <a:pt x="1182808" y="6857999"/>
                </a:lnTo>
                <a:lnTo>
                  <a:pt x="1049897" y="685799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35" name="Straight Connector 24">
            <a:extLst>
              <a:ext uri="{FF2B5EF4-FFF2-40B4-BE49-F238E27FC236}">
                <a16:creationId xmlns:a16="http://schemas.microsoft.com/office/drawing/2014/main" id="{22721A85-1EA4-4D87-97AB-0BB4AB78F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78143" y="0"/>
            <a:ext cx="860630" cy="6857999"/>
          </a:xfrm>
          <a:prstGeom prst="line">
            <a:avLst/>
          </a:prstGeom>
          <a:ln w="15875" cap="sq">
            <a:solidFill>
              <a:schemeClr val="accent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26">
            <a:extLst>
              <a:ext uri="{FF2B5EF4-FFF2-40B4-BE49-F238E27FC236}">
                <a16:creationId xmlns:a16="http://schemas.microsoft.com/office/drawing/2014/main" id="{E5E836EB-03CD-4BA5-A751-21D2ACC2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53743" y="3483429"/>
            <a:ext cx="6738258" cy="337457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28">
            <a:extLst>
              <a:ext uri="{FF2B5EF4-FFF2-40B4-BE49-F238E27FC236}">
                <a16:creationId xmlns:a16="http://schemas.microsoft.com/office/drawing/2014/main" id="{A27691EB-14CF-4237-B5EB-C94B92677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4940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2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572954B-ED9A-BA1F-979C-4C02C3CF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4" y="854529"/>
            <a:ext cx="5799665" cy="5148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Vlastní doporučení</a:t>
            </a:r>
          </a:p>
        </p:txBody>
      </p:sp>
    </p:spTree>
    <p:extLst>
      <p:ext uri="{BB962C8B-B14F-4D97-AF65-F5344CB8AC3E}">
        <p14:creationId xmlns:p14="http://schemas.microsoft.com/office/powerpoint/2010/main" val="3207194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8B27BB-B87A-66A3-122E-2C4A01981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doporučení k usnadnění inkluze transgender žactva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558D389-379F-C8EE-8E9C-46F933C12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Posílení vzdělávání pedagogů v této problematice</a:t>
            </a:r>
          </a:p>
          <a:p>
            <a:r>
              <a:rPr lang="cs-CZ" sz="2400" dirty="0"/>
              <a:t>Eliminace učiva, podporujícího vznik genderových stereotypů</a:t>
            </a:r>
          </a:p>
          <a:p>
            <a:r>
              <a:rPr lang="cs-CZ" sz="2400" dirty="0"/>
              <a:t>Reflexe různých genderových identit a eliminace stereotypizace v běžných projevech pedagogů</a:t>
            </a:r>
          </a:p>
          <a:p>
            <a:r>
              <a:rPr lang="cs-CZ" sz="2400" dirty="0"/>
              <a:t>Úprava kurikula tak, aby obsahovalo témata související s LGBT+ komunitou a jednotlivými minoritami</a:t>
            </a:r>
          </a:p>
          <a:p>
            <a:r>
              <a:rPr lang="cs-CZ" sz="2400" dirty="0"/>
              <a:t>Oslovování transgender žactva jimi zvoleným jménem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87822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8B27BB-B87A-66A3-122E-2C4A01981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doporučení k usnadnění inkluze transgender žactva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558D389-379F-C8EE-8E9C-46F933C12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Zahrnutí problematiky transgenderu do minimálního preventivního programu škol</a:t>
            </a:r>
          </a:p>
          <a:p>
            <a:r>
              <a:rPr lang="cs-CZ" sz="2400" dirty="0"/>
              <a:t>Zaujmutí negativního postoje k jakýmkoli projevům transfobie ze strany žáků a zejména učitelů</a:t>
            </a:r>
          </a:p>
          <a:p>
            <a:r>
              <a:rPr lang="cs-CZ" sz="2400" dirty="0"/>
              <a:t>Poskytování poradenství a relevantních kontaktů</a:t>
            </a:r>
          </a:p>
          <a:p>
            <a:r>
              <a:rPr lang="cs-CZ" sz="2400" dirty="0"/>
              <a:t>Případná úprava prostor segregovaných dle pohlaví (šatny, toalety)</a:t>
            </a:r>
          </a:p>
        </p:txBody>
      </p:sp>
    </p:spTree>
    <p:extLst>
      <p:ext uri="{BB962C8B-B14F-4D97-AF65-F5344CB8AC3E}">
        <p14:creationId xmlns:p14="http://schemas.microsoft.com/office/powerpoint/2010/main" val="2262511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0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1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2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D572954B-ED9A-BA1F-979C-4C02C3CF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Otázky</a:t>
            </a:r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vedoucího</a:t>
            </a:r>
            <a:r>
              <a:rPr lang="cs-CZ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a oponenta</a:t>
            </a:r>
            <a:endParaRPr lang="en-US" sz="54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1" name="Graphic 40" descr="Help">
            <a:extLst>
              <a:ext uri="{FF2B5EF4-FFF2-40B4-BE49-F238E27FC236}">
                <a16:creationId xmlns:a16="http://schemas.microsoft.com/office/drawing/2014/main" id="{9AB147E5-99BA-10E8-A590-FF7FE7A84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748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0C2E0B-A997-521B-43E4-CC7B7B128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Otázky vedoucího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9D1AC64-224D-E239-BBD3-5AD826502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1. Z Vašeho dotazníkového šetření vyplynulo, že postoje pedagogů k problematice transgender osob ve školství jsou z větší části pozitivní. Setkala jste se Vy osobně s nějakým výslovně odmítavým stanoviskem nějakého pedagoga? Pokud ano, v čem jeho postoj spočíval?</a:t>
            </a:r>
          </a:p>
          <a:p>
            <a:endParaRPr lang="cs-CZ" dirty="0"/>
          </a:p>
          <a:p>
            <a:r>
              <a:rPr lang="cs-CZ" dirty="0"/>
              <a:t>2. Ve své práci zmiňujete spolek Transparent, z. s., který se zabývá poradenskou činností pro transgender osoby. Mohla byste přiblížit aktivity tohoto spolku?</a:t>
            </a:r>
          </a:p>
        </p:txBody>
      </p:sp>
    </p:spTree>
    <p:extLst>
      <p:ext uri="{BB962C8B-B14F-4D97-AF65-F5344CB8AC3E}">
        <p14:creationId xmlns:p14="http://schemas.microsoft.com/office/powerpoint/2010/main" val="935114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0C2E0B-A997-521B-43E4-CC7B7B128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Otázky oponenta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9D1AC64-224D-E239-BBD3-5AD826502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1. Překvapila Vás převaha pozitivního postoje učitelů k problematice transgender osob?</a:t>
            </a:r>
          </a:p>
          <a:p>
            <a:endParaRPr lang="cs-CZ" dirty="0"/>
          </a:p>
          <a:p>
            <a:r>
              <a:rPr lang="cs-CZ" dirty="0"/>
              <a:t>2. Je potřebná metodika pro učitele k uvedené problematice?</a:t>
            </a:r>
          </a:p>
        </p:txBody>
      </p:sp>
    </p:spTree>
    <p:extLst>
      <p:ext uri="{BB962C8B-B14F-4D97-AF65-F5344CB8AC3E}">
        <p14:creationId xmlns:p14="http://schemas.microsoft.com/office/powerpoint/2010/main" val="3989833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32" name="Rectangle 18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20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22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A866A84D-90BA-BCE3-C3E9-D8518E2F9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282701"/>
            <a:ext cx="5096060" cy="4307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/>
              <a:t>Děkuji za pozornost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72003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146</TotalTime>
  <Words>525</Words>
  <Application>Microsoft Office PowerPoint</Application>
  <PresentationFormat>Širokoúhlá obrazovka</PresentationFormat>
  <Paragraphs>69</Paragraphs>
  <Slides>21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Wingdings 3</vt:lpstr>
      <vt:lpstr>Fazeta</vt:lpstr>
      <vt:lpstr>Názory pedagogů středních škol na vybrané problémy</vt:lpstr>
      <vt:lpstr>Cíle práce</vt:lpstr>
      <vt:lpstr>Teoretická část </vt:lpstr>
      <vt:lpstr>Praktická část</vt:lpstr>
      <vt:lpstr>Charakteristika skupiny respondentů</vt:lpstr>
      <vt:lpstr>Výsledky dotazníkového šetření</vt:lpstr>
      <vt:lpstr>Výsledky dotazníkového šetření</vt:lpstr>
      <vt:lpstr>Výsledky dotazníkového šetření</vt:lpstr>
      <vt:lpstr>Výsledky dotazníkového šetření</vt:lpstr>
      <vt:lpstr>Výsledky dotazníkového šetření</vt:lpstr>
      <vt:lpstr>Výsledky dotazníkového šetření</vt:lpstr>
      <vt:lpstr>Výsledky dotazníkového šetření</vt:lpstr>
      <vt:lpstr>Zmiňované kroky k usnadnění inkluze</vt:lpstr>
      <vt:lpstr>Vyjádření osobního názoru respondentů</vt:lpstr>
      <vt:lpstr>Vlastní doporučení</vt:lpstr>
      <vt:lpstr>Vlastní doporučení k usnadnění inkluze transgender žactva</vt:lpstr>
      <vt:lpstr>Vlastní doporučení k usnadnění inkluze transgender žactva</vt:lpstr>
      <vt:lpstr>Otázky vedoucího a oponenta</vt:lpstr>
      <vt:lpstr>Otázky vedoucího</vt:lpstr>
      <vt:lpstr>Otázky oponenta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Názory pedagogů středních škol na vybrané problémy</dc:title>
  <dc:creator>Bulušková Kamila</dc:creator>
  <cp:lastModifiedBy>Bulušková Kamila</cp:lastModifiedBy>
  <cp:revision>1</cp:revision>
  <dcterms:created xsi:type="dcterms:W3CDTF">2023-05-15T11:22:34Z</dcterms:created>
  <dcterms:modified xsi:type="dcterms:W3CDTF">2023-05-15T13:49:28Z</dcterms:modified>
</cp:coreProperties>
</file>