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95C9449A-030B-4BC4-B176-1C1D63B8C649}">
          <p14:sldIdLst>
            <p14:sldId id="256"/>
            <p14:sldId id="257"/>
            <p14:sldId id="258"/>
            <p14:sldId id="259"/>
            <p14:sldId id="260"/>
            <p14:sldId id="263"/>
            <p14:sldId id="264"/>
            <p14:sldId id="262"/>
            <p14:sldId id="265"/>
            <p14:sldId id="266"/>
            <p14:sldId id="267"/>
            <p14:sldId id="269"/>
            <p14:sldId id="268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1B609A-A491-4095-A607-884182956AAE}" v="16" dt="2023-05-19T10:54:32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E91B609A-A491-4095-A607-884182956AAE}"/>
    <pc:docChg chg="custSel modSld">
      <pc:chgData name="Bulušková Kamila" userId="b14598a1-bbdf-4794-a95a-12c2c16168d9" providerId="ADAL" clId="{E91B609A-A491-4095-A607-884182956AAE}" dt="2023-05-19T10:54:35.907" v="40" actId="20577"/>
      <pc:docMkLst>
        <pc:docMk/>
      </pc:docMkLst>
      <pc:sldChg chg="addSp modSp mod">
        <pc:chgData name="Bulušková Kamila" userId="b14598a1-bbdf-4794-a95a-12c2c16168d9" providerId="ADAL" clId="{E91B609A-A491-4095-A607-884182956AAE}" dt="2023-05-19T10:52:48.673" v="2" actId="1076"/>
        <pc:sldMkLst>
          <pc:docMk/>
          <pc:sldMk cId="2359701574" sldId="257"/>
        </pc:sldMkLst>
        <pc:spChg chg="add mod">
          <ac:chgData name="Bulušková Kamila" userId="b14598a1-bbdf-4794-a95a-12c2c16168d9" providerId="ADAL" clId="{E91B609A-A491-4095-A607-884182956AAE}" dt="2023-05-19T10:52:48.673" v="2" actId="1076"/>
          <ac:spMkLst>
            <pc:docMk/>
            <pc:sldMk cId="2359701574" sldId="257"/>
            <ac:spMk id="6" creationId="{2299DBC3-1B30-C3D9-BDB1-2B2E535271EF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00.308" v="5" actId="20577"/>
        <pc:sldMkLst>
          <pc:docMk/>
          <pc:sldMk cId="3836051117" sldId="258"/>
        </pc:sldMkLst>
        <pc:spChg chg="add mod">
          <ac:chgData name="Bulušková Kamila" userId="b14598a1-bbdf-4794-a95a-12c2c16168d9" providerId="ADAL" clId="{E91B609A-A491-4095-A607-884182956AAE}" dt="2023-05-19T10:53:00.308" v="5" actId="20577"/>
          <ac:spMkLst>
            <pc:docMk/>
            <pc:sldMk cId="3836051117" sldId="258"/>
            <ac:spMk id="4" creationId="{D47D658A-C441-ABF4-1C48-87C41AB5EB3A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10.207" v="8" actId="20577"/>
        <pc:sldMkLst>
          <pc:docMk/>
          <pc:sldMk cId="1218117579" sldId="259"/>
        </pc:sldMkLst>
        <pc:spChg chg="add mod">
          <ac:chgData name="Bulušková Kamila" userId="b14598a1-bbdf-4794-a95a-12c2c16168d9" providerId="ADAL" clId="{E91B609A-A491-4095-A607-884182956AAE}" dt="2023-05-19T10:53:10.207" v="8" actId="20577"/>
          <ac:spMkLst>
            <pc:docMk/>
            <pc:sldMk cId="1218117579" sldId="259"/>
            <ac:spMk id="4" creationId="{32C98193-F16E-E194-E4E7-E128EA2063C6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18.014" v="11" actId="20577"/>
        <pc:sldMkLst>
          <pc:docMk/>
          <pc:sldMk cId="4016867187" sldId="260"/>
        </pc:sldMkLst>
        <pc:spChg chg="add mod">
          <ac:chgData name="Bulušková Kamila" userId="b14598a1-bbdf-4794-a95a-12c2c16168d9" providerId="ADAL" clId="{E91B609A-A491-4095-A607-884182956AAE}" dt="2023-05-19T10:53:18.014" v="11" actId="20577"/>
          <ac:spMkLst>
            <pc:docMk/>
            <pc:sldMk cId="4016867187" sldId="260"/>
            <ac:spMk id="4" creationId="{BB0E16A8-4E6D-0089-61E6-0525485AD701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38.763" v="20" actId="20577"/>
        <pc:sldMkLst>
          <pc:docMk/>
          <pc:sldMk cId="177378609" sldId="262"/>
        </pc:sldMkLst>
        <pc:spChg chg="add mod">
          <ac:chgData name="Bulušková Kamila" userId="b14598a1-bbdf-4794-a95a-12c2c16168d9" providerId="ADAL" clId="{E91B609A-A491-4095-A607-884182956AAE}" dt="2023-05-19T10:53:38.763" v="20" actId="20577"/>
          <ac:spMkLst>
            <pc:docMk/>
            <pc:sldMk cId="177378609" sldId="262"/>
            <ac:spMk id="3" creationId="{26586A14-C597-B743-8748-6CAEACD12B6C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24.960" v="14" actId="20577"/>
        <pc:sldMkLst>
          <pc:docMk/>
          <pc:sldMk cId="3861901062" sldId="263"/>
        </pc:sldMkLst>
        <pc:spChg chg="add mod">
          <ac:chgData name="Bulušková Kamila" userId="b14598a1-bbdf-4794-a95a-12c2c16168d9" providerId="ADAL" clId="{E91B609A-A491-4095-A607-884182956AAE}" dt="2023-05-19T10:53:24.960" v="14" actId="20577"/>
          <ac:spMkLst>
            <pc:docMk/>
            <pc:sldMk cId="3861901062" sldId="263"/>
            <ac:spMk id="3" creationId="{14FBBB32-1B8E-1492-453A-3C3180C2F71B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31.884" v="17" actId="20577"/>
        <pc:sldMkLst>
          <pc:docMk/>
          <pc:sldMk cId="1233915624" sldId="264"/>
        </pc:sldMkLst>
        <pc:spChg chg="add mod">
          <ac:chgData name="Bulušková Kamila" userId="b14598a1-bbdf-4794-a95a-12c2c16168d9" providerId="ADAL" clId="{E91B609A-A491-4095-A607-884182956AAE}" dt="2023-05-19T10:53:31.884" v="17" actId="20577"/>
          <ac:spMkLst>
            <pc:docMk/>
            <pc:sldMk cId="1233915624" sldId="264"/>
            <ac:spMk id="3" creationId="{3651E912-F3D4-F857-3308-418A79A005D6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44.619" v="23" actId="20577"/>
        <pc:sldMkLst>
          <pc:docMk/>
          <pc:sldMk cId="3675892126" sldId="265"/>
        </pc:sldMkLst>
        <pc:spChg chg="add mod">
          <ac:chgData name="Bulušková Kamila" userId="b14598a1-bbdf-4794-a95a-12c2c16168d9" providerId="ADAL" clId="{E91B609A-A491-4095-A607-884182956AAE}" dt="2023-05-19T10:53:44.619" v="23" actId="20577"/>
          <ac:spMkLst>
            <pc:docMk/>
            <pc:sldMk cId="3675892126" sldId="265"/>
            <ac:spMk id="3" creationId="{EA4692D7-D70E-B180-B0CF-E8410A3CE2F8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50.325" v="26" actId="20577"/>
        <pc:sldMkLst>
          <pc:docMk/>
          <pc:sldMk cId="4130967384" sldId="266"/>
        </pc:sldMkLst>
        <pc:spChg chg="add mod">
          <ac:chgData name="Bulušková Kamila" userId="b14598a1-bbdf-4794-a95a-12c2c16168d9" providerId="ADAL" clId="{E91B609A-A491-4095-A607-884182956AAE}" dt="2023-05-19T10:53:50.325" v="26" actId="20577"/>
          <ac:spMkLst>
            <pc:docMk/>
            <pc:sldMk cId="4130967384" sldId="266"/>
            <ac:spMk id="3" creationId="{BC6BB1CE-A951-E90C-2DDC-87AB84237924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3:54.975" v="28" actId="20577"/>
        <pc:sldMkLst>
          <pc:docMk/>
          <pc:sldMk cId="123131957" sldId="267"/>
        </pc:sldMkLst>
        <pc:spChg chg="add mod">
          <ac:chgData name="Bulušková Kamila" userId="b14598a1-bbdf-4794-a95a-12c2c16168d9" providerId="ADAL" clId="{E91B609A-A491-4095-A607-884182956AAE}" dt="2023-05-19T10:53:54.975" v="28" actId="20577"/>
          <ac:spMkLst>
            <pc:docMk/>
            <pc:sldMk cId="123131957" sldId="267"/>
            <ac:spMk id="3" creationId="{311AE551-645B-E3E4-BC34-312687A9F810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4:07.186" v="32" actId="20577"/>
        <pc:sldMkLst>
          <pc:docMk/>
          <pc:sldMk cId="3903734012" sldId="268"/>
        </pc:sldMkLst>
        <pc:spChg chg="add mod">
          <ac:chgData name="Bulušková Kamila" userId="b14598a1-bbdf-4794-a95a-12c2c16168d9" providerId="ADAL" clId="{E91B609A-A491-4095-A607-884182956AAE}" dt="2023-05-19T10:54:07.186" v="32" actId="20577"/>
          <ac:spMkLst>
            <pc:docMk/>
            <pc:sldMk cId="3903734012" sldId="268"/>
            <ac:spMk id="4" creationId="{16EC996A-B450-9C78-36B9-0A1C09577303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4:01.776" v="30" actId="20577"/>
        <pc:sldMkLst>
          <pc:docMk/>
          <pc:sldMk cId="925460035" sldId="269"/>
        </pc:sldMkLst>
        <pc:spChg chg="add mod">
          <ac:chgData name="Bulušková Kamila" userId="b14598a1-bbdf-4794-a95a-12c2c16168d9" providerId="ADAL" clId="{E91B609A-A491-4095-A607-884182956AAE}" dt="2023-05-19T10:54:01.776" v="30" actId="20577"/>
          <ac:spMkLst>
            <pc:docMk/>
            <pc:sldMk cId="925460035" sldId="269"/>
            <ac:spMk id="3" creationId="{6233C587-FBD5-7210-A245-A7BA6CD593AC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4:13.326" v="34" actId="20577"/>
        <pc:sldMkLst>
          <pc:docMk/>
          <pc:sldMk cId="2399253713" sldId="270"/>
        </pc:sldMkLst>
        <pc:spChg chg="add mod">
          <ac:chgData name="Bulušková Kamila" userId="b14598a1-bbdf-4794-a95a-12c2c16168d9" providerId="ADAL" clId="{E91B609A-A491-4095-A607-884182956AAE}" dt="2023-05-19T10:54:13.326" v="34" actId="20577"/>
          <ac:spMkLst>
            <pc:docMk/>
            <pc:sldMk cId="2399253713" sldId="270"/>
            <ac:spMk id="4" creationId="{6B7BBDC0-1A51-78D3-B896-499737C77A41}"/>
          </ac:spMkLst>
        </pc:spChg>
      </pc:sldChg>
      <pc:sldChg chg="addSp delSp modSp mod">
        <pc:chgData name="Bulušková Kamila" userId="b14598a1-bbdf-4794-a95a-12c2c16168d9" providerId="ADAL" clId="{E91B609A-A491-4095-A607-884182956AAE}" dt="2023-05-19T10:54:23.658" v="36" actId="478"/>
        <pc:sldMkLst>
          <pc:docMk/>
          <pc:sldMk cId="3207194018" sldId="271"/>
        </pc:sldMkLst>
        <pc:spChg chg="add del mod">
          <ac:chgData name="Bulušková Kamila" userId="b14598a1-bbdf-4794-a95a-12c2c16168d9" providerId="ADAL" clId="{E91B609A-A491-4095-A607-884182956AAE}" dt="2023-05-19T10:54:23.658" v="36" actId="478"/>
          <ac:spMkLst>
            <pc:docMk/>
            <pc:sldMk cId="3207194018" sldId="271"/>
            <ac:spMk id="3" creationId="{49E19CBB-3ECB-EEFF-A0CF-C00B3C2593A0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4:30.599" v="38" actId="20577"/>
        <pc:sldMkLst>
          <pc:docMk/>
          <pc:sldMk cId="1487822494" sldId="272"/>
        </pc:sldMkLst>
        <pc:spChg chg="add mod">
          <ac:chgData name="Bulušková Kamila" userId="b14598a1-bbdf-4794-a95a-12c2c16168d9" providerId="ADAL" clId="{E91B609A-A491-4095-A607-884182956AAE}" dt="2023-05-19T10:54:30.599" v="38" actId="20577"/>
          <ac:spMkLst>
            <pc:docMk/>
            <pc:sldMk cId="1487822494" sldId="272"/>
            <ac:spMk id="4" creationId="{0A73F206-ED02-E4FE-45A5-D6B7F4325BA0}"/>
          </ac:spMkLst>
        </pc:spChg>
      </pc:sldChg>
      <pc:sldChg chg="addSp modSp mod">
        <pc:chgData name="Bulušková Kamila" userId="b14598a1-bbdf-4794-a95a-12c2c16168d9" providerId="ADAL" clId="{E91B609A-A491-4095-A607-884182956AAE}" dt="2023-05-19T10:54:35.907" v="40" actId="20577"/>
        <pc:sldMkLst>
          <pc:docMk/>
          <pc:sldMk cId="2262511437" sldId="273"/>
        </pc:sldMkLst>
        <pc:spChg chg="add mod">
          <ac:chgData name="Bulušková Kamila" userId="b14598a1-bbdf-4794-a95a-12c2c16168d9" providerId="ADAL" clId="{E91B609A-A491-4095-A607-884182956AAE}" dt="2023-05-19T10:54:35.907" v="40" actId="20577"/>
          <ac:spMkLst>
            <pc:docMk/>
            <pc:sldMk cId="2262511437" sldId="273"/>
            <ac:spMk id="4" creationId="{1E45A2E7-693D-3191-DDFB-16BD23A511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A22D72-E75A-BE6E-3605-AD56E5E8A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925" y="2404534"/>
            <a:ext cx="8731078" cy="1646302"/>
          </a:xfrm>
        </p:spPr>
        <p:txBody>
          <a:bodyPr/>
          <a:lstStyle/>
          <a:p>
            <a:r>
              <a:rPr lang="cs-CZ" dirty="0"/>
              <a:t>Názory pedagogů středních škol na vybrané problémy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71EED4-8CD5-96AB-CA43-73DF520857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Autorka práce: Ing. Kamila Bulušková</a:t>
            </a:r>
          </a:p>
          <a:p>
            <a:r>
              <a:rPr lang="cs-CZ" dirty="0"/>
              <a:t>Vedoucí práce: Ing. Kateřina Tomšíková, Ph.D.</a:t>
            </a:r>
          </a:p>
          <a:p>
            <a:r>
              <a:rPr lang="cs-CZ" dirty="0"/>
              <a:t>Oponentka práce: doc. PhDr. Radmila Dytrtová, CSc.</a:t>
            </a:r>
          </a:p>
        </p:txBody>
      </p:sp>
    </p:spTree>
    <p:extLst>
      <p:ext uri="{BB962C8B-B14F-4D97-AF65-F5344CB8AC3E}">
        <p14:creationId xmlns:p14="http://schemas.microsoft.com/office/powerpoint/2010/main" val="284930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8BEEBD-6A20-6B5E-3A83-E9A5773E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544118-29BC-B391-70F5-2DB04DD54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176"/>
            <a:ext cx="8596668" cy="3880773"/>
          </a:xfrm>
        </p:spPr>
        <p:txBody>
          <a:bodyPr>
            <a:normAutofit/>
          </a:bodyPr>
          <a:lstStyle/>
          <a:p>
            <a:r>
              <a:rPr lang="cs-CZ" sz="2800" dirty="0"/>
              <a:t>Analýza názorů pedagogů středních škol na vybrané téma</a:t>
            </a:r>
          </a:p>
          <a:p>
            <a:r>
              <a:rPr lang="cs-CZ" sz="2800" dirty="0"/>
              <a:t>Syntéza a komparace zjištěných poznatků</a:t>
            </a:r>
          </a:p>
          <a:p>
            <a:r>
              <a:rPr lang="cs-CZ" sz="2800" dirty="0"/>
              <a:t>Vyslovení vlastního doporučení pro zlepšení současné situace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D31FD3D7-8933-6B9F-0A06-28277E9FB42C}"/>
              </a:ext>
            </a:extLst>
          </p:cNvPr>
          <p:cNvSpPr txBox="1">
            <a:spLocks/>
          </p:cNvSpPr>
          <p:nvPr/>
        </p:nvSpPr>
        <p:spPr>
          <a:xfrm>
            <a:off x="677334" y="412002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Metodika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E08710D0-D349-F0AA-ADEA-E4069EF52E6A}"/>
              </a:ext>
            </a:extLst>
          </p:cNvPr>
          <p:cNvSpPr txBox="1">
            <a:spLocks/>
          </p:cNvSpPr>
          <p:nvPr/>
        </p:nvSpPr>
        <p:spPr>
          <a:xfrm>
            <a:off x="677334" y="4880899"/>
            <a:ext cx="8596668" cy="1220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800" dirty="0"/>
              <a:t>Analýza informací z odborných monografií</a:t>
            </a:r>
          </a:p>
          <a:p>
            <a:r>
              <a:rPr lang="cs-CZ" sz="2800" dirty="0"/>
              <a:t>Dotazníkové šetření u pedagogů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299DBC3-1B30-C3D9-BDB1-2B2E535271EF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970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AC5BDB-87BB-FEEB-EC0F-B284DFD1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Teoretická část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8425A4-A16A-901A-E2D1-CE962022F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0"/>
            <a:ext cx="8596668" cy="5629275"/>
          </a:xfrm>
        </p:spPr>
        <p:txBody>
          <a:bodyPr>
            <a:normAutofit/>
          </a:bodyPr>
          <a:lstStyle/>
          <a:p>
            <a:r>
              <a:rPr lang="cs-CZ" sz="2800" b="1" dirty="0"/>
              <a:t>Základní pojmy z oblasti vzdělávání</a:t>
            </a:r>
          </a:p>
          <a:p>
            <a:pPr lvl="1"/>
            <a:r>
              <a:rPr lang="cs-CZ" sz="2400" dirty="0"/>
              <a:t>Vzdělávání, vzdělávací soustava v ČR, výchovně-vzdělávací proces (cíle, prostředky)</a:t>
            </a:r>
          </a:p>
          <a:p>
            <a:r>
              <a:rPr lang="cs-CZ" sz="2800" b="1" dirty="0"/>
              <a:t>Základní pojmy z oblasti transgender</a:t>
            </a:r>
          </a:p>
          <a:p>
            <a:pPr lvl="1"/>
            <a:r>
              <a:rPr lang="cs-CZ" sz="2400" dirty="0"/>
              <a:t>Pohlaví, rod, genderová role, genderová identita, transgender identita</a:t>
            </a:r>
          </a:p>
          <a:p>
            <a:pPr lvl="1"/>
            <a:r>
              <a:rPr lang="cs-CZ" sz="2400" dirty="0"/>
              <a:t>Legislativa ČR spjatá s transgender problematikou</a:t>
            </a:r>
          </a:p>
          <a:p>
            <a:r>
              <a:rPr lang="cs-CZ" sz="2800" b="1" dirty="0"/>
              <a:t>Transgender v prostředí škol</a:t>
            </a:r>
          </a:p>
          <a:p>
            <a:pPr lvl="1"/>
            <a:r>
              <a:rPr lang="cs-CZ" sz="2400" dirty="0"/>
              <a:t>Tvorba respektujícího prostředí, podpůrná opatření ze strany školy</a:t>
            </a:r>
          </a:p>
          <a:p>
            <a:pPr lvl="1"/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47D658A-C441-ABF4-1C48-87C41AB5EB3A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605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4AD23F-3D0E-922B-CD4C-5407AE23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část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4169FA-7CB6-BEDC-C35C-8B44506F8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Charakteristika místa šetření</a:t>
            </a:r>
          </a:p>
          <a:p>
            <a:r>
              <a:rPr lang="cs-CZ" sz="2800" dirty="0"/>
              <a:t>Realizace dotazníkového šetření</a:t>
            </a:r>
            <a:endParaRPr lang="cs-CZ" sz="2400" dirty="0"/>
          </a:p>
          <a:p>
            <a:r>
              <a:rPr lang="cs-CZ" sz="2800" dirty="0"/>
              <a:t>Zhodnocení výsledků dotazníkového šetření</a:t>
            </a:r>
          </a:p>
          <a:p>
            <a:r>
              <a:rPr lang="cs-CZ" sz="2800" dirty="0"/>
              <a:t>Vlastní doporučení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2C98193-F16E-E194-E4E7-E128EA2063C6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811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0DD24B-637A-5DCF-A92D-0291A379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Charakteristika skupiny respondentů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01B845-08F8-D181-00A9-2ECF6CB33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/>
              <a:t>64 oslovených středoškolských pedagogů</a:t>
            </a:r>
          </a:p>
          <a:p>
            <a:pPr lvl="1"/>
            <a:r>
              <a:rPr lang="cs-CZ" sz="2400" dirty="0"/>
              <a:t>37 žen (57,8 %), 27 mužů (42,2 %)</a:t>
            </a:r>
          </a:p>
          <a:p>
            <a:pPr lvl="1"/>
            <a:r>
              <a:rPr lang="cs-CZ" sz="2400" dirty="0"/>
              <a:t>Mezi respondenty byly nejvíce zastoupeny věkové skupiny v rozmezí věku 41–50 let (28,1 %) a 51–60 let (23,4 %) </a:t>
            </a:r>
          </a:p>
          <a:p>
            <a:pPr lvl="1"/>
            <a:r>
              <a:rPr lang="cs-CZ" sz="2400" dirty="0"/>
              <a:t>Délka pedagogické praxe respondentů byla nejčastěji delší, než 31 let (26,6 %), následována skupinou s délkou praxe v rozmezí 16-25 let (20,3 %)</a:t>
            </a:r>
          </a:p>
          <a:p>
            <a:pPr lvl="1"/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B0E16A8-4E6D-0089-61E6-0525485AD701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1686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BB1BE02F-1287-F0AE-0F70-8F54CAE16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11" y="1605435"/>
            <a:ext cx="10649447" cy="448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14FBBB32-1B8E-1492-453A-3C3180C2F71B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6190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A4EF838B-E0EA-B452-06B8-E5EFA70E2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14" y="1606585"/>
            <a:ext cx="9187543" cy="46418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3651E912-F3D4-F857-3308-418A79A005D6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3391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376BBE6-B58E-0B9D-26BF-41C59B497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227" y="1541059"/>
            <a:ext cx="10397409" cy="43689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26586A14-C597-B743-8748-6CAEACD12B6C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737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A3F613A-5E27-613A-3583-1569DCAED8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2" y="1605225"/>
            <a:ext cx="10248898" cy="46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EA4692D7-D70E-B180-B0CF-E8410A3CE2F8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75892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77F42F7-BCDB-316E-5A04-61863187C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17" y="1705497"/>
            <a:ext cx="10035903" cy="45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BC6BB1CE-A951-E90C-2DDC-87AB84237924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3096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85716E82-3482-712C-DD0F-EC80E8D34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166" y="1798267"/>
            <a:ext cx="10546101" cy="442986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311AE551-645B-E3E4-BC34-312687A9F810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13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ECBB03-99D9-31E1-3C5B-D3E8B79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Výsledky dotazníkového šetření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D4DD2BF-288C-DCE2-E08B-33C1A7CB8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497" y="1642532"/>
            <a:ext cx="10457161" cy="439250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6233C587-FBD5-7210-A245-A7BA6CD593AC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5460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47FCE5-AD33-BDDD-58AA-B9FD5E1B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Zmiňované kroky k usnadnění inkluze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98702E-CB72-09EB-9D49-E2F40686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Poskytnutí poradenství dotyčnému žáku/žákyni či jeho/jejím zákonným zástupcům</a:t>
            </a:r>
          </a:p>
          <a:p>
            <a:r>
              <a:rPr lang="cs-CZ" sz="2400" dirty="0"/>
              <a:t>Přijetí preferovaného nového jména ze strany školy</a:t>
            </a:r>
          </a:p>
          <a:p>
            <a:r>
              <a:rPr lang="cs-CZ" sz="2400" dirty="0"/>
              <a:t>Citlivé vysvětlení situace spolužákům dotyčné/ho</a:t>
            </a:r>
          </a:p>
          <a:p>
            <a:r>
              <a:rPr lang="cs-CZ" sz="2400" dirty="0"/>
              <a:t>Vyhrazení samostatných WC či převlékáren</a:t>
            </a:r>
          </a:p>
          <a:p>
            <a:r>
              <a:rPr lang="cs-CZ" sz="2400" dirty="0"/>
              <a:t>Realizace speciálního školení pro pedagogické pracovníky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16EC996A-B450-9C78-36B9-0A1C09577303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0373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EDD596-8530-285D-5340-4B7BB12A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Vyjádření osobního názoru respondentů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D76F2A-2DCA-6D07-EA20-565F6CCE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8800"/>
            <a:ext cx="8596668" cy="4629149"/>
          </a:xfrm>
        </p:spPr>
        <p:txBody>
          <a:bodyPr>
            <a:normAutofit/>
          </a:bodyPr>
          <a:lstStyle/>
          <a:p>
            <a:r>
              <a:rPr lang="cs-CZ" sz="2400" dirty="0"/>
              <a:t>Transgender problematika je v dnešní době „módní“ záležitostí, příležitostí ke způsobení senzace mezi spolužáky</a:t>
            </a:r>
          </a:p>
          <a:p>
            <a:r>
              <a:rPr lang="cs-CZ" sz="2400" dirty="0"/>
              <a:t>Skutečnost výskytu transgender osoby ve škole byla složitěji přijata ze strany starších pedagogů</a:t>
            </a:r>
          </a:p>
          <a:p>
            <a:r>
              <a:rPr lang="cs-CZ" sz="2400" dirty="0"/>
              <a:t>Nutnost zajištění dalšího vzdělávání pedagogů v této problematice</a:t>
            </a:r>
          </a:p>
          <a:p>
            <a:r>
              <a:rPr lang="cs-CZ" sz="2400" dirty="0"/>
              <a:t>Pro některé pedagogy je transgender novou problematikou, mnozí ji však vnímají jako běžnou</a:t>
            </a:r>
          </a:p>
          <a:p>
            <a:r>
              <a:rPr lang="cs-CZ" sz="2400" dirty="0"/>
              <a:t>Žádná odpověď nebyla negativního či nenávistného charakteru</a:t>
            </a:r>
          </a:p>
          <a:p>
            <a:endParaRPr lang="cs-CZ" sz="240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B7BBDC0-1A51-78D3-B896-499737C77A41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9925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20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Freeform: Shape 22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35" name="Straight Connector 24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26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28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72954B-ED9A-BA1F-979C-4C02C3CF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854529"/>
            <a:ext cx="579966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Vlastní doporučení</a:t>
            </a:r>
          </a:p>
        </p:txBody>
      </p:sp>
    </p:spTree>
    <p:extLst>
      <p:ext uri="{BB962C8B-B14F-4D97-AF65-F5344CB8AC3E}">
        <p14:creationId xmlns:p14="http://schemas.microsoft.com/office/powerpoint/2010/main" val="3207194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8B27BB-B87A-66A3-122E-2C4A0198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doporučení k usnadnění inkluze transgender žactva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58D389-379F-C8EE-8E9C-46F933C12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Posílení vzdělávání pedagogů v této problematice</a:t>
            </a:r>
          </a:p>
          <a:p>
            <a:r>
              <a:rPr lang="cs-CZ" sz="2400" dirty="0"/>
              <a:t>Eliminace učiva, podporujícího vznik genderových stereotypů</a:t>
            </a:r>
          </a:p>
          <a:p>
            <a:r>
              <a:rPr lang="cs-CZ" sz="2400" dirty="0"/>
              <a:t>Reflexe různých genderových identit a eliminace stereotypizace v běžných projevech pedagogů</a:t>
            </a:r>
          </a:p>
          <a:p>
            <a:r>
              <a:rPr lang="cs-CZ" sz="2400" dirty="0"/>
              <a:t>Úprava kurikula tak, aby obsahovalo témata související s LGBT+ komunitou a jednotlivými minoritami</a:t>
            </a:r>
          </a:p>
          <a:p>
            <a:r>
              <a:rPr lang="cs-CZ" sz="2400" dirty="0"/>
              <a:t>Oslovování transgender žactva jimi zvoleným jménem</a:t>
            </a:r>
          </a:p>
          <a:p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A73F206-ED02-E4FE-45A5-D6B7F4325BA0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87822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8B27BB-B87A-66A3-122E-2C4A0198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doporučení k usnadnění inkluze transgender žactva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58D389-379F-C8EE-8E9C-46F933C12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Zahrnutí problematiky transgenderu do minimálního preventivního programu škol</a:t>
            </a:r>
          </a:p>
          <a:p>
            <a:r>
              <a:rPr lang="cs-CZ" sz="2400" dirty="0"/>
              <a:t>Zaujmutí negativního postoje k jakýmkoli projevům transfobie ze strany žáků a zejména učitelů</a:t>
            </a:r>
          </a:p>
          <a:p>
            <a:r>
              <a:rPr lang="cs-CZ" sz="2400" dirty="0"/>
              <a:t>Poskytování poradenství a relevantních kontaktů</a:t>
            </a:r>
          </a:p>
          <a:p>
            <a:r>
              <a:rPr lang="cs-CZ" sz="2400" dirty="0"/>
              <a:t>Případná úprava prostor segregovaných dle pohlaví (šatny, toalety)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1E45A2E7-693D-3191-DDFB-16BD23A51169}"/>
              </a:ext>
            </a:extLst>
          </p:cNvPr>
          <p:cNvSpPr txBox="1"/>
          <p:nvPr/>
        </p:nvSpPr>
        <p:spPr>
          <a:xfrm>
            <a:off x="5610225" y="63912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62511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D572954B-ED9A-BA1F-979C-4C02C3CF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Otázky</a:t>
            </a:r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vedoucí</a:t>
            </a:r>
            <a:r>
              <a:rPr lang="cs-CZ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a oponentky</a:t>
            </a:r>
            <a:endParaRPr lang="en-US" sz="5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1" name="Graphic 40" descr="Help">
            <a:extLst>
              <a:ext uri="{FF2B5EF4-FFF2-40B4-BE49-F238E27FC236}">
                <a16:creationId xmlns:a16="http://schemas.microsoft.com/office/drawing/2014/main" id="{9AB147E5-99BA-10E8-A590-FF7FE7A84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48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0C2E0B-A997-521B-43E4-CC7B7B12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vedoucí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D1AC64-224D-E239-BBD3-5AD8265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1. Z Vašeho dotazníkového šetření vyplynulo, že postoje pedagogů k problematice transgender osob ve školství jsou z větší části pozitivní. Setkala jste se Vy osobně s nějakým výslovně odmítavým stanoviskem nějakého pedagoga? Pokud ano, v čem jeho postoj spočíval?</a:t>
            </a:r>
          </a:p>
          <a:p>
            <a:endParaRPr lang="cs-CZ" dirty="0"/>
          </a:p>
          <a:p>
            <a:r>
              <a:rPr lang="cs-CZ" dirty="0"/>
              <a:t>2. Ve své práci zmiňujete spolek Transparent, z. s., který se zabývá poradenskou činností pro transgender osoby. Mohla byste přiblížit aktivity tohoto spolku?</a:t>
            </a:r>
          </a:p>
        </p:txBody>
      </p:sp>
    </p:spTree>
    <p:extLst>
      <p:ext uri="{BB962C8B-B14F-4D97-AF65-F5344CB8AC3E}">
        <p14:creationId xmlns:p14="http://schemas.microsoft.com/office/powerpoint/2010/main" val="93511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0C2E0B-A997-521B-43E4-CC7B7B12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oponentky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D1AC64-224D-E239-BBD3-5AD8265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1. Překvapila Vás převaha pozitivního postoje učitelů k problematice transgender osob?</a:t>
            </a:r>
          </a:p>
          <a:p>
            <a:endParaRPr lang="cs-CZ" dirty="0"/>
          </a:p>
          <a:p>
            <a:r>
              <a:rPr lang="cs-CZ" dirty="0"/>
              <a:t>2. Je potřebná metodika pro učitele k uvedené problematice?</a:t>
            </a:r>
          </a:p>
        </p:txBody>
      </p:sp>
    </p:spTree>
    <p:extLst>
      <p:ext uri="{BB962C8B-B14F-4D97-AF65-F5344CB8AC3E}">
        <p14:creationId xmlns:p14="http://schemas.microsoft.com/office/powerpoint/2010/main" val="3989833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20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22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A866A84D-90BA-BCE3-C3E9-D8518E2F9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282701"/>
            <a:ext cx="5096060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Děkuji za pozornost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72003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4690</TotalTime>
  <Words>553</Words>
  <Application>Microsoft Office PowerPoint</Application>
  <PresentationFormat>Širokoúhlá obrazovka</PresentationFormat>
  <Paragraphs>85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Fazeta</vt:lpstr>
      <vt:lpstr>Názory pedagogů středních škol na vybrané problémy</vt:lpstr>
      <vt:lpstr>Cíle práce</vt:lpstr>
      <vt:lpstr>Teoretická část </vt:lpstr>
      <vt:lpstr>Praktická část</vt:lpstr>
      <vt:lpstr>Charakteristika skupiny respondentů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Výsledky dotazníkového šetření</vt:lpstr>
      <vt:lpstr>Zmiňované kroky k usnadnění inkluze</vt:lpstr>
      <vt:lpstr>Vyjádření osobního názoru respondentů</vt:lpstr>
      <vt:lpstr>Vlastní doporučení</vt:lpstr>
      <vt:lpstr>Vlastní doporučení k usnadnění inkluze transgender žactva</vt:lpstr>
      <vt:lpstr>Vlastní doporučení k usnadnění inkluze transgender žactva</vt:lpstr>
      <vt:lpstr>Otázky vedoucí a oponentky</vt:lpstr>
      <vt:lpstr>Otázky vedoucí</vt:lpstr>
      <vt:lpstr>Otázky oponentky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Názory pedagogů středních škol na vybrané problémy</dc:title>
  <dc:creator>Bulušková Kamila</dc:creator>
  <cp:lastModifiedBy>Bulušková Kamila</cp:lastModifiedBy>
  <cp:revision>2</cp:revision>
  <dcterms:created xsi:type="dcterms:W3CDTF">2023-05-15T11:22:34Z</dcterms:created>
  <dcterms:modified xsi:type="dcterms:W3CDTF">2023-05-19T10:54:39Z</dcterms:modified>
</cp:coreProperties>
</file>