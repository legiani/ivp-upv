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sldIdLst>
    <p:sldId id="256" r:id="rId3"/>
    <p:sldId id="257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A2EA49-D476-4F91-8D74-C8AB559B9267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A424C8D-ABB7-42AF-AB9F-C09B076202D7}">
      <dgm:prSet/>
      <dgm:spPr/>
      <dgm:t>
        <a:bodyPr/>
        <a:lstStyle/>
        <a:p>
          <a:r>
            <a:rPr lang="cs-CZ" b="1" i="0" dirty="0">
              <a:latin typeface="+mj-lt"/>
            </a:rPr>
            <a:t>Kompetence k učení: </a:t>
          </a:r>
          <a:r>
            <a:rPr lang="cs-CZ" b="0" i="1" dirty="0">
              <a:latin typeface="+mj-lt"/>
            </a:rPr>
            <a:t>Vzdělávání směřuje k tomu, aby absolventi byli schopni efektivně se učit, vyhodnocovat dosažené výsledky a pokrok a reálně si stanovovat potřeby a cíle svého dalšího vzdělávání</a:t>
          </a:r>
          <a:endParaRPr lang="en-US" dirty="0">
            <a:latin typeface="+mj-lt"/>
          </a:endParaRPr>
        </a:p>
      </dgm:t>
    </dgm:pt>
    <dgm:pt modelId="{35FE0A82-AE88-4A4D-B592-A63FCCB4C956}" type="parTrans" cxnId="{5CBA73A0-B006-4183-9D50-6EE5D31BB0E5}">
      <dgm:prSet/>
      <dgm:spPr/>
      <dgm:t>
        <a:bodyPr/>
        <a:lstStyle/>
        <a:p>
          <a:endParaRPr lang="en-US"/>
        </a:p>
      </dgm:t>
    </dgm:pt>
    <dgm:pt modelId="{0C4C62ED-4C89-4A0C-AB36-81E9746CA519}" type="sibTrans" cxnId="{5CBA73A0-B006-4183-9D50-6EE5D31BB0E5}">
      <dgm:prSet/>
      <dgm:spPr/>
      <dgm:t>
        <a:bodyPr/>
        <a:lstStyle/>
        <a:p>
          <a:endParaRPr lang="en-US"/>
        </a:p>
      </dgm:t>
    </dgm:pt>
    <dgm:pt modelId="{64F66FDB-A75F-4D0D-9873-A3C15FBD4FF1}">
      <dgm:prSet/>
      <dgm:spPr/>
      <dgm:t>
        <a:bodyPr/>
        <a:lstStyle/>
        <a:p>
          <a:r>
            <a:rPr lang="cs-CZ" b="1" i="0" dirty="0">
              <a:latin typeface="+mj-lt"/>
            </a:rPr>
            <a:t>Kompetence k řešení problémů: </a:t>
          </a:r>
          <a:r>
            <a:rPr lang="cs-CZ" b="0" i="1" dirty="0">
              <a:latin typeface="+mj-lt"/>
            </a:rPr>
            <a:t>Vzdělávání směřuje k tomu, aby absolventi byli schopni samostatně řešit běžné pracovní i mimopracovní problémy</a:t>
          </a:r>
          <a:endParaRPr lang="en-US" dirty="0">
            <a:latin typeface="+mj-lt"/>
          </a:endParaRPr>
        </a:p>
      </dgm:t>
    </dgm:pt>
    <dgm:pt modelId="{92179D5D-3355-4E87-BA7B-8758CC0CC34D}" type="parTrans" cxnId="{93E3BDBD-4684-433C-9976-DEE549DDC886}">
      <dgm:prSet/>
      <dgm:spPr/>
      <dgm:t>
        <a:bodyPr/>
        <a:lstStyle/>
        <a:p>
          <a:endParaRPr lang="en-US"/>
        </a:p>
      </dgm:t>
    </dgm:pt>
    <dgm:pt modelId="{478D9125-0477-4BB3-99A8-F7A5AFAB416C}" type="sibTrans" cxnId="{93E3BDBD-4684-433C-9976-DEE549DDC886}">
      <dgm:prSet/>
      <dgm:spPr/>
      <dgm:t>
        <a:bodyPr/>
        <a:lstStyle/>
        <a:p>
          <a:endParaRPr lang="en-US"/>
        </a:p>
      </dgm:t>
    </dgm:pt>
    <dgm:pt modelId="{6BFD33C3-1211-4174-8DCB-E0D6EFF5451B}">
      <dgm:prSet/>
      <dgm:spPr/>
      <dgm:t>
        <a:bodyPr/>
        <a:lstStyle/>
        <a:p>
          <a:r>
            <a:rPr lang="cs-CZ" b="1" i="0" dirty="0">
              <a:latin typeface="+mj-lt"/>
            </a:rPr>
            <a:t>Komunikativní kompetence: </a:t>
          </a:r>
          <a:r>
            <a:rPr lang="cs-CZ" b="0" i="1" dirty="0">
              <a:latin typeface="+mj-lt"/>
            </a:rPr>
            <a:t>Vzdělávání směřuje k tomu, aby absolventi byli schopni vyjadřovat se v písemné i ústní formě v různých učebních, životních i pracovních situacích</a:t>
          </a:r>
          <a:endParaRPr lang="en-US" dirty="0">
            <a:latin typeface="+mj-lt"/>
          </a:endParaRPr>
        </a:p>
      </dgm:t>
    </dgm:pt>
    <dgm:pt modelId="{464051F1-D541-4931-8695-1E64743D45C1}" type="parTrans" cxnId="{8925739C-6898-4085-9131-8F811C3AF3B2}">
      <dgm:prSet/>
      <dgm:spPr/>
      <dgm:t>
        <a:bodyPr/>
        <a:lstStyle/>
        <a:p>
          <a:endParaRPr lang="en-US"/>
        </a:p>
      </dgm:t>
    </dgm:pt>
    <dgm:pt modelId="{958EF173-6DA7-4FCF-99A8-B2E0FD178120}" type="sibTrans" cxnId="{8925739C-6898-4085-9131-8F811C3AF3B2}">
      <dgm:prSet/>
      <dgm:spPr/>
      <dgm:t>
        <a:bodyPr/>
        <a:lstStyle/>
        <a:p>
          <a:endParaRPr lang="en-US"/>
        </a:p>
      </dgm:t>
    </dgm:pt>
    <dgm:pt modelId="{5C15A133-AB7E-426E-8E64-BD1AD39E4917}">
      <dgm:prSet/>
      <dgm:spPr/>
      <dgm:t>
        <a:bodyPr/>
        <a:lstStyle/>
        <a:p>
          <a:r>
            <a:rPr lang="cs-CZ" b="1" i="0" dirty="0">
              <a:latin typeface="+mj-lt"/>
            </a:rPr>
            <a:t>Personální a sociální kompetence: </a:t>
          </a:r>
          <a:r>
            <a:rPr lang="cs-CZ" b="0" i="1" dirty="0">
              <a:latin typeface="+mj-lt"/>
            </a:rPr>
            <a:t>Vzdělávání směřuje k tomu, aby absolventi byli připraveni stanovovat si na základě poznání své osobnosti přiměřené cíle osobního rozvoje v oblasti zájmové i pracovní, pečovat o své zdraví, spolupracovat s ostatními a přispívat k utváření vhodných mezilidských vztahů</a:t>
          </a:r>
          <a:endParaRPr lang="en-US" dirty="0">
            <a:latin typeface="+mj-lt"/>
          </a:endParaRPr>
        </a:p>
      </dgm:t>
    </dgm:pt>
    <dgm:pt modelId="{08CA7D47-A3D2-4DCE-9234-E19F1906E5CB}" type="parTrans" cxnId="{0293BD79-69AF-41D0-A720-67105F6C7407}">
      <dgm:prSet/>
      <dgm:spPr/>
      <dgm:t>
        <a:bodyPr/>
        <a:lstStyle/>
        <a:p>
          <a:endParaRPr lang="en-US"/>
        </a:p>
      </dgm:t>
    </dgm:pt>
    <dgm:pt modelId="{2889D451-7FE7-4F65-8215-22D2F4EAC39A}" type="sibTrans" cxnId="{0293BD79-69AF-41D0-A720-67105F6C7407}">
      <dgm:prSet/>
      <dgm:spPr/>
      <dgm:t>
        <a:bodyPr/>
        <a:lstStyle/>
        <a:p>
          <a:endParaRPr lang="en-US"/>
        </a:p>
      </dgm:t>
    </dgm:pt>
    <dgm:pt modelId="{5F27562E-32B2-44F3-BE7D-D925AC32F05C}">
      <dgm:prSet/>
      <dgm:spPr/>
      <dgm:t>
        <a:bodyPr/>
        <a:lstStyle/>
        <a:p>
          <a:r>
            <a:rPr lang="cs-CZ" b="1" i="0" dirty="0">
              <a:latin typeface="+mj-lt"/>
            </a:rPr>
            <a:t>Kompetence využívat prostředky informačních a komunikačních technologií a pracovat s informacemi: </a:t>
          </a:r>
          <a:r>
            <a:rPr lang="cs-CZ" b="0" i="1" dirty="0">
              <a:latin typeface="+mj-lt"/>
            </a:rPr>
            <a:t>Vzdělávání směřuje k tomu, aby absolventi pracovali s osobním počítačem a jeho základním a aplikačním programovým vybavením, ale i s dalšími prostředky ICT a využívali adekvátní zdroje informací a efektivně pracovali s informacemi</a:t>
          </a:r>
          <a:endParaRPr lang="en-US" dirty="0">
            <a:latin typeface="+mj-lt"/>
          </a:endParaRPr>
        </a:p>
      </dgm:t>
    </dgm:pt>
    <dgm:pt modelId="{E4B1CBBD-5063-4BD7-9E80-89A9E622BB30}" type="parTrans" cxnId="{4D1E3E9A-FBC6-463B-B4D9-ADAD2929A989}">
      <dgm:prSet/>
      <dgm:spPr/>
      <dgm:t>
        <a:bodyPr/>
        <a:lstStyle/>
        <a:p>
          <a:endParaRPr lang="en-US"/>
        </a:p>
      </dgm:t>
    </dgm:pt>
    <dgm:pt modelId="{8E742571-1D8F-4A63-96E4-296FF3CD6514}" type="sibTrans" cxnId="{4D1E3E9A-FBC6-463B-B4D9-ADAD2929A989}">
      <dgm:prSet/>
      <dgm:spPr/>
      <dgm:t>
        <a:bodyPr/>
        <a:lstStyle/>
        <a:p>
          <a:endParaRPr lang="en-US"/>
        </a:p>
      </dgm:t>
    </dgm:pt>
    <dgm:pt modelId="{93EC2893-0793-422F-9E5D-996DC584A2A2}">
      <dgm:prSet/>
      <dgm:spPr/>
      <dgm:t>
        <a:bodyPr/>
        <a:lstStyle/>
        <a:p>
          <a:r>
            <a:rPr lang="cs-CZ" b="1" i="0" dirty="0">
              <a:latin typeface="+mj-lt"/>
            </a:rPr>
            <a:t>Matematické kompetence: </a:t>
          </a:r>
          <a:r>
            <a:rPr lang="cs-CZ" b="0" i="1" dirty="0">
              <a:latin typeface="+mj-lt"/>
            </a:rPr>
            <a:t>Vzdělávání směřuje k tomu, aby absolventi byli schopni funkčně využívat matematické dovednosti v různých životních </a:t>
          </a:r>
          <a:r>
            <a:rPr lang="cs-CZ" b="0" i="1" dirty="0" err="1">
              <a:latin typeface="+mj-lt"/>
            </a:rPr>
            <a:t>situacích</a:t>
          </a:r>
          <a:r>
            <a:rPr lang="cs-CZ" dirty="0" err="1">
              <a:latin typeface="+mj-lt"/>
            </a:rPr>
            <a:t>t</a:t>
          </a:r>
          <a:r>
            <a:rPr lang="cs-CZ" dirty="0">
              <a:latin typeface="+mj-lt"/>
            </a:rPr>
            <a:t> logické myšlení při řešení konkrétních situací ve své profesi i v životě.</a:t>
          </a:r>
          <a:endParaRPr lang="en-US" dirty="0">
            <a:latin typeface="+mj-lt"/>
          </a:endParaRPr>
        </a:p>
      </dgm:t>
    </dgm:pt>
    <dgm:pt modelId="{FB3E9B4B-01EA-46A2-B12F-5326A255AA1C}" type="sibTrans" cxnId="{8F528DC6-A9B4-493B-8E44-3C45DDA27824}">
      <dgm:prSet/>
      <dgm:spPr/>
      <dgm:t>
        <a:bodyPr/>
        <a:lstStyle/>
        <a:p>
          <a:endParaRPr lang="en-US"/>
        </a:p>
      </dgm:t>
    </dgm:pt>
    <dgm:pt modelId="{ACED76F3-759F-4985-B503-FDD9A797EA00}" type="parTrans" cxnId="{8F528DC6-A9B4-493B-8E44-3C45DDA27824}">
      <dgm:prSet/>
      <dgm:spPr/>
      <dgm:t>
        <a:bodyPr/>
        <a:lstStyle/>
        <a:p>
          <a:endParaRPr lang="en-US"/>
        </a:p>
      </dgm:t>
    </dgm:pt>
    <dgm:pt modelId="{66217FC4-CDC2-48D8-921C-4212596DA2DD}" type="pres">
      <dgm:prSet presAssocID="{BFA2EA49-D476-4F91-8D74-C8AB559B9267}" presName="diagram" presStyleCnt="0">
        <dgm:presLayoutVars>
          <dgm:dir/>
          <dgm:resizeHandles val="exact"/>
        </dgm:presLayoutVars>
      </dgm:prSet>
      <dgm:spPr/>
    </dgm:pt>
    <dgm:pt modelId="{B7AD7F35-4A82-4CB4-A492-665E7652BF33}" type="pres">
      <dgm:prSet presAssocID="{AA424C8D-ABB7-42AF-AB9F-C09B076202D7}" presName="node" presStyleLbl="node1" presStyleIdx="0" presStyleCnt="6">
        <dgm:presLayoutVars>
          <dgm:bulletEnabled val="1"/>
        </dgm:presLayoutVars>
      </dgm:prSet>
      <dgm:spPr/>
    </dgm:pt>
    <dgm:pt modelId="{7A8B393F-014E-40B1-9BA9-AD799129CE4E}" type="pres">
      <dgm:prSet presAssocID="{0C4C62ED-4C89-4A0C-AB36-81E9746CA519}" presName="sibTrans" presStyleCnt="0"/>
      <dgm:spPr/>
    </dgm:pt>
    <dgm:pt modelId="{36953E65-0700-44F5-9410-1BD8A5E6B092}" type="pres">
      <dgm:prSet presAssocID="{64F66FDB-A75F-4D0D-9873-A3C15FBD4FF1}" presName="node" presStyleLbl="node1" presStyleIdx="1" presStyleCnt="6">
        <dgm:presLayoutVars>
          <dgm:bulletEnabled val="1"/>
        </dgm:presLayoutVars>
      </dgm:prSet>
      <dgm:spPr/>
    </dgm:pt>
    <dgm:pt modelId="{54B3CFFA-24D9-4F21-9DA8-7D60777238A2}" type="pres">
      <dgm:prSet presAssocID="{478D9125-0477-4BB3-99A8-F7A5AFAB416C}" presName="sibTrans" presStyleCnt="0"/>
      <dgm:spPr/>
    </dgm:pt>
    <dgm:pt modelId="{2171BD4C-9C52-4255-B6DF-C03ABACAD749}" type="pres">
      <dgm:prSet presAssocID="{6BFD33C3-1211-4174-8DCB-E0D6EFF5451B}" presName="node" presStyleLbl="node1" presStyleIdx="2" presStyleCnt="6">
        <dgm:presLayoutVars>
          <dgm:bulletEnabled val="1"/>
        </dgm:presLayoutVars>
      </dgm:prSet>
      <dgm:spPr/>
    </dgm:pt>
    <dgm:pt modelId="{A9E3276B-4258-469E-BE31-40247208EA32}" type="pres">
      <dgm:prSet presAssocID="{958EF173-6DA7-4FCF-99A8-B2E0FD178120}" presName="sibTrans" presStyleCnt="0"/>
      <dgm:spPr/>
    </dgm:pt>
    <dgm:pt modelId="{CC741087-F6E6-46BC-8B6F-971A75452073}" type="pres">
      <dgm:prSet presAssocID="{5C15A133-AB7E-426E-8E64-BD1AD39E4917}" presName="node" presStyleLbl="node1" presStyleIdx="3" presStyleCnt="6">
        <dgm:presLayoutVars>
          <dgm:bulletEnabled val="1"/>
        </dgm:presLayoutVars>
      </dgm:prSet>
      <dgm:spPr/>
    </dgm:pt>
    <dgm:pt modelId="{DC668DC1-56EE-4A49-9C8A-995F4C290A61}" type="pres">
      <dgm:prSet presAssocID="{2889D451-7FE7-4F65-8215-22D2F4EAC39A}" presName="sibTrans" presStyleCnt="0"/>
      <dgm:spPr/>
    </dgm:pt>
    <dgm:pt modelId="{F3265056-5A74-4DF3-8D3A-BF20B7BDFB01}" type="pres">
      <dgm:prSet presAssocID="{93EC2893-0793-422F-9E5D-996DC584A2A2}" presName="node" presStyleLbl="node1" presStyleIdx="4" presStyleCnt="6">
        <dgm:presLayoutVars>
          <dgm:bulletEnabled val="1"/>
        </dgm:presLayoutVars>
      </dgm:prSet>
      <dgm:spPr/>
    </dgm:pt>
    <dgm:pt modelId="{E40E814E-3E0F-4D3D-8423-AABB61DF6819}" type="pres">
      <dgm:prSet presAssocID="{FB3E9B4B-01EA-46A2-B12F-5326A255AA1C}" presName="sibTrans" presStyleCnt="0"/>
      <dgm:spPr/>
    </dgm:pt>
    <dgm:pt modelId="{34BCE9AD-B6E4-4F49-B78A-CA279B564291}" type="pres">
      <dgm:prSet presAssocID="{5F27562E-32B2-44F3-BE7D-D925AC32F05C}" presName="node" presStyleLbl="node1" presStyleIdx="5" presStyleCnt="6">
        <dgm:presLayoutVars>
          <dgm:bulletEnabled val="1"/>
        </dgm:presLayoutVars>
      </dgm:prSet>
      <dgm:spPr/>
    </dgm:pt>
  </dgm:ptLst>
  <dgm:cxnLst>
    <dgm:cxn modelId="{E5087C01-A8AF-4471-9BF3-24836383AF1C}" type="presOf" srcId="{BFA2EA49-D476-4F91-8D74-C8AB559B9267}" destId="{66217FC4-CDC2-48D8-921C-4212596DA2DD}" srcOrd="0" destOrd="0" presId="urn:microsoft.com/office/officeart/2005/8/layout/default"/>
    <dgm:cxn modelId="{B749B31B-7C7C-48D2-9AE9-103D0D35801A}" type="presOf" srcId="{64F66FDB-A75F-4D0D-9873-A3C15FBD4FF1}" destId="{36953E65-0700-44F5-9410-1BD8A5E6B092}" srcOrd="0" destOrd="0" presId="urn:microsoft.com/office/officeart/2005/8/layout/default"/>
    <dgm:cxn modelId="{AF9FF23E-9CF4-4AD0-BF6F-1FB5DB80A6F4}" type="presOf" srcId="{5F27562E-32B2-44F3-BE7D-D925AC32F05C}" destId="{34BCE9AD-B6E4-4F49-B78A-CA279B564291}" srcOrd="0" destOrd="0" presId="urn:microsoft.com/office/officeart/2005/8/layout/default"/>
    <dgm:cxn modelId="{D9684464-CB6D-452E-B855-2A189346EDD0}" type="presOf" srcId="{AA424C8D-ABB7-42AF-AB9F-C09B076202D7}" destId="{B7AD7F35-4A82-4CB4-A492-665E7652BF33}" srcOrd="0" destOrd="0" presId="urn:microsoft.com/office/officeart/2005/8/layout/default"/>
    <dgm:cxn modelId="{A5E14C4A-AE4F-450C-B25D-4EA7ADABDEC7}" type="presOf" srcId="{5C15A133-AB7E-426E-8E64-BD1AD39E4917}" destId="{CC741087-F6E6-46BC-8B6F-971A75452073}" srcOrd="0" destOrd="0" presId="urn:microsoft.com/office/officeart/2005/8/layout/default"/>
    <dgm:cxn modelId="{00886978-4DA8-4CA7-8B0A-074F1CD2C7F2}" type="presOf" srcId="{6BFD33C3-1211-4174-8DCB-E0D6EFF5451B}" destId="{2171BD4C-9C52-4255-B6DF-C03ABACAD749}" srcOrd="0" destOrd="0" presId="urn:microsoft.com/office/officeart/2005/8/layout/default"/>
    <dgm:cxn modelId="{0293BD79-69AF-41D0-A720-67105F6C7407}" srcId="{BFA2EA49-D476-4F91-8D74-C8AB559B9267}" destId="{5C15A133-AB7E-426E-8E64-BD1AD39E4917}" srcOrd="3" destOrd="0" parTransId="{08CA7D47-A3D2-4DCE-9234-E19F1906E5CB}" sibTransId="{2889D451-7FE7-4F65-8215-22D2F4EAC39A}"/>
    <dgm:cxn modelId="{4D1E3E9A-FBC6-463B-B4D9-ADAD2929A989}" srcId="{BFA2EA49-D476-4F91-8D74-C8AB559B9267}" destId="{5F27562E-32B2-44F3-BE7D-D925AC32F05C}" srcOrd="5" destOrd="0" parTransId="{E4B1CBBD-5063-4BD7-9E80-89A9E622BB30}" sibTransId="{8E742571-1D8F-4A63-96E4-296FF3CD6514}"/>
    <dgm:cxn modelId="{8925739C-6898-4085-9131-8F811C3AF3B2}" srcId="{BFA2EA49-D476-4F91-8D74-C8AB559B9267}" destId="{6BFD33C3-1211-4174-8DCB-E0D6EFF5451B}" srcOrd="2" destOrd="0" parTransId="{464051F1-D541-4931-8695-1E64743D45C1}" sibTransId="{958EF173-6DA7-4FCF-99A8-B2E0FD178120}"/>
    <dgm:cxn modelId="{5CBA73A0-B006-4183-9D50-6EE5D31BB0E5}" srcId="{BFA2EA49-D476-4F91-8D74-C8AB559B9267}" destId="{AA424C8D-ABB7-42AF-AB9F-C09B076202D7}" srcOrd="0" destOrd="0" parTransId="{35FE0A82-AE88-4A4D-B592-A63FCCB4C956}" sibTransId="{0C4C62ED-4C89-4A0C-AB36-81E9746CA519}"/>
    <dgm:cxn modelId="{93E3BDBD-4684-433C-9976-DEE549DDC886}" srcId="{BFA2EA49-D476-4F91-8D74-C8AB559B9267}" destId="{64F66FDB-A75F-4D0D-9873-A3C15FBD4FF1}" srcOrd="1" destOrd="0" parTransId="{92179D5D-3355-4E87-BA7B-8758CC0CC34D}" sibTransId="{478D9125-0477-4BB3-99A8-F7A5AFAB416C}"/>
    <dgm:cxn modelId="{8F528DC6-A9B4-493B-8E44-3C45DDA27824}" srcId="{BFA2EA49-D476-4F91-8D74-C8AB559B9267}" destId="{93EC2893-0793-422F-9E5D-996DC584A2A2}" srcOrd="4" destOrd="0" parTransId="{ACED76F3-759F-4985-B503-FDD9A797EA00}" sibTransId="{FB3E9B4B-01EA-46A2-B12F-5326A255AA1C}"/>
    <dgm:cxn modelId="{F93AFBD6-9E34-4392-AE3D-607F459957ED}" type="presOf" srcId="{93EC2893-0793-422F-9E5D-996DC584A2A2}" destId="{F3265056-5A74-4DF3-8D3A-BF20B7BDFB01}" srcOrd="0" destOrd="0" presId="urn:microsoft.com/office/officeart/2005/8/layout/default"/>
    <dgm:cxn modelId="{E444D045-988E-4ED1-8A9A-F7E3CB65BB80}" type="presParOf" srcId="{66217FC4-CDC2-48D8-921C-4212596DA2DD}" destId="{B7AD7F35-4A82-4CB4-A492-665E7652BF33}" srcOrd="0" destOrd="0" presId="urn:microsoft.com/office/officeart/2005/8/layout/default"/>
    <dgm:cxn modelId="{ED296DEC-D2B2-4AFF-924A-D6E2551CCBB8}" type="presParOf" srcId="{66217FC4-CDC2-48D8-921C-4212596DA2DD}" destId="{7A8B393F-014E-40B1-9BA9-AD799129CE4E}" srcOrd="1" destOrd="0" presId="urn:microsoft.com/office/officeart/2005/8/layout/default"/>
    <dgm:cxn modelId="{A92371D1-205B-4665-901F-FE56AAF12691}" type="presParOf" srcId="{66217FC4-CDC2-48D8-921C-4212596DA2DD}" destId="{36953E65-0700-44F5-9410-1BD8A5E6B092}" srcOrd="2" destOrd="0" presId="urn:microsoft.com/office/officeart/2005/8/layout/default"/>
    <dgm:cxn modelId="{D0B75D3D-1EDF-456E-A916-8242A50A347D}" type="presParOf" srcId="{66217FC4-CDC2-48D8-921C-4212596DA2DD}" destId="{54B3CFFA-24D9-4F21-9DA8-7D60777238A2}" srcOrd="3" destOrd="0" presId="urn:microsoft.com/office/officeart/2005/8/layout/default"/>
    <dgm:cxn modelId="{AA08ACEF-8BA4-45AC-B4BF-33D34E401514}" type="presParOf" srcId="{66217FC4-CDC2-48D8-921C-4212596DA2DD}" destId="{2171BD4C-9C52-4255-B6DF-C03ABACAD749}" srcOrd="4" destOrd="0" presId="urn:microsoft.com/office/officeart/2005/8/layout/default"/>
    <dgm:cxn modelId="{BFB166C2-29E5-4BA6-9BEF-AE6B0A655A22}" type="presParOf" srcId="{66217FC4-CDC2-48D8-921C-4212596DA2DD}" destId="{A9E3276B-4258-469E-BE31-40247208EA32}" srcOrd="5" destOrd="0" presId="urn:microsoft.com/office/officeart/2005/8/layout/default"/>
    <dgm:cxn modelId="{E38F9C0A-860F-4461-932E-D8C03D97B34E}" type="presParOf" srcId="{66217FC4-CDC2-48D8-921C-4212596DA2DD}" destId="{CC741087-F6E6-46BC-8B6F-971A75452073}" srcOrd="6" destOrd="0" presId="urn:microsoft.com/office/officeart/2005/8/layout/default"/>
    <dgm:cxn modelId="{41A97BAC-5448-432D-B639-A02C368EB37D}" type="presParOf" srcId="{66217FC4-CDC2-48D8-921C-4212596DA2DD}" destId="{DC668DC1-56EE-4A49-9C8A-995F4C290A61}" srcOrd="7" destOrd="0" presId="urn:microsoft.com/office/officeart/2005/8/layout/default"/>
    <dgm:cxn modelId="{DA919F8F-C203-4DF0-A4CE-80BE3C5EDA4A}" type="presParOf" srcId="{66217FC4-CDC2-48D8-921C-4212596DA2DD}" destId="{F3265056-5A74-4DF3-8D3A-BF20B7BDFB01}" srcOrd="8" destOrd="0" presId="urn:microsoft.com/office/officeart/2005/8/layout/default"/>
    <dgm:cxn modelId="{1E6FDEB5-FDDD-45A2-9D6F-9369BFD53156}" type="presParOf" srcId="{66217FC4-CDC2-48D8-921C-4212596DA2DD}" destId="{E40E814E-3E0F-4D3D-8423-AABB61DF6819}" srcOrd="9" destOrd="0" presId="urn:microsoft.com/office/officeart/2005/8/layout/default"/>
    <dgm:cxn modelId="{03A78784-A0B5-484A-9063-2DB86479850C}" type="presParOf" srcId="{66217FC4-CDC2-48D8-921C-4212596DA2DD}" destId="{34BCE9AD-B6E4-4F49-B78A-CA279B564291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AE71B7F-0700-4D29-A853-65E50A4426B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A63CFA5-C44A-42E8-A1CA-591FC1319C32}">
      <dgm:prSet/>
      <dgm:spPr/>
      <dgm:t>
        <a:bodyPr/>
        <a:lstStyle/>
        <a:p>
          <a:r>
            <a:rPr lang="cs-CZ" b="1" i="0" dirty="0">
              <a:latin typeface="+mj-lt"/>
            </a:rPr>
            <a:t>Vykonávat a organizovat pracovní činnosti při pěstování rostlin, tzn</a:t>
          </a:r>
          <a:r>
            <a:rPr lang="cs-CZ" dirty="0">
              <a:latin typeface="+mj-lt"/>
            </a:rPr>
            <a:t>.: </a:t>
          </a:r>
          <a:r>
            <a:rPr lang="cs-CZ" b="0" i="1" dirty="0">
              <a:latin typeface="+mj-lt"/>
            </a:rPr>
            <a:t>sestavovat osevní postupy, vypracovávat plány hnojení a ochrany rostlin, provádět základní zpracování půdy, sklizeň a posklizňovou úpravu plodin, realizovat preventivní opatření proti výskytu chorob a škůdců polních plodin, navrhovat způsoby zpracování rostlinných produktů.</a:t>
          </a:r>
          <a:endParaRPr lang="en-US" i="1" dirty="0">
            <a:latin typeface="+mj-lt"/>
          </a:endParaRPr>
        </a:p>
      </dgm:t>
    </dgm:pt>
    <dgm:pt modelId="{678D66ED-1430-429B-BE71-8609FD6C9EAE}" type="parTrans" cxnId="{E8B111FD-EEB6-4795-AFBD-CD6E37EC29F2}">
      <dgm:prSet/>
      <dgm:spPr/>
      <dgm:t>
        <a:bodyPr/>
        <a:lstStyle/>
        <a:p>
          <a:endParaRPr lang="en-US"/>
        </a:p>
      </dgm:t>
    </dgm:pt>
    <dgm:pt modelId="{08B747EC-3BF4-4058-A248-E9C7059D3852}" type="sibTrans" cxnId="{E8B111FD-EEB6-4795-AFBD-CD6E37EC29F2}">
      <dgm:prSet/>
      <dgm:spPr/>
      <dgm:t>
        <a:bodyPr/>
        <a:lstStyle/>
        <a:p>
          <a:endParaRPr lang="en-US"/>
        </a:p>
      </dgm:t>
    </dgm:pt>
    <dgm:pt modelId="{C065B2FA-28ED-4D0C-AED0-521BE202CC2E}">
      <dgm:prSet/>
      <dgm:spPr/>
      <dgm:t>
        <a:bodyPr/>
        <a:lstStyle/>
        <a:p>
          <a:r>
            <a:rPr lang="cs-CZ" b="1" i="0" dirty="0">
              <a:latin typeface="+mj-lt"/>
            </a:rPr>
            <a:t>Vykonávat a organizovat pracovní činnosti při chovu zvířat,</a:t>
          </a:r>
          <a:r>
            <a:rPr lang="cs-CZ" b="0" i="0" dirty="0">
              <a:latin typeface="+mj-lt"/>
            </a:rPr>
            <a:t> </a:t>
          </a:r>
          <a:r>
            <a:rPr lang="cs-CZ" b="1" i="0" dirty="0">
              <a:latin typeface="+mj-lt"/>
            </a:rPr>
            <a:t>tzn: </a:t>
          </a:r>
          <a:r>
            <a:rPr lang="cs-CZ" b="0" i="1" dirty="0">
              <a:latin typeface="+mj-lt"/>
            </a:rPr>
            <a:t>uplatňovat kladný vztah ke zvířatům, zabezpečit ochranu zvířat proti týrání, navrhovat vhodný technologický postup pro určité druhy zvířat, organizovat odchov, chov a krmení zvířat, posuzovat zdravotní stav, realizovat preventivní opatření, sestavovat krmné dávky s využitím aplikovaných programů, posuzovat kvalitu krmiv, </a:t>
          </a:r>
          <a:r>
            <a:rPr lang="pl-PL" b="0" i="1" dirty="0">
              <a:latin typeface="+mj-lt"/>
            </a:rPr>
            <a:t>dojit a ošetřovat mléko po nadojení.</a:t>
          </a:r>
          <a:endParaRPr lang="en-US" i="1" dirty="0">
            <a:latin typeface="+mj-lt"/>
          </a:endParaRPr>
        </a:p>
      </dgm:t>
    </dgm:pt>
    <dgm:pt modelId="{5480E81F-FC46-4EF9-A626-601B2E71119C}" type="sibTrans" cxnId="{D8992D42-A72A-4CA9-9EBD-CD7B302C2233}">
      <dgm:prSet/>
      <dgm:spPr/>
      <dgm:t>
        <a:bodyPr/>
        <a:lstStyle/>
        <a:p>
          <a:endParaRPr lang="en-US"/>
        </a:p>
      </dgm:t>
    </dgm:pt>
    <dgm:pt modelId="{72A52A78-39AD-41E3-87E1-0B166408AA70}" type="parTrans" cxnId="{D8992D42-A72A-4CA9-9EBD-CD7B302C2233}">
      <dgm:prSet/>
      <dgm:spPr/>
      <dgm:t>
        <a:bodyPr/>
        <a:lstStyle/>
        <a:p>
          <a:endParaRPr lang="en-US"/>
        </a:p>
      </dgm:t>
    </dgm:pt>
    <dgm:pt modelId="{BEF22FAD-9127-4841-A727-8D026D82B767}">
      <dgm:prSet/>
      <dgm:spPr/>
      <dgm:t>
        <a:bodyPr/>
        <a:lstStyle/>
        <a:p>
          <a:r>
            <a:rPr lang="cs-CZ" b="1" i="0" dirty="0">
              <a:latin typeface="+mj-lt"/>
            </a:rPr>
            <a:t>Efektivně využívat zemědělskou techniku, řídit motorová vozidla, tzn.: </a:t>
          </a:r>
          <a:r>
            <a:rPr lang="cs-CZ" b="0" i="1" dirty="0">
              <a:latin typeface="+mj-lt"/>
            </a:rPr>
            <a:t>navrhovat skladbu strojů a zařízení pro jednotlivé technologie a vytvářet organizační opatření pro jejich co nejefektivnější využívání, sledovat technický stav strojů, zajišťovat seřizování, sledovat vývoj zemědělské techniky a usilovat o modernizaci a zefektivnění technologických procesů; odborná připravenost k řízení motorových vozidel skupiny T, B</a:t>
          </a:r>
          <a:r>
            <a:rPr lang="cs-CZ" b="0" i="1" dirty="0"/>
            <a:t>.</a:t>
          </a:r>
          <a:endParaRPr lang="en-US" i="1" dirty="0"/>
        </a:p>
      </dgm:t>
    </dgm:pt>
    <dgm:pt modelId="{145F2504-B00F-4EE0-8479-778A33B11C59}" type="sibTrans" cxnId="{FEB06597-91D1-4589-B8AC-9685482421C5}">
      <dgm:prSet/>
      <dgm:spPr/>
      <dgm:t>
        <a:bodyPr/>
        <a:lstStyle/>
        <a:p>
          <a:endParaRPr lang="en-US"/>
        </a:p>
      </dgm:t>
    </dgm:pt>
    <dgm:pt modelId="{FCEC83AC-8C6B-42C6-A158-D0DB9A22D38F}" type="parTrans" cxnId="{FEB06597-91D1-4589-B8AC-9685482421C5}">
      <dgm:prSet/>
      <dgm:spPr/>
      <dgm:t>
        <a:bodyPr/>
        <a:lstStyle/>
        <a:p>
          <a:endParaRPr lang="en-US"/>
        </a:p>
      </dgm:t>
    </dgm:pt>
    <dgm:pt modelId="{26517FE9-FA0D-48B2-8B5D-715AF431DD85}">
      <dgm:prSet/>
      <dgm:spPr/>
      <dgm:t>
        <a:bodyPr/>
        <a:lstStyle/>
        <a:p>
          <a:r>
            <a:rPr lang="cs-CZ" b="1" i="0" dirty="0">
              <a:latin typeface="+mj-lt"/>
            </a:rPr>
            <a:t>Vykonávat ekonomické činnosti a podnikatelské aktivity, tzn.: </a:t>
          </a:r>
          <a:r>
            <a:rPr lang="cs-CZ" b="0" i="1" dirty="0">
              <a:latin typeface="+mj-lt"/>
            </a:rPr>
            <a:t>řídit daný úsek zemědělské výroby včetně využívání odborných služeb poskytovaných jinými subjekty, samostatně sestavovat pracovní záznamy a vedli evidenci užívanou v jednotlivých úsecích výroby, s</a:t>
          </a:r>
          <a:r>
            <a:rPr lang="it-IT" b="0" i="1" dirty="0">
              <a:latin typeface="+mj-lt"/>
            </a:rPr>
            <a:t>estavova</a:t>
          </a:r>
          <a:r>
            <a:rPr lang="cs-CZ" b="0" i="1" dirty="0">
              <a:latin typeface="+mj-lt"/>
            </a:rPr>
            <a:t>t </a:t>
          </a:r>
          <a:r>
            <a:rPr lang="it-IT" b="0" i="1" dirty="0">
              <a:latin typeface="+mj-lt"/>
            </a:rPr>
            <a:t>kalkulace výrobků a služeb a ovláda</a:t>
          </a:r>
          <a:r>
            <a:rPr lang="cs-CZ" b="0" i="1" dirty="0">
              <a:latin typeface="+mj-lt"/>
            </a:rPr>
            <a:t>t</a:t>
          </a:r>
          <a:r>
            <a:rPr lang="it-IT" b="0" i="1" dirty="0">
              <a:latin typeface="+mj-lt"/>
            </a:rPr>
            <a:t> tvorbu cen</a:t>
          </a:r>
          <a:r>
            <a:rPr lang="cs-CZ" b="0" i="1" dirty="0">
              <a:latin typeface="+mj-lt"/>
            </a:rPr>
            <a:t>, vyhotovovat účetní doklady, vést daňovou evidenci a účetnictví, zabezpečovat nákup a prodej surovin a materiálů, posuzovat ekonomické ukazatele výroby.</a:t>
          </a:r>
          <a:endParaRPr lang="en-US" i="1" dirty="0">
            <a:latin typeface="+mj-lt"/>
          </a:endParaRPr>
        </a:p>
      </dgm:t>
    </dgm:pt>
    <dgm:pt modelId="{9E208696-3E18-4BCD-8109-B56472FA9808}" type="sibTrans" cxnId="{2E6F4EC5-9094-4554-B51B-8C4A668B1831}">
      <dgm:prSet/>
      <dgm:spPr/>
      <dgm:t>
        <a:bodyPr/>
        <a:lstStyle/>
        <a:p>
          <a:endParaRPr lang="en-US"/>
        </a:p>
      </dgm:t>
    </dgm:pt>
    <dgm:pt modelId="{BA0283DD-6F2B-4121-8AD4-18961123AC7F}" type="parTrans" cxnId="{2E6F4EC5-9094-4554-B51B-8C4A668B1831}">
      <dgm:prSet/>
      <dgm:spPr/>
      <dgm:t>
        <a:bodyPr/>
        <a:lstStyle/>
        <a:p>
          <a:endParaRPr lang="en-US"/>
        </a:p>
      </dgm:t>
    </dgm:pt>
    <dgm:pt modelId="{A15EE7F6-CFE2-4E12-9A44-1E1B0E93BFE3}">
      <dgm:prSet/>
      <dgm:spPr/>
      <dgm:t>
        <a:bodyPr/>
        <a:lstStyle/>
        <a:p>
          <a:r>
            <a:rPr lang="cs-CZ" b="1" i="0" dirty="0">
              <a:latin typeface="+mj-lt"/>
            </a:rPr>
            <a:t>Dbát na bezpečnost práce a ochranu zdraví při práci, tzn.: </a:t>
          </a:r>
          <a:r>
            <a:rPr lang="cs-CZ" b="0" i="1" dirty="0">
              <a:latin typeface="+mj-lt"/>
            </a:rPr>
            <a:t>chápat bezpečnost práce jako nedílnou součást péče o zdraví své i spolupracovníků i jako součást řízení jakosti a jednu z podmínek získání či udržení certifikátu jakosti podle příslušných norem, znát a dodržovat základní právní předpisy týkající se bezpečnosti a ochrany zdraví při práci a požární prevence, znát systém péče o zdraví pracujících, být vybaveni vědomostmi o zásadách poskytování první pomoci při náhlém onemocnění nebo úrazu a dokázat první pomoc sami poskytnout.</a:t>
          </a:r>
          <a:endParaRPr lang="en-US" i="1" dirty="0">
            <a:latin typeface="+mj-lt"/>
          </a:endParaRPr>
        </a:p>
      </dgm:t>
    </dgm:pt>
    <dgm:pt modelId="{0C49C305-2CC5-4201-A457-FB5A39141B36}" type="sibTrans" cxnId="{053349EA-18ED-4787-9605-3D9BC6DDA0BC}">
      <dgm:prSet/>
      <dgm:spPr/>
      <dgm:t>
        <a:bodyPr/>
        <a:lstStyle/>
        <a:p>
          <a:endParaRPr lang="en-US"/>
        </a:p>
      </dgm:t>
    </dgm:pt>
    <dgm:pt modelId="{A637D2E4-4169-4751-B678-1CF8F732A64F}" type="parTrans" cxnId="{053349EA-18ED-4787-9605-3D9BC6DDA0BC}">
      <dgm:prSet/>
      <dgm:spPr/>
      <dgm:t>
        <a:bodyPr/>
        <a:lstStyle/>
        <a:p>
          <a:endParaRPr lang="en-US"/>
        </a:p>
      </dgm:t>
    </dgm:pt>
    <dgm:pt modelId="{91D7D2BA-AAB7-4F46-B470-29E0BFA1E4B2}" type="pres">
      <dgm:prSet presAssocID="{7AE71B7F-0700-4D29-A853-65E50A4426BA}" presName="diagram" presStyleCnt="0">
        <dgm:presLayoutVars>
          <dgm:dir/>
          <dgm:resizeHandles val="exact"/>
        </dgm:presLayoutVars>
      </dgm:prSet>
      <dgm:spPr/>
    </dgm:pt>
    <dgm:pt modelId="{8837DE49-15A0-4967-A518-D39B1C751C84}" type="pres">
      <dgm:prSet presAssocID="{FA63CFA5-C44A-42E8-A1CA-591FC1319C32}" presName="node" presStyleLbl="node1" presStyleIdx="0" presStyleCnt="5">
        <dgm:presLayoutVars>
          <dgm:bulletEnabled val="1"/>
        </dgm:presLayoutVars>
      </dgm:prSet>
      <dgm:spPr/>
    </dgm:pt>
    <dgm:pt modelId="{B57F8337-8276-42E1-B0FB-652004F4CCDC}" type="pres">
      <dgm:prSet presAssocID="{08B747EC-3BF4-4058-A248-E9C7059D3852}" presName="sibTrans" presStyleCnt="0"/>
      <dgm:spPr/>
    </dgm:pt>
    <dgm:pt modelId="{48273C4C-3F26-4011-A567-D2266647AD70}" type="pres">
      <dgm:prSet presAssocID="{C065B2FA-28ED-4D0C-AED0-521BE202CC2E}" presName="node" presStyleLbl="node1" presStyleIdx="1" presStyleCnt="5">
        <dgm:presLayoutVars>
          <dgm:bulletEnabled val="1"/>
        </dgm:presLayoutVars>
      </dgm:prSet>
      <dgm:spPr/>
    </dgm:pt>
    <dgm:pt modelId="{827D9A6A-F387-4644-ADB9-A783CC964BB8}" type="pres">
      <dgm:prSet presAssocID="{5480E81F-FC46-4EF9-A626-601B2E71119C}" presName="sibTrans" presStyleCnt="0"/>
      <dgm:spPr/>
    </dgm:pt>
    <dgm:pt modelId="{780F7C34-B3DC-40D2-A091-B19EC2C3C329}" type="pres">
      <dgm:prSet presAssocID="{BEF22FAD-9127-4841-A727-8D026D82B767}" presName="node" presStyleLbl="node1" presStyleIdx="2" presStyleCnt="5">
        <dgm:presLayoutVars>
          <dgm:bulletEnabled val="1"/>
        </dgm:presLayoutVars>
      </dgm:prSet>
      <dgm:spPr/>
    </dgm:pt>
    <dgm:pt modelId="{921FCCF6-278E-4574-B772-7FCB7C16C49D}" type="pres">
      <dgm:prSet presAssocID="{145F2504-B00F-4EE0-8479-778A33B11C59}" presName="sibTrans" presStyleCnt="0"/>
      <dgm:spPr/>
    </dgm:pt>
    <dgm:pt modelId="{7B6FD85C-1502-4D1F-8518-1F07B13E11E4}" type="pres">
      <dgm:prSet presAssocID="{26517FE9-FA0D-48B2-8B5D-715AF431DD85}" presName="node" presStyleLbl="node1" presStyleIdx="3" presStyleCnt="5">
        <dgm:presLayoutVars>
          <dgm:bulletEnabled val="1"/>
        </dgm:presLayoutVars>
      </dgm:prSet>
      <dgm:spPr/>
    </dgm:pt>
    <dgm:pt modelId="{CD63A947-16E8-43D4-977A-AE208508A33D}" type="pres">
      <dgm:prSet presAssocID="{9E208696-3E18-4BCD-8109-B56472FA9808}" presName="sibTrans" presStyleCnt="0"/>
      <dgm:spPr/>
    </dgm:pt>
    <dgm:pt modelId="{B74E61B8-42D9-4ACB-8DE5-4A990317376F}" type="pres">
      <dgm:prSet presAssocID="{A15EE7F6-CFE2-4E12-9A44-1E1B0E93BFE3}" presName="node" presStyleLbl="node1" presStyleIdx="4" presStyleCnt="5">
        <dgm:presLayoutVars>
          <dgm:bulletEnabled val="1"/>
        </dgm:presLayoutVars>
      </dgm:prSet>
      <dgm:spPr/>
    </dgm:pt>
  </dgm:ptLst>
  <dgm:cxnLst>
    <dgm:cxn modelId="{8697FE15-C4AA-420F-9FB1-CD0D7748D613}" type="presOf" srcId="{A15EE7F6-CFE2-4E12-9A44-1E1B0E93BFE3}" destId="{B74E61B8-42D9-4ACB-8DE5-4A990317376F}" srcOrd="0" destOrd="0" presId="urn:microsoft.com/office/officeart/2005/8/layout/default"/>
    <dgm:cxn modelId="{C5C2103F-E519-40A5-8CFA-842D92ABA4FC}" type="presOf" srcId="{C065B2FA-28ED-4D0C-AED0-521BE202CC2E}" destId="{48273C4C-3F26-4011-A567-D2266647AD70}" srcOrd="0" destOrd="0" presId="urn:microsoft.com/office/officeart/2005/8/layout/default"/>
    <dgm:cxn modelId="{D8992D42-A72A-4CA9-9EBD-CD7B302C2233}" srcId="{7AE71B7F-0700-4D29-A853-65E50A4426BA}" destId="{C065B2FA-28ED-4D0C-AED0-521BE202CC2E}" srcOrd="1" destOrd="0" parTransId="{72A52A78-39AD-41E3-87E1-0B166408AA70}" sibTransId="{5480E81F-FC46-4EF9-A626-601B2E71119C}"/>
    <dgm:cxn modelId="{FE6A324B-FD49-498A-A2AE-38E3838F5323}" type="presOf" srcId="{7AE71B7F-0700-4D29-A853-65E50A4426BA}" destId="{91D7D2BA-AAB7-4F46-B470-29E0BFA1E4B2}" srcOrd="0" destOrd="0" presId="urn:microsoft.com/office/officeart/2005/8/layout/default"/>
    <dgm:cxn modelId="{FEB06597-91D1-4589-B8AC-9685482421C5}" srcId="{7AE71B7F-0700-4D29-A853-65E50A4426BA}" destId="{BEF22FAD-9127-4841-A727-8D026D82B767}" srcOrd="2" destOrd="0" parTransId="{FCEC83AC-8C6B-42C6-A158-D0DB9A22D38F}" sibTransId="{145F2504-B00F-4EE0-8479-778A33B11C59}"/>
    <dgm:cxn modelId="{F2ACAFA6-1503-4BFF-AF8B-BC1ADFA59DBA}" type="presOf" srcId="{FA63CFA5-C44A-42E8-A1CA-591FC1319C32}" destId="{8837DE49-15A0-4967-A518-D39B1C751C84}" srcOrd="0" destOrd="0" presId="urn:microsoft.com/office/officeart/2005/8/layout/default"/>
    <dgm:cxn modelId="{2E6F4EC5-9094-4554-B51B-8C4A668B1831}" srcId="{7AE71B7F-0700-4D29-A853-65E50A4426BA}" destId="{26517FE9-FA0D-48B2-8B5D-715AF431DD85}" srcOrd="3" destOrd="0" parTransId="{BA0283DD-6F2B-4121-8AD4-18961123AC7F}" sibTransId="{9E208696-3E18-4BCD-8109-B56472FA9808}"/>
    <dgm:cxn modelId="{7254D7E0-9B19-46DD-BBE3-1B81936A2F2B}" type="presOf" srcId="{26517FE9-FA0D-48B2-8B5D-715AF431DD85}" destId="{7B6FD85C-1502-4D1F-8518-1F07B13E11E4}" srcOrd="0" destOrd="0" presId="urn:microsoft.com/office/officeart/2005/8/layout/default"/>
    <dgm:cxn modelId="{053349EA-18ED-4787-9605-3D9BC6DDA0BC}" srcId="{7AE71B7F-0700-4D29-A853-65E50A4426BA}" destId="{A15EE7F6-CFE2-4E12-9A44-1E1B0E93BFE3}" srcOrd="4" destOrd="0" parTransId="{A637D2E4-4169-4751-B678-1CF8F732A64F}" sibTransId="{0C49C305-2CC5-4201-A457-FB5A39141B36}"/>
    <dgm:cxn modelId="{D83266F2-40E1-4F2C-BD7D-DF105AD6D717}" type="presOf" srcId="{BEF22FAD-9127-4841-A727-8D026D82B767}" destId="{780F7C34-B3DC-40D2-A091-B19EC2C3C329}" srcOrd="0" destOrd="0" presId="urn:microsoft.com/office/officeart/2005/8/layout/default"/>
    <dgm:cxn modelId="{E8B111FD-EEB6-4795-AFBD-CD6E37EC29F2}" srcId="{7AE71B7F-0700-4D29-A853-65E50A4426BA}" destId="{FA63CFA5-C44A-42E8-A1CA-591FC1319C32}" srcOrd="0" destOrd="0" parTransId="{678D66ED-1430-429B-BE71-8609FD6C9EAE}" sibTransId="{08B747EC-3BF4-4058-A248-E9C7059D3852}"/>
    <dgm:cxn modelId="{5DDED22D-A5DD-4AA8-AFC1-D98E96725155}" type="presParOf" srcId="{91D7D2BA-AAB7-4F46-B470-29E0BFA1E4B2}" destId="{8837DE49-15A0-4967-A518-D39B1C751C84}" srcOrd="0" destOrd="0" presId="urn:microsoft.com/office/officeart/2005/8/layout/default"/>
    <dgm:cxn modelId="{C1B45855-3AE2-4978-8DB6-11892173A56D}" type="presParOf" srcId="{91D7D2BA-AAB7-4F46-B470-29E0BFA1E4B2}" destId="{B57F8337-8276-42E1-B0FB-652004F4CCDC}" srcOrd="1" destOrd="0" presId="urn:microsoft.com/office/officeart/2005/8/layout/default"/>
    <dgm:cxn modelId="{514DD4F0-B964-47A3-82B7-959247B57A1D}" type="presParOf" srcId="{91D7D2BA-AAB7-4F46-B470-29E0BFA1E4B2}" destId="{48273C4C-3F26-4011-A567-D2266647AD70}" srcOrd="2" destOrd="0" presId="urn:microsoft.com/office/officeart/2005/8/layout/default"/>
    <dgm:cxn modelId="{887D3AE3-F3E9-41F7-9787-613AF459A5F4}" type="presParOf" srcId="{91D7D2BA-AAB7-4F46-B470-29E0BFA1E4B2}" destId="{827D9A6A-F387-4644-ADB9-A783CC964BB8}" srcOrd="3" destOrd="0" presId="urn:microsoft.com/office/officeart/2005/8/layout/default"/>
    <dgm:cxn modelId="{735D8644-F208-449E-970C-9ABB3B0F2D36}" type="presParOf" srcId="{91D7D2BA-AAB7-4F46-B470-29E0BFA1E4B2}" destId="{780F7C34-B3DC-40D2-A091-B19EC2C3C329}" srcOrd="4" destOrd="0" presId="urn:microsoft.com/office/officeart/2005/8/layout/default"/>
    <dgm:cxn modelId="{7BCBC7F0-913D-4BCA-B7B7-88782850E4D8}" type="presParOf" srcId="{91D7D2BA-AAB7-4F46-B470-29E0BFA1E4B2}" destId="{921FCCF6-278E-4574-B772-7FCB7C16C49D}" srcOrd="5" destOrd="0" presId="urn:microsoft.com/office/officeart/2005/8/layout/default"/>
    <dgm:cxn modelId="{0BF78298-9AC6-4A59-B286-362783357D8A}" type="presParOf" srcId="{91D7D2BA-AAB7-4F46-B470-29E0BFA1E4B2}" destId="{7B6FD85C-1502-4D1F-8518-1F07B13E11E4}" srcOrd="6" destOrd="0" presId="urn:microsoft.com/office/officeart/2005/8/layout/default"/>
    <dgm:cxn modelId="{E6D1A24F-E25E-4F52-ABFC-67A34249CBC7}" type="presParOf" srcId="{91D7D2BA-AAB7-4F46-B470-29E0BFA1E4B2}" destId="{CD63A947-16E8-43D4-977A-AE208508A33D}" srcOrd="7" destOrd="0" presId="urn:microsoft.com/office/officeart/2005/8/layout/default"/>
    <dgm:cxn modelId="{E402D546-5C22-49B6-B52E-5C6D86E7D757}" type="presParOf" srcId="{91D7D2BA-AAB7-4F46-B470-29E0BFA1E4B2}" destId="{B74E61B8-42D9-4ACB-8DE5-4A990317376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D7F35-4A82-4CB4-A492-665E7652BF33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i="0" kern="1200" dirty="0">
              <a:latin typeface="+mj-lt"/>
            </a:rPr>
            <a:t>Kompetence k učení: </a:t>
          </a:r>
          <a:r>
            <a:rPr lang="cs-CZ" sz="1400" b="0" i="1" kern="1200" dirty="0">
              <a:latin typeface="+mj-lt"/>
            </a:rPr>
            <a:t>Vzdělávání směřuje k tomu, aby absolventi byli schopni efektivně se učit, vyhodnocovat dosažené výsledky a pokrok a reálně si stanovovat potřeby a cíle svého dalšího vzdělávání</a:t>
          </a:r>
          <a:endParaRPr lang="en-US" sz="1400" kern="1200" dirty="0">
            <a:latin typeface="+mj-lt"/>
          </a:endParaRPr>
        </a:p>
      </dsp:txBody>
      <dsp:txXfrm>
        <a:off x="0" y="39687"/>
        <a:ext cx="3286125" cy="1971675"/>
      </dsp:txXfrm>
    </dsp:sp>
    <dsp:sp modelId="{36953E65-0700-44F5-9410-1BD8A5E6B092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i="0" kern="1200" dirty="0">
              <a:latin typeface="+mj-lt"/>
            </a:rPr>
            <a:t>Kompetence k řešení problémů: </a:t>
          </a:r>
          <a:r>
            <a:rPr lang="cs-CZ" sz="1400" b="0" i="1" kern="1200" dirty="0">
              <a:latin typeface="+mj-lt"/>
            </a:rPr>
            <a:t>Vzdělávání směřuje k tomu, aby absolventi byli schopni samostatně řešit běžné pracovní i mimopracovní problémy</a:t>
          </a:r>
          <a:endParaRPr lang="en-US" sz="1400" kern="1200" dirty="0">
            <a:latin typeface="+mj-lt"/>
          </a:endParaRPr>
        </a:p>
      </dsp:txBody>
      <dsp:txXfrm>
        <a:off x="3614737" y="39687"/>
        <a:ext cx="3286125" cy="1971675"/>
      </dsp:txXfrm>
    </dsp:sp>
    <dsp:sp modelId="{2171BD4C-9C52-4255-B6DF-C03ABACAD749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i="0" kern="1200" dirty="0">
              <a:latin typeface="+mj-lt"/>
            </a:rPr>
            <a:t>Komunikativní kompetence: </a:t>
          </a:r>
          <a:r>
            <a:rPr lang="cs-CZ" sz="1400" b="0" i="1" kern="1200" dirty="0">
              <a:latin typeface="+mj-lt"/>
            </a:rPr>
            <a:t>Vzdělávání směřuje k tomu, aby absolventi byli schopni vyjadřovat se v písemné i ústní formě v různých učebních, životních i pracovních situacích</a:t>
          </a:r>
          <a:endParaRPr lang="en-US" sz="1400" kern="1200" dirty="0">
            <a:latin typeface="+mj-lt"/>
          </a:endParaRPr>
        </a:p>
      </dsp:txBody>
      <dsp:txXfrm>
        <a:off x="7229475" y="39687"/>
        <a:ext cx="3286125" cy="1971675"/>
      </dsp:txXfrm>
    </dsp:sp>
    <dsp:sp modelId="{CC741087-F6E6-46BC-8B6F-971A75452073}">
      <dsp:nvSpPr>
        <dsp:cNvPr id="0" name=""/>
        <dsp:cNvSpPr/>
      </dsp:nvSpPr>
      <dsp:spPr>
        <a:xfrm>
          <a:off x="0" y="2339975"/>
          <a:ext cx="3286125" cy="1971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i="0" kern="1200" dirty="0">
              <a:latin typeface="+mj-lt"/>
            </a:rPr>
            <a:t>Personální a sociální kompetence: </a:t>
          </a:r>
          <a:r>
            <a:rPr lang="cs-CZ" sz="1400" b="0" i="1" kern="1200" dirty="0">
              <a:latin typeface="+mj-lt"/>
            </a:rPr>
            <a:t>Vzdělávání směřuje k tomu, aby absolventi byli připraveni stanovovat si na základě poznání své osobnosti přiměřené cíle osobního rozvoje v oblasti zájmové i pracovní, pečovat o své zdraví, spolupracovat s ostatními a přispívat k utváření vhodných mezilidských vztahů</a:t>
          </a:r>
          <a:endParaRPr lang="en-US" sz="1400" kern="1200" dirty="0">
            <a:latin typeface="+mj-lt"/>
          </a:endParaRPr>
        </a:p>
      </dsp:txBody>
      <dsp:txXfrm>
        <a:off x="0" y="2339975"/>
        <a:ext cx="3286125" cy="1971675"/>
      </dsp:txXfrm>
    </dsp:sp>
    <dsp:sp modelId="{F3265056-5A74-4DF3-8D3A-BF20B7BDFB01}">
      <dsp:nvSpPr>
        <dsp:cNvPr id="0" name=""/>
        <dsp:cNvSpPr/>
      </dsp:nvSpPr>
      <dsp:spPr>
        <a:xfrm>
          <a:off x="3614737" y="2339975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i="0" kern="1200" dirty="0">
              <a:latin typeface="+mj-lt"/>
            </a:rPr>
            <a:t>Matematické kompetence: </a:t>
          </a:r>
          <a:r>
            <a:rPr lang="cs-CZ" sz="1400" b="0" i="1" kern="1200" dirty="0">
              <a:latin typeface="+mj-lt"/>
            </a:rPr>
            <a:t>Vzdělávání směřuje k tomu, aby absolventi byli schopni funkčně využívat matematické dovednosti v různých životních </a:t>
          </a:r>
          <a:r>
            <a:rPr lang="cs-CZ" sz="1400" b="0" i="1" kern="1200" dirty="0" err="1">
              <a:latin typeface="+mj-lt"/>
            </a:rPr>
            <a:t>situacích</a:t>
          </a:r>
          <a:r>
            <a:rPr lang="cs-CZ" sz="1400" kern="1200" dirty="0" err="1">
              <a:latin typeface="+mj-lt"/>
            </a:rPr>
            <a:t>t</a:t>
          </a:r>
          <a:r>
            <a:rPr lang="cs-CZ" sz="1400" kern="1200" dirty="0">
              <a:latin typeface="+mj-lt"/>
            </a:rPr>
            <a:t> logické myšlení při řešení konkrétních situací ve své profesi i v životě.</a:t>
          </a:r>
          <a:endParaRPr lang="en-US" sz="1400" kern="1200" dirty="0">
            <a:latin typeface="+mj-lt"/>
          </a:endParaRPr>
        </a:p>
      </dsp:txBody>
      <dsp:txXfrm>
        <a:off x="3614737" y="2339975"/>
        <a:ext cx="3286125" cy="1971675"/>
      </dsp:txXfrm>
    </dsp:sp>
    <dsp:sp modelId="{34BCE9AD-B6E4-4F49-B78A-CA279B564291}">
      <dsp:nvSpPr>
        <dsp:cNvPr id="0" name=""/>
        <dsp:cNvSpPr/>
      </dsp:nvSpPr>
      <dsp:spPr>
        <a:xfrm>
          <a:off x="7229475" y="2339975"/>
          <a:ext cx="3286125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400" b="1" i="0" kern="1200" dirty="0">
              <a:latin typeface="+mj-lt"/>
            </a:rPr>
            <a:t>Kompetence využívat prostředky informačních a komunikačních technologií a pracovat s informacemi: </a:t>
          </a:r>
          <a:r>
            <a:rPr lang="cs-CZ" sz="1400" b="0" i="1" kern="1200" dirty="0">
              <a:latin typeface="+mj-lt"/>
            </a:rPr>
            <a:t>Vzdělávání směřuje k tomu, aby absolventi pracovali s osobním počítačem a jeho základním a aplikačním programovým vybavením, ale i s dalšími prostředky ICT a využívali adekvátní zdroje informací a efektivně pracovali s informacemi</a:t>
          </a:r>
          <a:endParaRPr lang="en-US" sz="1400" kern="1200" dirty="0">
            <a:latin typeface="+mj-lt"/>
          </a:endParaRPr>
        </a:p>
      </dsp:txBody>
      <dsp:txXfrm>
        <a:off x="7229475" y="2339975"/>
        <a:ext cx="3286125" cy="1971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37DE49-15A0-4967-A518-D39B1C751C84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200" b="1" i="0" kern="1200" dirty="0">
              <a:latin typeface="+mj-lt"/>
            </a:rPr>
            <a:t>Vykonávat a organizovat pracovní činnosti při pěstování rostlin, tzn</a:t>
          </a:r>
          <a:r>
            <a:rPr lang="cs-CZ" sz="1200" kern="1200" dirty="0">
              <a:latin typeface="+mj-lt"/>
            </a:rPr>
            <a:t>.: </a:t>
          </a:r>
          <a:r>
            <a:rPr lang="cs-CZ" sz="1200" b="0" i="1" kern="1200" dirty="0">
              <a:latin typeface="+mj-lt"/>
            </a:rPr>
            <a:t>sestavovat osevní postupy, vypracovávat plány hnojení a ochrany rostlin, provádět základní zpracování půdy, sklizeň a posklizňovou úpravu plodin, realizovat preventivní opatření proti výskytu chorob a škůdců polních plodin, navrhovat způsoby zpracování rostlinných produktů.</a:t>
          </a:r>
          <a:endParaRPr lang="en-US" sz="1200" i="1" kern="1200" dirty="0">
            <a:latin typeface="+mj-lt"/>
          </a:endParaRPr>
        </a:p>
      </dsp:txBody>
      <dsp:txXfrm>
        <a:off x="0" y="39687"/>
        <a:ext cx="3286125" cy="1971675"/>
      </dsp:txXfrm>
    </dsp:sp>
    <dsp:sp modelId="{48273C4C-3F26-4011-A567-D2266647AD70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200" b="1" i="0" kern="1200" dirty="0">
              <a:latin typeface="+mj-lt"/>
            </a:rPr>
            <a:t>Vykonávat a organizovat pracovní činnosti při chovu zvířat,</a:t>
          </a:r>
          <a:r>
            <a:rPr lang="cs-CZ" sz="1200" b="0" i="0" kern="1200" dirty="0">
              <a:latin typeface="+mj-lt"/>
            </a:rPr>
            <a:t> </a:t>
          </a:r>
          <a:r>
            <a:rPr lang="cs-CZ" sz="1200" b="1" i="0" kern="1200" dirty="0">
              <a:latin typeface="+mj-lt"/>
            </a:rPr>
            <a:t>tzn: </a:t>
          </a:r>
          <a:r>
            <a:rPr lang="cs-CZ" sz="1200" b="0" i="1" kern="1200" dirty="0">
              <a:latin typeface="+mj-lt"/>
            </a:rPr>
            <a:t>uplatňovat kladný vztah ke zvířatům, zabezpečit ochranu zvířat proti týrání, navrhovat vhodný technologický postup pro určité druhy zvířat, organizovat odchov, chov a krmení zvířat, posuzovat zdravotní stav, realizovat preventivní opatření, sestavovat krmné dávky s využitím aplikovaných programů, posuzovat kvalitu krmiv, </a:t>
          </a:r>
          <a:r>
            <a:rPr lang="pl-PL" sz="1200" b="0" i="1" kern="1200" dirty="0">
              <a:latin typeface="+mj-lt"/>
            </a:rPr>
            <a:t>dojit a ošetřovat mléko po nadojení.</a:t>
          </a:r>
          <a:endParaRPr lang="en-US" sz="1200" i="1" kern="1200" dirty="0">
            <a:latin typeface="+mj-lt"/>
          </a:endParaRPr>
        </a:p>
      </dsp:txBody>
      <dsp:txXfrm>
        <a:off x="3614737" y="39687"/>
        <a:ext cx="3286125" cy="1971675"/>
      </dsp:txXfrm>
    </dsp:sp>
    <dsp:sp modelId="{780F7C34-B3DC-40D2-A091-B19EC2C3C329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200" b="1" i="0" kern="1200" dirty="0">
              <a:latin typeface="+mj-lt"/>
            </a:rPr>
            <a:t>Efektivně využívat zemědělskou techniku, řídit motorová vozidla, tzn.: </a:t>
          </a:r>
          <a:r>
            <a:rPr lang="cs-CZ" sz="1200" b="0" i="1" kern="1200" dirty="0">
              <a:latin typeface="+mj-lt"/>
            </a:rPr>
            <a:t>navrhovat skladbu strojů a zařízení pro jednotlivé technologie a vytvářet organizační opatření pro jejich co nejefektivnější využívání, sledovat technický stav strojů, zajišťovat seřizování, sledovat vývoj zemědělské techniky a usilovat o modernizaci a zefektivnění technologických procesů; odborná připravenost k řízení motorových vozidel skupiny T, B</a:t>
          </a:r>
          <a:r>
            <a:rPr lang="cs-CZ" sz="1200" b="0" i="1" kern="1200" dirty="0"/>
            <a:t>.</a:t>
          </a:r>
          <a:endParaRPr lang="en-US" sz="1200" i="1" kern="1200" dirty="0"/>
        </a:p>
      </dsp:txBody>
      <dsp:txXfrm>
        <a:off x="7229475" y="39687"/>
        <a:ext cx="3286125" cy="1971675"/>
      </dsp:txXfrm>
    </dsp:sp>
    <dsp:sp modelId="{7B6FD85C-1502-4D1F-8518-1F07B13E11E4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200" b="1" i="0" kern="1200" dirty="0">
              <a:latin typeface="+mj-lt"/>
            </a:rPr>
            <a:t>Vykonávat ekonomické činnosti a podnikatelské aktivity, tzn.: </a:t>
          </a:r>
          <a:r>
            <a:rPr lang="cs-CZ" sz="1200" b="0" i="1" kern="1200" dirty="0">
              <a:latin typeface="+mj-lt"/>
            </a:rPr>
            <a:t>řídit daný úsek zemědělské výroby včetně využívání odborných služeb poskytovaných jinými subjekty, samostatně sestavovat pracovní záznamy a vedli evidenci užívanou v jednotlivých úsecích výroby, s</a:t>
          </a:r>
          <a:r>
            <a:rPr lang="it-IT" sz="1200" b="0" i="1" kern="1200" dirty="0">
              <a:latin typeface="+mj-lt"/>
            </a:rPr>
            <a:t>estavova</a:t>
          </a:r>
          <a:r>
            <a:rPr lang="cs-CZ" sz="1200" b="0" i="1" kern="1200" dirty="0">
              <a:latin typeface="+mj-lt"/>
            </a:rPr>
            <a:t>t </a:t>
          </a:r>
          <a:r>
            <a:rPr lang="it-IT" sz="1200" b="0" i="1" kern="1200" dirty="0">
              <a:latin typeface="+mj-lt"/>
            </a:rPr>
            <a:t>kalkulace výrobků a služeb a ovláda</a:t>
          </a:r>
          <a:r>
            <a:rPr lang="cs-CZ" sz="1200" b="0" i="1" kern="1200" dirty="0">
              <a:latin typeface="+mj-lt"/>
            </a:rPr>
            <a:t>t</a:t>
          </a:r>
          <a:r>
            <a:rPr lang="it-IT" sz="1200" b="0" i="1" kern="1200" dirty="0">
              <a:latin typeface="+mj-lt"/>
            </a:rPr>
            <a:t> tvorbu cen</a:t>
          </a:r>
          <a:r>
            <a:rPr lang="cs-CZ" sz="1200" b="0" i="1" kern="1200" dirty="0">
              <a:latin typeface="+mj-lt"/>
            </a:rPr>
            <a:t>, vyhotovovat účetní doklady, vést daňovou evidenci a účetnictví, zabezpečovat nákup a prodej surovin a materiálů, posuzovat ekonomické ukazatele výroby.</a:t>
          </a:r>
          <a:endParaRPr lang="en-US" sz="1200" i="1" kern="1200" dirty="0">
            <a:latin typeface="+mj-lt"/>
          </a:endParaRPr>
        </a:p>
      </dsp:txBody>
      <dsp:txXfrm>
        <a:off x="1807368" y="2339975"/>
        <a:ext cx="3286125" cy="1971675"/>
      </dsp:txXfrm>
    </dsp:sp>
    <dsp:sp modelId="{B74E61B8-42D9-4ACB-8DE5-4A990317376F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200" b="1" i="0" kern="1200" dirty="0">
              <a:latin typeface="+mj-lt"/>
            </a:rPr>
            <a:t>Dbát na bezpečnost práce a ochranu zdraví při práci, tzn.: </a:t>
          </a:r>
          <a:r>
            <a:rPr lang="cs-CZ" sz="1200" b="0" i="1" kern="1200" dirty="0">
              <a:latin typeface="+mj-lt"/>
            </a:rPr>
            <a:t>chápat bezpečnost práce jako nedílnou součást péče o zdraví své i spolupracovníků i jako součást řízení jakosti a jednu z podmínek získání či udržení certifikátu jakosti podle příslušných norem, znát a dodržovat základní právní předpisy týkající se bezpečnosti a ochrany zdraví při práci a požární prevence, znát systém péče o zdraví pracujících, být vybaveni vědomostmi o zásadách poskytování první pomoci při náhlém onemocnění nebo úrazu a dokázat první pomoc sami poskytnout.</a:t>
          </a:r>
          <a:endParaRPr lang="en-US" sz="1200" i="1" kern="1200" dirty="0">
            <a:latin typeface="+mj-lt"/>
          </a:endParaRPr>
        </a:p>
      </dsp:txBody>
      <dsp:txXfrm>
        <a:off x="5422106" y="2339975"/>
        <a:ext cx="3286125" cy="1971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5BE587-14AC-412A-95E6-11C1B7E98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BDA2746-DCAA-4D23-AC80-4BADDA7FC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2079183-74E9-4D68-A19F-71A0F6357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EC96-A923-4944-A6B6-F7946604501A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D416069-7773-4841-A1E1-BEEEA3FEF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B2FD6F3-92D1-4DCC-8ACC-A8A9E31CE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43EA-57E0-405C-BA1C-13E4EAD30E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30283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4E8043-DBAB-4C33-AA79-A9467239C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9BBED65-4183-4CFE-A941-CEA2ACD74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5342567-9B08-41F2-832D-6D1A5F5A4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EC96-A923-4944-A6B6-F7946604501A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8B30CC9-73DB-417A-9C3D-974F8140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CF1E550-E2CD-4268-97A4-9621F121F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43EA-57E0-405C-BA1C-13E4EAD30E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78685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0599E1-1F32-41A0-94CC-5F85A26F6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49407AD-EC89-44CB-84A9-74C649466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9940DC5-CBE9-435F-9EEA-778E8572A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EC96-A923-4944-A6B6-F7946604501A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0484324-AA9E-494D-BCD9-98198E047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6C8F8CB-2591-4150-B919-ABEE6634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43EA-57E0-405C-BA1C-13E4EAD30E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7639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59330B9-4590-43AF-BB7E-253B7CE40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A8C26F-A94E-4338-9DB1-BFE89E8352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65F4CA9-BD87-418B-9D62-B28A24810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548F19F-14F0-4D5A-BA3F-B213EBA4D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EC96-A923-4944-A6B6-F7946604501A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4A07516-231E-4E97-9172-885A3FF46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3E47224-5679-4CFE-BBDF-D632751F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43EA-57E0-405C-BA1C-13E4EAD30E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4076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E66FE1-2671-4008-B9AE-D29FF6D1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187EADA-0B83-44A5-99FC-4A3F1ED8C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286631C2-5D84-49BC-827A-29DCB6909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E7AB9B70-9E7A-4ACB-BB36-30CE5DC608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C7EEC41A-1695-43AD-BBA3-31C1E7F43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D2E66455-71E7-4A62-960C-43CF3BD33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EC96-A923-4944-A6B6-F7946604501A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9542ED1E-7366-4D08-86F4-544646AF5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3BA2DE07-671F-4FA4-B2ED-CA453D073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43EA-57E0-405C-BA1C-13E4EAD30E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8928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54ACA9-C39D-4945-91A5-5FD38932E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E2EEA783-8501-4599-80CE-05733F041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EC96-A923-4944-A6B6-F7946604501A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8003520-28AF-4394-9E4B-6B25DEB5C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93F5BE4-6157-4D5F-87C0-3D434B030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43EA-57E0-405C-BA1C-13E4EAD30E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2477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13205F62-15F4-4B83-B10D-C2A41824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EC96-A923-4944-A6B6-F7946604501A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F8A7831F-0563-4357-8E36-04A1B1728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690CCF8-AB9D-4A16-90FD-BB06A57F2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43EA-57E0-405C-BA1C-13E4EAD30E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32149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BB0AA2D-CCE0-479A-B8C7-A00957B85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12123A-1F96-4EE6-8ACB-F1821A910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219C38BC-EE52-4990-99D6-EC6D1EC07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01FFCC4B-CF8D-4F13-9919-9F06FD9C1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EC96-A923-4944-A6B6-F7946604501A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1B660FC-C7DE-496A-9CA7-A6DA07BF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51E474C-4DC4-48D1-8968-0A4C21D3B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43EA-57E0-405C-BA1C-13E4EAD30E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341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886C33-86A6-4391-A637-3D0FC53F3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FC7D386-55C5-42E5-A76C-0DDB31B8EC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F58A821B-4421-43F2-98F6-1D133BEF1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5FBBAE3-8FBF-4887-9EE7-6A883D9E4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EC96-A923-4944-A6B6-F7946604501A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0232CD0-C36B-4411-9938-6E08821C4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FC4B650-F611-4B42-814A-BB0AB101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43EA-57E0-405C-BA1C-13E4EAD30E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7797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E66B4D-01D4-4453-90F4-7B996EFAE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38166D5-90C5-41E6-AC37-B7356E4759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AF5E65C-1027-487B-A792-EAE16012C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EC96-A923-4944-A6B6-F7946604501A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4A518B9-B8A1-46CF-8230-558543DB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405A3EA-D9D6-46C0-B624-1229EDE3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43EA-57E0-405C-BA1C-13E4EAD30E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7213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A3D0BD8C-90AA-4F7A-A9E3-0C25CC50B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F4F49FB-0350-49FE-BA41-7EBF098EF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F6D7B06-7668-4D52-AEEC-98E714129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0EC96-A923-4944-A6B6-F7946604501A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9EF8B3C-D5B7-46E8-832A-3815917E4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EC2CDF7-5A23-484E-B9E8-F844F18B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A43EA-57E0-405C-BA1C-13E4EAD30E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4019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719D92-6B88-49B0-9470-55E7B8E83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C21790-46BE-4224-B67E-288F1C6F6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CD97C0D-2D63-4E28-9BD0-D73209333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1FA58-ABF5-4D7D-AA3A-CF35908A134E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8EDB5C5-954A-467D-A5A8-4DCC2FBE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B4DC378-859F-47FF-9DA3-96E8D7BF3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3D8137-8981-486C-AE76-800903684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9428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365EBF1-F4A9-4C89-B95B-2397AAA58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FD06C7F-3104-406F-8BC4-85C533261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03FA8BF-1B35-493F-BE36-DF74F30FE7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F0EC96-A923-4944-A6B6-F7946604501A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660B763-59A0-4D1A-AA8D-AD825DFE7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DC7D5FD-F88E-44D4-B6A6-004CA18B1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A43EA-57E0-405C-BA1C-13E4EAD30E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570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CD9371CF-7282-456E-8A34-BE702A1B1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9990C6A-29FC-47BC-A40E-6F29E34B7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F6F74E4-7EC4-462A-BE58-D25497DF1F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1FA58-ABF5-4D7D-AA3A-CF35908A134E}" type="datetimeFigureOut">
              <a:rPr lang="cs-CZ" smtClean="0"/>
              <a:t>11.11.2021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855EA41-4C04-491C-94CA-10315A40AB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2E457FF-E07F-48D2-89CB-8D5AF1E87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D8137-8981-486C-AE76-800903684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0077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foabsolvent.cz/Obory/UcebniPlan/4141M01/Agropodnikani" TargetMode="External"/><Relationship Id="rId2" Type="http://schemas.openxmlformats.org/officeDocument/2006/relationships/hyperlink" Target="https://www.sszp.kt.cz/spolecne/download_soubor.php?ids=1814&amp;lang=cz&amp;p1=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zpd.nuov.cz/41/4141M001.pr.htm" TargetMode="External"/><Relationship Id="rId5" Type="http://schemas.openxmlformats.org/officeDocument/2006/relationships/hyperlink" Target="https://www.infoabsolvent.cz/Obory/ProfilAbsolventa/4141M01/Agropodnikani" TargetMode="External"/><Relationship Id="rId4" Type="http://schemas.openxmlformats.org/officeDocument/2006/relationships/hyperlink" Target="https://www.infoabsolvent.cz/Obory/KartaOboru/4141M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9E5B587-23CB-469F-A038-BE53DF7DE1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614" y="1783959"/>
            <a:ext cx="4087306" cy="2889114"/>
          </a:xfrm>
        </p:spPr>
        <p:txBody>
          <a:bodyPr anchor="b">
            <a:normAutofit/>
          </a:bodyPr>
          <a:lstStyle/>
          <a:p>
            <a:pPr algn="l"/>
            <a:r>
              <a:rPr lang="cs-CZ" sz="5000" dirty="0"/>
              <a:t>Profil absolventa</a:t>
            </a:r>
            <a:br>
              <a:rPr lang="cs-CZ" sz="5000" dirty="0"/>
            </a:br>
            <a:r>
              <a:rPr lang="cs-CZ" sz="5000" dirty="0"/>
              <a:t>oboru </a:t>
            </a:r>
            <a:r>
              <a:rPr lang="cs-CZ" sz="5000" dirty="0" err="1"/>
              <a:t>Agropodnikání</a:t>
            </a:r>
            <a:endParaRPr lang="cs-CZ" sz="5000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53E3CA82-18B6-45BC-AFC0-4040B288B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</p:spPr>
        <p:txBody>
          <a:bodyPr anchor="t">
            <a:normAutofit/>
          </a:bodyPr>
          <a:lstStyle/>
          <a:p>
            <a:pPr algn="l"/>
            <a:r>
              <a:rPr lang="cs-CZ" sz="2000" dirty="0"/>
              <a:t>Ing. Kamila Bulušková</a:t>
            </a:r>
          </a:p>
        </p:txBody>
      </p:sp>
      <p:sp>
        <p:nvSpPr>
          <p:cNvPr id="192" name="Freeform: Shape 191">
            <a:extLst>
              <a:ext uri="{FF2B5EF4-FFF2-40B4-BE49-F238E27FC236}">
                <a16:creationId xmlns:a16="http://schemas.microsoft.com/office/drawing/2014/main" id="{E49CC64F-7275-4E33-961B-0C5CDC43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" y="0"/>
            <a:ext cx="7188051" cy="6858000"/>
          </a:xfrm>
          <a:custGeom>
            <a:avLst/>
            <a:gdLst>
              <a:gd name="connsiteX0" fmla="*/ 7188051 w 7188051"/>
              <a:gd name="connsiteY0" fmla="*/ 6858000 h 6858000"/>
              <a:gd name="connsiteX1" fmla="*/ 108694 w 7188051"/>
              <a:gd name="connsiteY1" fmla="*/ 6858000 h 6858000"/>
              <a:gd name="connsiteX2" fmla="*/ 79127 w 7188051"/>
              <a:gd name="connsiteY2" fmla="*/ 6681235 h 6858000"/>
              <a:gd name="connsiteX3" fmla="*/ 0 w 7188051"/>
              <a:gd name="connsiteY3" fmla="*/ 5565888 h 6858000"/>
              <a:gd name="connsiteX4" fmla="*/ 2190696 w 7188051"/>
              <a:gd name="connsiteY4" fmla="*/ 145339 h 6858000"/>
              <a:gd name="connsiteX5" fmla="*/ 2339431 w 7188051"/>
              <a:gd name="connsiteY5" fmla="*/ 0 h 6858000"/>
              <a:gd name="connsiteX6" fmla="*/ 7188051 w 7188051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188051" h="6858000">
                <a:moveTo>
                  <a:pt x="7188051" y="6858000"/>
                </a:moveTo>
                <a:lnTo>
                  <a:pt x="108694" y="6858000"/>
                </a:lnTo>
                <a:lnTo>
                  <a:pt x="79127" y="6681235"/>
                </a:lnTo>
                <a:cubicBezTo>
                  <a:pt x="26981" y="6316967"/>
                  <a:pt x="0" y="5944579"/>
                  <a:pt x="0" y="5565888"/>
                </a:cubicBezTo>
                <a:cubicBezTo>
                  <a:pt x="0" y="3459953"/>
                  <a:pt x="834428" y="1548908"/>
                  <a:pt x="2190696" y="145339"/>
                </a:cubicBezTo>
                <a:lnTo>
                  <a:pt x="2339431" y="0"/>
                </a:lnTo>
                <a:lnTo>
                  <a:pt x="7188051" y="0"/>
                </a:ln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Agropodnikání | VOŠ a SZeŠ Benešov">
            <a:extLst>
              <a:ext uri="{FF2B5EF4-FFF2-40B4-BE49-F238E27FC236}">
                <a16:creationId xmlns:a16="http://schemas.microsoft.com/office/drawing/2014/main" id="{D664206F-8FA1-4AE2-82DA-88818B1A34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6" r="29314" b="-1"/>
          <a:stretch/>
        </p:blipFill>
        <p:spPr bwMode="auto"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922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5F44762B-C53F-45BE-93AC-2065CB790D84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Absolvent Agropodnikání</a:t>
            </a:r>
            <a:endParaRPr lang="en-US" sz="5400" dirty="0">
              <a:latin typeface="+mj-lt"/>
              <a:ea typeface="+mj-ea"/>
              <a:cs typeface="+mj-cs"/>
            </a:endParaRPr>
          </a:p>
        </p:txBody>
      </p:sp>
      <p:sp>
        <p:nvSpPr>
          <p:cNvPr id="7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DD85C1E3-F1C4-49FA-8164-B32B0FCDB074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200" dirty="0"/>
              <a:t>je </a:t>
            </a:r>
            <a:r>
              <a:rPr lang="en-US" sz="2200" dirty="0" err="1"/>
              <a:t>člověk</a:t>
            </a:r>
            <a:r>
              <a:rPr lang="en-US" sz="2200" dirty="0"/>
              <a:t>, </a:t>
            </a:r>
            <a:r>
              <a:rPr lang="en-US" sz="2200" dirty="0" err="1"/>
              <a:t>který</a:t>
            </a:r>
            <a:r>
              <a:rPr lang="en-US" sz="2200" dirty="0"/>
              <a:t> </a:t>
            </a:r>
            <a:r>
              <a:rPr lang="en-US" sz="2200" dirty="0" err="1"/>
              <a:t>stanovuje</a:t>
            </a:r>
            <a:r>
              <a:rPr lang="en-US" sz="2200" dirty="0"/>
              <a:t> a </a:t>
            </a:r>
            <a:r>
              <a:rPr lang="en-US" sz="2200" dirty="0" err="1"/>
              <a:t>následně</a:t>
            </a:r>
            <a:r>
              <a:rPr lang="en-US" sz="2200" dirty="0"/>
              <a:t> </a:t>
            </a:r>
            <a:r>
              <a:rPr lang="en-US" sz="2200" dirty="0" err="1"/>
              <a:t>realizuje</a:t>
            </a:r>
            <a:r>
              <a:rPr lang="en-US" sz="2200" dirty="0"/>
              <a:t> </a:t>
            </a:r>
            <a:r>
              <a:rPr lang="en-US" sz="2200" dirty="0" err="1"/>
              <a:t>vhodné</a:t>
            </a:r>
            <a:r>
              <a:rPr lang="en-US" sz="2200" dirty="0"/>
              <a:t> </a:t>
            </a:r>
            <a:r>
              <a:rPr lang="en-US" sz="2200" dirty="0" err="1"/>
              <a:t>technologické</a:t>
            </a:r>
            <a:r>
              <a:rPr lang="en-US" sz="2200" dirty="0"/>
              <a:t> </a:t>
            </a:r>
            <a:r>
              <a:rPr lang="en-US" sz="2200" dirty="0" err="1"/>
              <a:t>postupy</a:t>
            </a:r>
            <a:r>
              <a:rPr lang="en-US" sz="2200" dirty="0"/>
              <a:t> </a:t>
            </a:r>
            <a:r>
              <a:rPr lang="en-US" sz="2200" dirty="0" err="1"/>
              <a:t>při</a:t>
            </a:r>
            <a:r>
              <a:rPr lang="en-US" sz="2200" dirty="0"/>
              <a:t> </a:t>
            </a:r>
            <a:r>
              <a:rPr lang="en-US" sz="2200" dirty="0" err="1"/>
              <a:t>pěstování</a:t>
            </a:r>
            <a:r>
              <a:rPr lang="en-US" sz="2200" dirty="0"/>
              <a:t> </a:t>
            </a:r>
            <a:r>
              <a:rPr lang="en-US" sz="2200" dirty="0" err="1"/>
              <a:t>rostlin</a:t>
            </a:r>
            <a:r>
              <a:rPr lang="en-US" sz="2200" dirty="0"/>
              <a:t> a </a:t>
            </a:r>
            <a:r>
              <a:rPr lang="en-US" sz="2200" dirty="0" err="1"/>
              <a:t>chovu</a:t>
            </a:r>
            <a:r>
              <a:rPr lang="en-US" sz="2200" dirty="0"/>
              <a:t> </a:t>
            </a:r>
            <a:r>
              <a:rPr lang="en-US" sz="2200" dirty="0" err="1"/>
              <a:t>zvířat</a:t>
            </a:r>
            <a:r>
              <a:rPr lang="en-US" sz="2200" dirty="0"/>
              <a:t>.</a:t>
            </a:r>
          </a:p>
        </p:txBody>
      </p:sp>
      <p:pic>
        <p:nvPicPr>
          <p:cNvPr id="2050" name="Picture 2" descr="Agropodnikání - SZES Poděbrady">
            <a:extLst>
              <a:ext uri="{FF2B5EF4-FFF2-40B4-BE49-F238E27FC236}">
                <a16:creationId xmlns:a16="http://schemas.microsoft.com/office/drawing/2014/main" id="{6352A0B3-3B7D-48CA-9CC4-93B5F75B52F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79" r="21068" b="-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75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A300B71-81AF-4EEE-B425-676A517E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cs-CZ" sz="5400" b="1" dirty="0"/>
              <a:t>O oboru </a:t>
            </a:r>
          </a:p>
        </p:txBody>
      </p:sp>
      <p:sp>
        <p:nvSpPr>
          <p:cNvPr id="7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A30C33-6E95-4BD8-B6B3-1334E7C90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cs-CZ" sz="2000" dirty="0">
                <a:latin typeface="+mj-lt"/>
              </a:rPr>
              <a:t>Obor </a:t>
            </a:r>
            <a:r>
              <a:rPr lang="cs-CZ" sz="2000" dirty="0" err="1">
                <a:latin typeface="+mj-lt"/>
              </a:rPr>
              <a:t>Agropodnikání</a:t>
            </a:r>
            <a:r>
              <a:rPr lang="cs-CZ" sz="2000" dirty="0">
                <a:latin typeface="+mj-lt"/>
              </a:rPr>
              <a:t> je maturitním oborem, který se učí čtyři roky na SOŠ. </a:t>
            </a:r>
          </a:p>
          <a:p>
            <a:r>
              <a:rPr lang="cs-CZ" sz="2000" dirty="0">
                <a:latin typeface="+mj-lt"/>
              </a:rPr>
              <a:t>Absolventi jsou kvalifikovaní pracovníci, kteří zajišťují ucelené technologické postupy při pěstování rostlin a chovu zvířat. Uplatní se zejména v typových pozicích zemědělský technik agronom, zootechnik a farmář. </a:t>
            </a:r>
          </a:p>
        </p:txBody>
      </p:sp>
      <p:pic>
        <p:nvPicPr>
          <p:cNvPr id="3074" name="Picture 2" descr="Agropodnikání pro LIFE – zdroj obživy, inovace, potraviny a posílení  postavení">
            <a:extLst>
              <a:ext uri="{FF2B5EF4-FFF2-40B4-BE49-F238E27FC236}">
                <a16:creationId xmlns:a16="http://schemas.microsoft.com/office/drawing/2014/main" id="{6AA5BA8F-FED1-403D-83A3-CC7158537C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3" r="18450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8174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EA24B6B-F72D-4D39-9B4E-9A7A4E22A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cs-CZ" sz="3600" b="1" dirty="0"/>
              <a:t>Klíčové kompetence absolventa  oboru </a:t>
            </a:r>
            <a:r>
              <a:rPr lang="cs-CZ" sz="3600" b="1" dirty="0" err="1"/>
              <a:t>Agropodnikání</a:t>
            </a:r>
            <a:endParaRPr lang="cs-CZ" sz="3600" b="1" dirty="0"/>
          </a:p>
        </p:txBody>
      </p:sp>
      <p:graphicFrame>
        <p:nvGraphicFramePr>
          <p:cNvPr id="10" name="Zástupný obsah 7">
            <a:extLst>
              <a:ext uri="{FF2B5EF4-FFF2-40B4-BE49-F238E27FC236}">
                <a16:creationId xmlns:a16="http://schemas.microsoft.com/office/drawing/2014/main" id="{6CB8F674-1F14-4326-8556-BA14F1C049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033006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60500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88F8C06-7A9F-4E1F-BE24-4B56D929F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610" y="556995"/>
            <a:ext cx="11883390" cy="1133693"/>
          </a:xfrm>
        </p:spPr>
        <p:txBody>
          <a:bodyPr>
            <a:normAutofit/>
          </a:bodyPr>
          <a:lstStyle/>
          <a:p>
            <a:r>
              <a:rPr lang="cs-CZ" sz="3600" b="1" dirty="0"/>
              <a:t>Odborné kompetence absolventa oboru </a:t>
            </a:r>
            <a:r>
              <a:rPr lang="cs-CZ" sz="3600" b="1" dirty="0" err="1"/>
              <a:t>Agropodnikání</a:t>
            </a:r>
            <a:endParaRPr lang="cs-CZ" sz="3600" b="1" dirty="0"/>
          </a:p>
        </p:txBody>
      </p:sp>
      <p:graphicFrame>
        <p:nvGraphicFramePr>
          <p:cNvPr id="8" name="Zástupný obsah 2">
            <a:extLst>
              <a:ext uri="{FF2B5EF4-FFF2-40B4-BE49-F238E27FC236}">
                <a16:creationId xmlns:a16="http://schemas.microsoft.com/office/drawing/2014/main" id="{314A2B47-53A8-4392-BC46-6EF2E6A6C4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924941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5573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A2F9B87-EA49-4D0B-A8A2-15A54F091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cs-CZ" sz="3800" b="1" dirty="0"/>
              <a:t>Uplatnění absolventa v oboru </a:t>
            </a:r>
            <a:r>
              <a:rPr lang="cs-CZ" sz="3800" b="1" dirty="0" err="1"/>
              <a:t>Agropodnikání</a:t>
            </a:r>
            <a:endParaRPr lang="cs-CZ" sz="3800" b="1" dirty="0"/>
          </a:p>
        </p:txBody>
      </p:sp>
      <p:sp>
        <p:nvSpPr>
          <p:cNvPr id="7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4457D9E-C593-4013-BA06-2185B4DDA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659732"/>
          </a:xfrm>
        </p:spPr>
        <p:txBody>
          <a:bodyPr>
            <a:normAutofit/>
          </a:bodyPr>
          <a:lstStyle/>
          <a:p>
            <a:pPr algn="l" fontAlgn="base">
              <a:spcBef>
                <a:spcPts val="300"/>
              </a:spcBef>
              <a:spcAft>
                <a:spcPts val="300"/>
              </a:spcAft>
            </a:pPr>
            <a:r>
              <a:rPr lang="cs-CZ" sz="1400" b="0" i="0" dirty="0">
                <a:solidFill>
                  <a:srgbClr val="333333"/>
                </a:solidFill>
                <a:effectLst/>
                <a:latin typeface="+mj-lt"/>
              </a:rPr>
              <a:t>Absolvent se uplatní ve výrobních provozech zemědělské prvovýroby, v samostatné podnikatelské činnosti, ve službách pro zemědělství, ve zpracování a odbytu zemědělské produkce, v plemenářských podnicích, v nákupních a obchodních organizacích, ve šlechtitelských a semenářských podnicích, v ekonomických útvarech podniků a ve službách pro rozvoj venkova a v ochraně a tvorbě krajiny.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</a:pPr>
            <a:r>
              <a:rPr lang="cs-CZ" sz="1400" b="0" i="0" dirty="0">
                <a:solidFill>
                  <a:srgbClr val="333333"/>
                </a:solidFill>
                <a:effectLst/>
                <a:latin typeface="+mj-lt"/>
              </a:rPr>
              <a:t>Absolvent se uplatní zejména jako zemědělský technik agronom, zootechnik a farmář nebo jako samostatný podnikatel, obchodník se zemědělskými produkty, plemenář, šlechtitel, prodejce služeb pro zemědělství, prodejce techniky apod.</a:t>
            </a:r>
          </a:p>
          <a:p>
            <a:pPr algn="l" fontAlgn="base">
              <a:spcBef>
                <a:spcPts val="300"/>
              </a:spcBef>
              <a:spcAft>
                <a:spcPts val="300"/>
              </a:spcAft>
            </a:pPr>
            <a:r>
              <a:rPr lang="cs-CZ" sz="1400" b="0" i="0" dirty="0">
                <a:solidFill>
                  <a:srgbClr val="333333"/>
                </a:solidFill>
                <a:effectLst/>
                <a:latin typeface="+mj-lt"/>
              </a:rPr>
              <a:t>Součástí vzdělávání je i příprava k získání řidičského oprávnění skupiny T, B</a:t>
            </a:r>
          </a:p>
          <a:p>
            <a:pPr marL="0" indent="0">
              <a:buNone/>
            </a:pPr>
            <a:endParaRPr lang="cs-CZ" sz="1400" dirty="0"/>
          </a:p>
        </p:txBody>
      </p:sp>
      <p:pic>
        <p:nvPicPr>
          <p:cNvPr id="4" name="Picture 4" descr="ZEPO Bohuslavice, a.s.| Živočišná výroba | Orlické hory">
            <a:extLst>
              <a:ext uri="{FF2B5EF4-FFF2-40B4-BE49-F238E27FC236}">
                <a16:creationId xmlns:a16="http://schemas.microsoft.com/office/drawing/2014/main" id="{6083B4B2-7CE0-4747-9065-26488013DA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3" r="23184" b="-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204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12742D3-3AD7-42E4-BE44-2B608FF77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Učební</a:t>
            </a:r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plán</a:t>
            </a:r>
            <a:endParaRPr lang="en-US" sz="6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23EE3BC-52A2-449B-B8A1-ED389CBA8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8282" y="234419"/>
            <a:ext cx="5239111" cy="638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01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6BAF09D-2F73-430E-AB08-5FC391862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cs-CZ" sz="5400" dirty="0"/>
              <a:t>Zdroje: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80E2DE8-3919-4CA1-A5E3-89594B7D3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cs-CZ" sz="2200">
                <a:hlinkClick r:id="rId2"/>
              </a:rPr>
              <a:t>https://www.sszp.kt.cz/spolecne/download_soubor.php?ids=1814&amp;lang=cz&amp;p1=</a:t>
            </a:r>
            <a:endParaRPr lang="cs-CZ" sz="2200"/>
          </a:p>
          <a:p>
            <a:r>
              <a:rPr lang="cs-CZ" sz="2200">
                <a:hlinkClick r:id="rId3"/>
              </a:rPr>
              <a:t>https://www.infoabsolvent.cz/Obory/UcebniPlan/4141M01/Agropodnikani</a:t>
            </a:r>
            <a:endParaRPr lang="cs-CZ" sz="2200"/>
          </a:p>
          <a:p>
            <a:r>
              <a:rPr lang="cs-CZ" sz="2200">
                <a:hlinkClick r:id="rId4"/>
              </a:rPr>
              <a:t>https://www.infoabsolvent.cz/Obory/KartaOboru/4141M01</a:t>
            </a:r>
            <a:endParaRPr lang="cs-CZ" sz="2200"/>
          </a:p>
          <a:p>
            <a:r>
              <a:rPr lang="cs-CZ" sz="2200">
                <a:hlinkClick r:id="rId5"/>
              </a:rPr>
              <a:t>https://www.infoabsolvent.cz/Obory/ProfilAbsolventa/4141M01/Agropodnikani</a:t>
            </a:r>
            <a:endParaRPr lang="cs-CZ" sz="2200"/>
          </a:p>
          <a:p>
            <a:r>
              <a:rPr lang="cs-CZ" sz="2200">
                <a:hlinkClick r:id="rId6"/>
              </a:rPr>
              <a:t>http://zpd.nuov.cz/41/4141M001.pr.htm</a:t>
            </a:r>
            <a:endParaRPr lang="cs-CZ" sz="2200"/>
          </a:p>
          <a:p>
            <a:endParaRPr lang="cs-CZ" sz="2200"/>
          </a:p>
          <a:p>
            <a:endParaRPr lang="cs-CZ" sz="2200"/>
          </a:p>
        </p:txBody>
      </p:sp>
    </p:spTree>
    <p:extLst>
      <p:ext uri="{BB962C8B-B14F-4D97-AF65-F5344CB8AC3E}">
        <p14:creationId xmlns:p14="http://schemas.microsoft.com/office/powerpoint/2010/main" val="148069813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828</Words>
  <Application>Microsoft Office PowerPoint</Application>
  <PresentationFormat>Širokoúhlá obrazovka</PresentationFormat>
  <Paragraphs>31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Motiv Office</vt:lpstr>
      <vt:lpstr>Motiv Office</vt:lpstr>
      <vt:lpstr>Profil absolventa oboru Agropodnikání</vt:lpstr>
      <vt:lpstr>Prezentace aplikace PowerPoint</vt:lpstr>
      <vt:lpstr>O oboru </vt:lpstr>
      <vt:lpstr>Klíčové kompetence absolventa  oboru Agropodnikání</vt:lpstr>
      <vt:lpstr>Odborné kompetence absolventa oboru Agropodnikání</vt:lpstr>
      <vt:lpstr>Uplatnění absolventa v oboru Agropodnikání</vt:lpstr>
      <vt:lpstr>Učební plán</vt:lpstr>
      <vt:lpstr>Zdroje: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 absolventa obor Agropodnikání</dc:title>
  <dc:creator>Bulušková Kamila</dc:creator>
  <cp:lastModifiedBy>Bulušková Kamila</cp:lastModifiedBy>
  <cp:revision>11</cp:revision>
  <dcterms:created xsi:type="dcterms:W3CDTF">2021-11-11T09:49:46Z</dcterms:created>
  <dcterms:modified xsi:type="dcterms:W3CDTF">2021-11-11T11:45:39Z</dcterms:modified>
</cp:coreProperties>
</file>