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7D207-2DDB-4AD2-AACF-B880933B371D}" v="347" dt="2023-03-24T10:03:04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EE57D207-2DDB-4AD2-AACF-B880933B371D}"/>
    <pc:docChg chg="custSel modSld">
      <pc:chgData name="Bulušková Kamila" userId="b14598a1-bbdf-4794-a95a-12c2c16168d9" providerId="ADAL" clId="{EE57D207-2DDB-4AD2-AACF-B880933B371D}" dt="2023-03-24T10:03:04.368" v="357" actId="1076"/>
      <pc:docMkLst>
        <pc:docMk/>
      </pc:docMkLst>
      <pc:sldChg chg="modSp">
        <pc:chgData name="Bulušková Kamila" userId="b14598a1-bbdf-4794-a95a-12c2c16168d9" providerId="ADAL" clId="{EE57D207-2DDB-4AD2-AACF-B880933B371D}" dt="2023-03-24T10:03:04.368" v="357" actId="1076"/>
        <pc:sldMkLst>
          <pc:docMk/>
          <pc:sldMk cId="2621545921" sldId="260"/>
        </pc:sldMkLst>
        <pc:spChg chg="mod">
          <ac:chgData name="Bulušková Kamila" userId="b14598a1-bbdf-4794-a95a-12c2c16168d9" providerId="ADAL" clId="{EE57D207-2DDB-4AD2-AACF-B880933B371D}" dt="2023-03-24T10:02:30.143" v="356" actId="20577"/>
          <ac:spMkLst>
            <pc:docMk/>
            <pc:sldMk cId="2621545921" sldId="260"/>
            <ac:spMk id="3" creationId="{BBAAB848-238E-DA65-0B9C-DF234DE0CD25}"/>
          </ac:spMkLst>
        </pc:spChg>
        <pc:picChg chg="mod">
          <ac:chgData name="Bulušková Kamila" userId="b14598a1-bbdf-4794-a95a-12c2c16168d9" providerId="ADAL" clId="{EE57D207-2DDB-4AD2-AACF-B880933B371D}" dt="2023-03-24T10:03:04.368" v="357" actId="1076"/>
          <ac:picMkLst>
            <pc:docMk/>
            <pc:sldMk cId="2621545921" sldId="260"/>
            <ac:picMk id="2050" creationId="{C99E0A42-8202-C2DA-60EA-6A9CA5B4BCDF}"/>
          </ac:picMkLst>
        </pc:picChg>
      </pc:sldChg>
      <pc:sldChg chg="modSp mod modAnim">
        <pc:chgData name="Bulušková Kamila" userId="b14598a1-bbdf-4794-a95a-12c2c16168d9" providerId="ADAL" clId="{EE57D207-2DDB-4AD2-AACF-B880933B371D}" dt="2023-03-24T08:45:10.905" v="228" actId="1076"/>
        <pc:sldMkLst>
          <pc:docMk/>
          <pc:sldMk cId="1726028020" sldId="266"/>
        </pc:sldMkLst>
        <pc:spChg chg="mod">
          <ac:chgData name="Bulušková Kamila" userId="b14598a1-bbdf-4794-a95a-12c2c16168d9" providerId="ADAL" clId="{EE57D207-2DDB-4AD2-AACF-B880933B371D}" dt="2023-03-24T08:45:10.905" v="228" actId="1076"/>
          <ac:spMkLst>
            <pc:docMk/>
            <pc:sldMk cId="1726028020" sldId="266"/>
            <ac:spMk id="3" creationId="{489C6199-C797-91DF-5402-A5AF9FE9C204}"/>
          </ac:spMkLst>
        </pc:spChg>
      </pc:sldChg>
      <pc:sldChg chg="modSp mod modAnim">
        <pc:chgData name="Bulušková Kamila" userId="b14598a1-bbdf-4794-a95a-12c2c16168d9" providerId="ADAL" clId="{EE57D207-2DDB-4AD2-AACF-B880933B371D}" dt="2023-03-24T08:49:56.301" v="349" actId="1076"/>
        <pc:sldMkLst>
          <pc:docMk/>
          <pc:sldMk cId="1396426712" sldId="267"/>
        </pc:sldMkLst>
        <pc:spChg chg="mod">
          <ac:chgData name="Bulušková Kamila" userId="b14598a1-bbdf-4794-a95a-12c2c16168d9" providerId="ADAL" clId="{EE57D207-2DDB-4AD2-AACF-B880933B371D}" dt="2023-03-24T08:49:56.301" v="349" actId="1076"/>
          <ac:spMkLst>
            <pc:docMk/>
            <pc:sldMk cId="1396426712" sldId="267"/>
            <ac:spMk id="3" creationId="{7A12292E-5330-0EBC-C8CD-E11C58470191}"/>
          </ac:spMkLst>
        </pc:spChg>
        <pc:picChg chg="mod">
          <ac:chgData name="Bulušková Kamila" userId="b14598a1-bbdf-4794-a95a-12c2c16168d9" providerId="ADAL" clId="{EE57D207-2DDB-4AD2-AACF-B880933B371D}" dt="2023-03-24T08:49:52.590" v="348" actId="1076"/>
          <ac:picMkLst>
            <pc:docMk/>
            <pc:sldMk cId="1396426712" sldId="267"/>
            <ac:picMk id="11266" creationId="{FFF41819-7492-7684-EE6E-68A5059E26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CF5D9-D301-44AF-BABB-DA10359738C8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F338F-4721-430B-8547-34997279C3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881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Podle užitkovosti rozdělujeme plemena na mléčná, masná a kombinovaná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F338F-4721-430B-8547-34997279C34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6035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Za normální laktaci je považováno 250 a více dní</a:t>
            </a:r>
          </a:p>
          <a:p>
            <a:r>
              <a:rPr lang="cs-CZ" dirty="0"/>
              <a:t>Dojivost: množství získaného mléka za určitý časový interval</a:t>
            </a:r>
          </a:p>
          <a:p>
            <a:r>
              <a:rPr lang="cs-CZ" dirty="0"/>
              <a:t>Dojitelnost: schopnost krávy rychle uvolňovat mléko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F338F-4721-430B-8547-34997279C344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7901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Korelace mezi produkcí a reprodukcí</a:t>
            </a:r>
          </a:p>
          <a:p>
            <a:r>
              <a:rPr lang="cs-CZ" dirty="0"/>
              <a:t>Mezidobí: od porodu do porodu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F338F-4721-430B-8547-34997279C344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118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Plemena s podílem původu v mléčných plemenech nevykrmujeme do více než 500 kg - nehospodárné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F338F-4721-430B-8547-34997279C344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268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 mnoha zemích je produkce koňského masa běžná, u nás jen okrajově – vnímáno jako podřadné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F338F-4721-430B-8547-34997279C344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153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E9524C-7E72-C5F7-3D82-80142B71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opakování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72D69D3-32E0-069E-0134-828049B64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Chov zvířat</a:t>
            </a:r>
          </a:p>
        </p:txBody>
      </p:sp>
    </p:spTree>
    <p:extLst>
      <p:ext uri="{BB962C8B-B14F-4D97-AF65-F5344CB8AC3E}">
        <p14:creationId xmlns:p14="http://schemas.microsoft.com/office/powerpoint/2010/main" val="308515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ení kráva jako kráva: Vyberte si ten nejlepší kousek hovězího! | CZ TEST |  podporováno Potravinářskou komorou České republiky">
            <a:extLst>
              <a:ext uri="{FF2B5EF4-FFF2-40B4-BE49-F238E27FC236}">
                <a16:creationId xmlns:a16="http://schemas.microsoft.com/office/drawing/2014/main" id="{6D213531-0987-B63E-AC60-8914E1A838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" r="2540" b="1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78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32155EB-5D68-D859-9995-9E71566C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/>
              <a:t>Chov skotu</a:t>
            </a:r>
            <a:endParaRPr lang="cs-CZ" dirty="0"/>
          </a:p>
        </p:txBody>
      </p:sp>
      <p:sp>
        <p:nvSpPr>
          <p:cNvPr id="3084" name="Rectangle 3080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097AD7-5988-3441-4096-3B12FB6D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b="1"/>
              <a:t>Užitkovost</a:t>
            </a:r>
            <a:r>
              <a:rPr lang="cs-CZ"/>
              <a:t>: mléčná, masná</a:t>
            </a:r>
          </a:p>
          <a:p>
            <a:r>
              <a:rPr lang="cs-CZ" b="1"/>
              <a:t>Produkty</a:t>
            </a:r>
            <a:r>
              <a:rPr lang="cs-CZ"/>
              <a:t>: mléko, mléčné výrobky, maso, kůže, plemenný materiál, spásání travních porostů, chlévská mrva</a:t>
            </a:r>
          </a:p>
          <a:p>
            <a:pPr marL="0" indent="0">
              <a:buNone/>
            </a:pPr>
            <a:endParaRPr lang="cs-CZ"/>
          </a:p>
          <a:p>
            <a:r>
              <a:rPr lang="cs-CZ" b="1"/>
              <a:t>Mléčná plemena</a:t>
            </a:r>
            <a:r>
              <a:rPr lang="cs-CZ"/>
              <a:t>: Holštýnský skot, Jersey</a:t>
            </a:r>
          </a:p>
          <a:p>
            <a:r>
              <a:rPr lang="cs-CZ" b="1"/>
              <a:t>Masná plemena</a:t>
            </a:r>
            <a:r>
              <a:rPr lang="cs-CZ"/>
              <a:t>: Masný simentál, Aberdeen Angus</a:t>
            </a:r>
          </a:p>
          <a:p>
            <a:r>
              <a:rPr lang="cs-CZ" b="1"/>
              <a:t>Kombinovaná plemena</a:t>
            </a:r>
            <a:r>
              <a:rPr lang="cs-CZ"/>
              <a:t>: Český strakatý skot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6432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lštýnský skot má po roce pauzy národní šampionku - Veletrhy Brno -  m.bvv.cz">
            <a:extLst>
              <a:ext uri="{FF2B5EF4-FFF2-40B4-BE49-F238E27FC236}">
                <a16:creationId xmlns:a16="http://schemas.microsoft.com/office/drawing/2014/main" id="{C54ADFEB-B14C-38E9-D354-9B9BECF35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2" r="1" b="18143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B75CACA-5E51-2AF9-9FE1-BCE34EC0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Mléčná užitkovost</a:t>
            </a: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F3E2CC-84FD-E0CA-D5DD-7D3996BD0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b="1"/>
              <a:t>Cíl</a:t>
            </a:r>
            <a:r>
              <a:rPr lang="cs-CZ"/>
              <a:t>: produkce mléka, produkce telat</a:t>
            </a:r>
          </a:p>
          <a:p>
            <a:r>
              <a:rPr lang="cs-CZ" b="1"/>
              <a:t>Průměrná spotřeba mléka na osobu a rok v ČR</a:t>
            </a:r>
            <a:r>
              <a:rPr lang="cs-CZ"/>
              <a:t>: 200-220 l</a:t>
            </a:r>
          </a:p>
          <a:p>
            <a:r>
              <a:rPr lang="cs-CZ"/>
              <a:t>Dojnost: schopnost produkce mléka</a:t>
            </a:r>
          </a:p>
          <a:p>
            <a:endParaRPr lang="cs-CZ"/>
          </a:p>
          <a:p>
            <a:r>
              <a:rPr lang="cs-CZ" b="1"/>
              <a:t>Průměrná produkce mléka na laktaci v ČR</a:t>
            </a:r>
            <a:r>
              <a:rPr lang="cs-CZ"/>
              <a:t>: 7300 kg mléka na dojnici</a:t>
            </a:r>
          </a:p>
          <a:p>
            <a:r>
              <a:rPr lang="cs-CZ" b="1"/>
              <a:t>Délka laktace</a:t>
            </a:r>
            <a:r>
              <a:rPr lang="cs-CZ"/>
              <a:t>: normovaná 305 dní</a:t>
            </a:r>
          </a:p>
          <a:p>
            <a:r>
              <a:rPr lang="cs-CZ" b="1"/>
              <a:t>Průměrný denní nádoj</a:t>
            </a:r>
            <a:r>
              <a:rPr lang="cs-CZ"/>
              <a:t>: 20,5 kg (všechny krávy), 26 kg (Holštýn)</a:t>
            </a:r>
          </a:p>
          <a:p>
            <a:r>
              <a:rPr lang="cs-CZ" b="1"/>
              <a:t>Počet laktací za život krávy</a:t>
            </a:r>
            <a:r>
              <a:rPr lang="cs-CZ"/>
              <a:t>: 3,5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926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301BFE-FB09-70F7-2757-9DB512A5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Reprodukční vlastnosti dojených plemen skotu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825ACB-379B-6920-9403-FA33BB363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Délka březosti</a:t>
            </a:r>
            <a:r>
              <a:rPr lang="cs-CZ" dirty="0"/>
              <a:t>: 283 dnů</a:t>
            </a:r>
          </a:p>
          <a:p>
            <a:r>
              <a:rPr lang="cs-CZ" b="1" dirty="0"/>
              <a:t>Délka </a:t>
            </a:r>
            <a:r>
              <a:rPr lang="cs-CZ" b="1" dirty="0" err="1"/>
              <a:t>říjového</a:t>
            </a:r>
            <a:r>
              <a:rPr lang="cs-CZ" b="1" dirty="0"/>
              <a:t> cyklu</a:t>
            </a:r>
            <a:r>
              <a:rPr lang="cs-CZ" dirty="0"/>
              <a:t>: 21 dnů</a:t>
            </a:r>
          </a:p>
          <a:p>
            <a:r>
              <a:rPr lang="cs-CZ" b="1" dirty="0"/>
              <a:t>Pohlavní dospělost</a:t>
            </a:r>
            <a:r>
              <a:rPr lang="cs-CZ" dirty="0"/>
              <a:t>: 8-12 měsíců</a:t>
            </a:r>
          </a:p>
          <a:p>
            <a:r>
              <a:rPr lang="cs-CZ" b="1" dirty="0"/>
              <a:t>Chovatelská dospělost</a:t>
            </a:r>
            <a:r>
              <a:rPr lang="cs-CZ" dirty="0"/>
              <a:t>: 12-20 měsíců</a:t>
            </a:r>
          </a:p>
          <a:p>
            <a:r>
              <a:rPr lang="cs-CZ" b="1" dirty="0"/>
              <a:t>První telení</a:t>
            </a:r>
            <a:r>
              <a:rPr lang="cs-CZ" dirty="0"/>
              <a:t>: 24-30 měsíců</a:t>
            </a:r>
          </a:p>
          <a:p>
            <a:r>
              <a:rPr lang="cs-CZ" b="1" dirty="0"/>
              <a:t>Hmotnost narozeného telete</a:t>
            </a:r>
            <a:r>
              <a:rPr lang="cs-CZ" dirty="0"/>
              <a:t>: 30-40 kg</a:t>
            </a:r>
          </a:p>
          <a:p>
            <a:r>
              <a:rPr lang="cs-CZ" b="1" dirty="0"/>
              <a:t>Mezidobí</a:t>
            </a:r>
            <a:r>
              <a:rPr lang="cs-CZ" dirty="0"/>
              <a:t>: ideálně 1 rok, reálně cca 400 dnů</a:t>
            </a:r>
          </a:p>
        </p:txBody>
      </p:sp>
    </p:spTree>
    <p:extLst>
      <p:ext uri="{BB962C8B-B14F-4D97-AF65-F5344CB8AC3E}">
        <p14:creationId xmlns:p14="http://schemas.microsoft.com/office/powerpoint/2010/main" val="68106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lemeno Simmental | topbeef.cz">
            <a:extLst>
              <a:ext uri="{FF2B5EF4-FFF2-40B4-BE49-F238E27FC236}">
                <a16:creationId xmlns:a16="http://schemas.microsoft.com/office/drawing/2014/main" id="{C99E0A42-8202-C2DA-60EA-6A9CA5B4B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980"/>
          <a:stretch/>
        </p:blipFill>
        <p:spPr bwMode="auto">
          <a:xfrm>
            <a:off x="0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Rectangle 2059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12569DA-85FA-2530-8895-4557CBB8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Masná užitkovost</a:t>
            </a: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AAB848-238E-DA65-0B9C-DF234DE0C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b="1" dirty="0"/>
              <a:t>Cíl</a:t>
            </a:r>
            <a:r>
              <a:rPr lang="cs-CZ" dirty="0"/>
              <a:t>: produkce masa</a:t>
            </a:r>
          </a:p>
          <a:p>
            <a:r>
              <a:rPr lang="cs-CZ" b="1" dirty="0"/>
              <a:t>Průměrná spotřeba hovězího masa v ČR na člověka a rok</a:t>
            </a:r>
            <a:r>
              <a:rPr lang="cs-CZ" dirty="0"/>
              <a:t>: 9,5 kg</a:t>
            </a:r>
          </a:p>
          <a:p>
            <a:r>
              <a:rPr lang="cs-CZ" b="1" dirty="0"/>
              <a:t>Délka výkrmu</a:t>
            </a:r>
            <a:r>
              <a:rPr lang="cs-CZ" dirty="0"/>
              <a:t>: 18 – 24 měsíců</a:t>
            </a:r>
          </a:p>
          <a:p>
            <a:r>
              <a:rPr lang="cs-CZ" b="1" dirty="0"/>
              <a:t>Živá hmotnost při porážce</a:t>
            </a:r>
            <a:r>
              <a:rPr lang="cs-CZ" dirty="0"/>
              <a:t>: 450-600 kg</a:t>
            </a:r>
          </a:p>
          <a:p>
            <a:r>
              <a:rPr lang="cs-CZ" b="1" dirty="0"/>
              <a:t>Požadovaný denní přírůstek</a:t>
            </a:r>
            <a:r>
              <a:rPr lang="cs-CZ" dirty="0"/>
              <a:t>: 1,0 – 1,3 kg</a:t>
            </a:r>
          </a:p>
          <a:p>
            <a:r>
              <a:rPr lang="cs-CZ" b="1" dirty="0"/>
              <a:t>Jatečná výtěžnost</a:t>
            </a:r>
            <a:r>
              <a:rPr lang="cs-CZ" dirty="0"/>
              <a:t>: 55-60 %</a:t>
            </a:r>
          </a:p>
        </p:txBody>
      </p:sp>
    </p:spTree>
    <p:extLst>
      <p:ext uri="{BB962C8B-B14F-4D97-AF65-F5344CB8AC3E}">
        <p14:creationId xmlns:p14="http://schemas.microsoft.com/office/powerpoint/2010/main" val="262154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 všechno potřebujeme vědět o chovu prasat? | Český Kutil.cz">
            <a:extLst>
              <a:ext uri="{FF2B5EF4-FFF2-40B4-BE49-F238E27FC236}">
                <a16:creationId xmlns:a16="http://schemas.microsoft.com/office/drawing/2014/main" id="{04D70CA7-3EAA-E721-E324-E6D371473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5" r="1" b="11248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4102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334C289-F10B-D9D0-F35A-A95689A1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prasat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63CC2A-6951-902C-948D-A629717CB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114800"/>
          </a:xfrm>
        </p:spPr>
        <p:txBody>
          <a:bodyPr>
            <a:normAutofit/>
          </a:bodyPr>
          <a:lstStyle/>
          <a:p>
            <a:r>
              <a:rPr lang="cs-CZ" b="1" dirty="0"/>
              <a:t>Cíl</a:t>
            </a:r>
            <a:r>
              <a:rPr lang="cs-CZ" dirty="0"/>
              <a:t>: zisk vepřového masa, případně plemenných zvířat</a:t>
            </a:r>
          </a:p>
          <a:p>
            <a:r>
              <a:rPr lang="cs-CZ" b="1" dirty="0"/>
              <a:t>Průměrná roční spotřeba vepřového masa v ČR</a:t>
            </a:r>
            <a:r>
              <a:rPr lang="cs-CZ" dirty="0"/>
              <a:t>: 43 kg/osobu</a:t>
            </a:r>
          </a:p>
          <a:p>
            <a:r>
              <a:rPr lang="cs-CZ" b="1" dirty="0"/>
              <a:t>Vysoká plodnost </a:t>
            </a:r>
            <a:r>
              <a:rPr lang="cs-CZ" dirty="0"/>
              <a:t>– 2 vrhy za rok, až 14 selat ve vrhu</a:t>
            </a:r>
          </a:p>
          <a:p>
            <a:r>
              <a:rPr lang="cs-CZ" b="1" dirty="0"/>
              <a:t>Délka březosti </a:t>
            </a:r>
            <a:r>
              <a:rPr lang="cs-CZ" dirty="0"/>
              <a:t>115 dnů</a:t>
            </a:r>
          </a:p>
          <a:p>
            <a:r>
              <a:rPr lang="cs-CZ" b="1" dirty="0"/>
              <a:t>Ranost</a:t>
            </a:r>
            <a:r>
              <a:rPr lang="cs-CZ" dirty="0"/>
              <a:t> – brzké zařazení zvířat do chovu (kanečci 8 měsíců, prasničky 6-7</a:t>
            </a:r>
          </a:p>
          <a:p>
            <a:r>
              <a:rPr lang="cs-CZ" b="1" dirty="0"/>
              <a:t>Krátká doba výkrmu </a:t>
            </a:r>
            <a:r>
              <a:rPr lang="cs-CZ" dirty="0"/>
              <a:t>– 6 měsíců, porážková hmotnost 105-115 kg</a:t>
            </a:r>
          </a:p>
          <a:p>
            <a:r>
              <a:rPr lang="cs-CZ" b="1" dirty="0"/>
              <a:t>Průměrný denní přírůstek</a:t>
            </a:r>
            <a:r>
              <a:rPr lang="cs-CZ" dirty="0"/>
              <a:t>: 800 g</a:t>
            </a:r>
          </a:p>
          <a:p>
            <a:r>
              <a:rPr lang="cs-CZ" b="1" dirty="0"/>
              <a:t>Vysoká jatečná výtěžnost </a:t>
            </a:r>
            <a:r>
              <a:rPr lang="cs-CZ" dirty="0"/>
              <a:t>– 72-84 %</a:t>
            </a:r>
          </a:p>
          <a:p>
            <a:r>
              <a:rPr lang="cs-CZ" dirty="0"/>
              <a:t>Spotřeba 2,5 kg KKS na 1 kg přírůstku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845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terý kůň je nejkrásnější? Hlasujte do konce srpna - Svitavský deník">
            <a:extLst>
              <a:ext uri="{FF2B5EF4-FFF2-40B4-BE49-F238E27FC236}">
                <a16:creationId xmlns:a16="http://schemas.microsoft.com/office/drawing/2014/main" id="{E3B03B96-A097-3912-7E4F-CFD461821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" r="1" b="21764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Rectangle 6150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C1BA80-46F2-2DC0-0794-E3208C17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koní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64BD91-66A7-E54C-9C39-11AEC25F4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dirty="0"/>
              <a:t>Historicky význam jako zdroj potravy a tažné zvíře</a:t>
            </a:r>
          </a:p>
          <a:p>
            <a:r>
              <a:rPr lang="cs-CZ" dirty="0"/>
              <a:t>Dnes převážně zájmové a sportovní využití, částečně pro práci a tah</a:t>
            </a:r>
          </a:p>
          <a:p>
            <a:endParaRPr lang="cs-CZ" dirty="0"/>
          </a:p>
          <a:p>
            <a:r>
              <a:rPr lang="cs-CZ" b="1" dirty="0"/>
              <a:t>Plemena koní</a:t>
            </a:r>
            <a:r>
              <a:rPr lang="cs-CZ" dirty="0"/>
              <a:t>: </a:t>
            </a:r>
            <a:r>
              <a:rPr lang="cs-CZ" u="sng" dirty="0"/>
              <a:t>teplokrevná</a:t>
            </a:r>
            <a:r>
              <a:rPr lang="cs-CZ" dirty="0"/>
              <a:t> – živější temperament, původ v orientálních koních (český teplokrevník, anglický plnokrevník), </a:t>
            </a:r>
            <a:r>
              <a:rPr lang="cs-CZ" u="sng" dirty="0"/>
              <a:t>chladnokrevná</a:t>
            </a:r>
            <a:r>
              <a:rPr lang="cs-CZ" dirty="0"/>
              <a:t> – klidný temperament, původ na západě (slezský norik)</a:t>
            </a:r>
          </a:p>
          <a:p>
            <a:r>
              <a:rPr lang="cs-CZ" dirty="0"/>
              <a:t>Významné české plemeno – </a:t>
            </a:r>
            <a:r>
              <a:rPr lang="cs-CZ" b="1" dirty="0"/>
              <a:t>Starokladrubský kůň </a:t>
            </a:r>
            <a:r>
              <a:rPr lang="cs-CZ" dirty="0"/>
              <a:t>(bělouš/vraník)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875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ipy pro péči o hříbata | eshop Kamír">
            <a:extLst>
              <a:ext uri="{FF2B5EF4-FFF2-40B4-BE49-F238E27FC236}">
                <a16:creationId xmlns:a16="http://schemas.microsoft.com/office/drawing/2014/main" id="{40642976-A685-8A5C-9FAC-A5BFA0051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251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7" name="Rectangle 5126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9699DA-0C04-8BBF-F7CF-E694136A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koní – reprodukční vlastnosti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1450F8-AFE1-C28B-FBFF-20BCBD04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b="1" dirty="0"/>
              <a:t>Délka březosti</a:t>
            </a:r>
            <a:r>
              <a:rPr lang="cs-CZ" dirty="0"/>
              <a:t>: 333 dnů</a:t>
            </a:r>
          </a:p>
          <a:p>
            <a:r>
              <a:rPr lang="cs-CZ" b="1" dirty="0" err="1"/>
              <a:t>Říjový</a:t>
            </a:r>
            <a:r>
              <a:rPr lang="cs-CZ" b="1" dirty="0"/>
              <a:t> cyklus 21 dní</a:t>
            </a:r>
            <a:r>
              <a:rPr lang="cs-CZ" dirty="0"/>
              <a:t>, kůň je však zvíře sezónně-</a:t>
            </a:r>
            <a:r>
              <a:rPr lang="cs-CZ" dirty="0" err="1"/>
              <a:t>polyestrické</a:t>
            </a:r>
            <a:r>
              <a:rPr lang="cs-CZ" dirty="0"/>
              <a:t> = na podzim dochází k tzv. </a:t>
            </a:r>
            <a:r>
              <a:rPr lang="cs-CZ" dirty="0" err="1"/>
              <a:t>anestrii</a:t>
            </a:r>
            <a:r>
              <a:rPr lang="cs-CZ" dirty="0"/>
              <a:t> (období pohlavního klidu)</a:t>
            </a:r>
          </a:p>
          <a:p>
            <a:r>
              <a:rPr lang="cs-CZ" dirty="0"/>
              <a:t>Klisna rodí zpravidla 1 hříbě, které váží 40-60 kg</a:t>
            </a:r>
          </a:p>
          <a:p>
            <a:r>
              <a:rPr lang="cs-CZ" dirty="0"/>
              <a:t>Laktace 4-7 měsíců, poté odstav</a:t>
            </a:r>
          </a:p>
        </p:txBody>
      </p:sp>
    </p:spTree>
    <p:extLst>
      <p:ext uri="{BB962C8B-B14F-4D97-AF65-F5344CB8AC3E}">
        <p14:creationId xmlns:p14="http://schemas.microsoft.com/office/powerpoint/2010/main" val="41897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Čeští vědci vyvinuli slepice odolné vůči nevyléčitelné nemoci. Upravili  jejich genetickou informaci | Hospodářské noviny (HN.cz)">
            <a:extLst>
              <a:ext uri="{FF2B5EF4-FFF2-40B4-BE49-F238E27FC236}">
                <a16:creationId xmlns:a16="http://schemas.microsoft.com/office/drawing/2014/main" id="{14CB8B71-C3F1-EB30-CBE4-0AEA8EF60A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5" name="Rectangle 7174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731361-515D-4E4A-97E2-9F904D17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drůbeže</a:t>
            </a:r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80B68C-E47B-1057-527A-21C6FFEB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b="1" dirty="0"/>
              <a:t>Cíl</a:t>
            </a:r>
            <a:r>
              <a:rPr lang="cs-CZ" dirty="0"/>
              <a:t>: produkce drůbežího masa, produkce vajec</a:t>
            </a:r>
          </a:p>
          <a:p>
            <a:r>
              <a:rPr lang="cs-CZ" dirty="0"/>
              <a:t>Produkty: maso, vejce, peří</a:t>
            </a:r>
          </a:p>
          <a:p>
            <a:r>
              <a:rPr lang="cs-CZ" dirty="0"/>
              <a:t>Patří sem: slepice, krůty, perličky, husy, kachny, křepelky</a:t>
            </a:r>
          </a:p>
          <a:p>
            <a:endParaRPr lang="cs-CZ" dirty="0"/>
          </a:p>
          <a:p>
            <a:r>
              <a:rPr lang="cs-CZ" b="1" dirty="0"/>
              <a:t>Průměrná roční spotřeba drůbežího masa v ČR</a:t>
            </a:r>
            <a:r>
              <a:rPr lang="cs-CZ" dirty="0"/>
              <a:t>: 30 kg/osoba</a:t>
            </a:r>
          </a:p>
          <a:p>
            <a:r>
              <a:rPr lang="cs-CZ" b="1" dirty="0"/>
              <a:t>Průměrná roční spotřeba vajec</a:t>
            </a:r>
            <a:r>
              <a:rPr lang="cs-CZ" dirty="0"/>
              <a:t>: 263/osoba</a:t>
            </a:r>
          </a:p>
        </p:txBody>
      </p:sp>
    </p:spTree>
    <p:extLst>
      <p:ext uri="{BB962C8B-B14F-4D97-AF65-F5344CB8AC3E}">
        <p14:creationId xmlns:p14="http://schemas.microsoft.com/office/powerpoint/2010/main" val="64663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Kanibalismus u slepic (oklovávání peří) - GALLUS EXTRA s.r.o.">
            <a:extLst>
              <a:ext uri="{FF2B5EF4-FFF2-40B4-BE49-F238E27FC236}">
                <a16:creationId xmlns:a16="http://schemas.microsoft.com/office/drawing/2014/main" id="{2BD3C435-4B70-DE2D-B995-01E9A0D67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1" r="1" b="9504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1D0A81-4547-C126-AD0F-1842C365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slepic – produkce vajec a masa</a:t>
            </a:r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2425C1-DCA1-E04B-9E70-D1A58C6C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r>
              <a:rPr lang="cs-CZ" dirty="0"/>
              <a:t>Nosnost – schopnost produkovat vejce</a:t>
            </a:r>
          </a:p>
          <a:p>
            <a:r>
              <a:rPr lang="cs-CZ" dirty="0"/>
              <a:t>Roční snáška u nosných hybridů až 300 vajec</a:t>
            </a:r>
          </a:p>
          <a:p>
            <a:r>
              <a:rPr lang="cs-CZ" dirty="0"/>
              <a:t>V domácím chovu zpravidla 150 – 180 vajec ročně (1 vejce obden + zimní období, kdy nesou jen málo)</a:t>
            </a:r>
          </a:p>
          <a:p>
            <a:r>
              <a:rPr lang="cs-CZ" dirty="0"/>
              <a:t>Pohlavní dospělost ve 150 - 180 dnech</a:t>
            </a:r>
          </a:p>
          <a:p>
            <a:endParaRPr lang="cs-CZ" dirty="0"/>
          </a:p>
          <a:p>
            <a:r>
              <a:rPr lang="cs-CZ" dirty="0"/>
              <a:t>Výkrm brojlerů: trvá 35-42 dnů, hmotnost je 1,8-2,5 kg</a:t>
            </a:r>
          </a:p>
          <a:p>
            <a:r>
              <a:rPr lang="cs-CZ" dirty="0"/>
              <a:t>Konverze krmiva je 2 kg na 1 kg přírůstku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987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Ovce mohou poškodit váš mozek, hrozí vědci - Prima Zoom">
            <a:extLst>
              <a:ext uri="{FF2B5EF4-FFF2-40B4-BE49-F238E27FC236}">
                <a16:creationId xmlns:a16="http://schemas.microsoft.com/office/drawing/2014/main" id="{23D50EE3-E9B5-1C4D-E258-861AB601D3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F78D29-B05A-645A-2D08-5F4EC5D28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ovcí a koz</a:t>
            </a:r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9C6199-C797-91DF-5402-A5AF9FE9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1744"/>
            <a:ext cx="9601200" cy="4258638"/>
          </a:xfrm>
        </p:spPr>
        <p:txBody>
          <a:bodyPr>
            <a:normAutofit/>
          </a:bodyPr>
          <a:lstStyle/>
          <a:p>
            <a:r>
              <a:rPr lang="cs-CZ" dirty="0"/>
              <a:t>Ovce – produkty: maso, vlna, mléko</a:t>
            </a:r>
          </a:p>
          <a:p>
            <a:r>
              <a:rPr lang="cs-CZ" dirty="0" err="1"/>
              <a:t>Monoestrická</a:t>
            </a:r>
            <a:r>
              <a:rPr lang="cs-CZ" dirty="0"/>
              <a:t> zvířata – jedna říje za rok, většinou na podzim (výjimka u ovcí romanovských – dvě říje ročně)</a:t>
            </a:r>
          </a:p>
          <a:p>
            <a:r>
              <a:rPr lang="cs-CZ" b="1" dirty="0"/>
              <a:t>Délka březosti 152 dnů</a:t>
            </a:r>
          </a:p>
          <a:p>
            <a:r>
              <a:rPr lang="cs-CZ" b="1" dirty="0"/>
              <a:t>Rodí 1-4 mláďata </a:t>
            </a:r>
          </a:p>
          <a:p>
            <a:r>
              <a:rPr lang="cs-CZ" b="1" dirty="0"/>
              <a:t>Masná plemena</a:t>
            </a:r>
            <a:r>
              <a:rPr lang="cs-CZ" dirty="0"/>
              <a:t>: Suffolk, </a:t>
            </a:r>
            <a:r>
              <a:rPr lang="cs-CZ" dirty="0" err="1"/>
              <a:t>Texel</a:t>
            </a:r>
            <a:endParaRPr lang="cs-CZ" dirty="0"/>
          </a:p>
          <a:p>
            <a:r>
              <a:rPr lang="cs-CZ" b="1" dirty="0"/>
              <a:t>Kombinovaná plemena</a:t>
            </a:r>
            <a:r>
              <a:rPr lang="cs-CZ" dirty="0"/>
              <a:t>: Merino, šumavská ovce</a:t>
            </a:r>
          </a:p>
          <a:p>
            <a:r>
              <a:rPr lang="cs-CZ" b="1" dirty="0"/>
              <a:t>Plemena plodná</a:t>
            </a:r>
            <a:r>
              <a:rPr lang="cs-CZ" dirty="0"/>
              <a:t>: Romanovská ovce, </a:t>
            </a:r>
            <a:r>
              <a:rPr lang="cs-CZ" dirty="0" err="1"/>
              <a:t>východofríská</a:t>
            </a:r>
            <a:r>
              <a:rPr lang="cs-CZ" dirty="0"/>
              <a:t> ovce</a:t>
            </a:r>
          </a:p>
          <a:p>
            <a:r>
              <a:rPr lang="cs-CZ" dirty="0"/>
              <a:t>Výkrm končí cca v 6 měsících při hmotnosti 30-45 kg</a:t>
            </a:r>
          </a:p>
          <a:p>
            <a:r>
              <a:rPr lang="cs-CZ" dirty="0"/>
              <a:t>Jatečná výtěžnost 50-55 %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2602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Kozy jsou příliš inteligentní na to, aby fungovaly jako sekačka na trávu -  iDNES.cz">
            <a:extLst>
              <a:ext uri="{FF2B5EF4-FFF2-40B4-BE49-F238E27FC236}">
                <a16:creationId xmlns:a16="http://schemas.microsoft.com/office/drawing/2014/main" id="{FFF41819-7492-7684-EE6E-68A5059E2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"/>
          <a:stretch/>
        </p:blipFill>
        <p:spPr bwMode="auto">
          <a:xfrm>
            <a:off x="-1" y="10"/>
            <a:ext cx="121886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BC46CD03-D076-40A3-9AA4-2B7BB28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FE08FF-EB3D-2FDC-E96B-DF6BF79E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cs-CZ" dirty="0"/>
              <a:t>Chov ovcí a koz</a:t>
            </a:r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88D28697-83F7-4C09-A9B2-6CAA58855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12292E-5330-0EBC-C8CD-E11C58470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7155"/>
            <a:ext cx="9601200" cy="5198724"/>
          </a:xfrm>
        </p:spPr>
        <p:txBody>
          <a:bodyPr>
            <a:normAutofit/>
          </a:bodyPr>
          <a:lstStyle/>
          <a:p>
            <a:r>
              <a:rPr lang="cs-CZ" sz="1800" dirty="0"/>
              <a:t>Produkce mléka a masa</a:t>
            </a:r>
          </a:p>
          <a:p>
            <a:r>
              <a:rPr lang="cs-CZ" sz="1800" dirty="0" err="1"/>
              <a:t>Monoestrické</a:t>
            </a:r>
            <a:r>
              <a:rPr lang="cs-CZ" sz="1800" dirty="0"/>
              <a:t> zvíře – jedna říje ročně, na podzim</a:t>
            </a:r>
          </a:p>
          <a:p>
            <a:r>
              <a:rPr lang="cs-CZ" sz="1800" b="1" dirty="0"/>
              <a:t>Délka březosti </a:t>
            </a:r>
            <a:r>
              <a:rPr lang="cs-CZ" sz="1800" dirty="0"/>
              <a:t>150 dnů</a:t>
            </a:r>
          </a:p>
          <a:p>
            <a:r>
              <a:rPr lang="cs-CZ" sz="1800" b="1" dirty="0"/>
              <a:t>Rodí 2-4 kůzlata</a:t>
            </a:r>
          </a:p>
          <a:p>
            <a:endParaRPr lang="cs-CZ" sz="1800" dirty="0"/>
          </a:p>
          <a:p>
            <a:r>
              <a:rPr lang="cs-CZ" sz="1800" b="1" dirty="0"/>
              <a:t>Mléčná užitkovost </a:t>
            </a:r>
            <a:r>
              <a:rPr lang="cs-CZ" sz="1800" dirty="0"/>
              <a:t>– 1,5-4,5 kg mléka/den</a:t>
            </a:r>
          </a:p>
          <a:p>
            <a:r>
              <a:rPr lang="cs-CZ" sz="1800" b="1" dirty="0"/>
              <a:t>Délka laktace 280-300 dnů</a:t>
            </a:r>
          </a:p>
          <a:p>
            <a:r>
              <a:rPr lang="cs-CZ" sz="1800" b="1" dirty="0"/>
              <a:t>Délka výkrmu kůzlat </a:t>
            </a:r>
            <a:r>
              <a:rPr lang="cs-CZ" sz="1800" dirty="0"/>
              <a:t>60 dnů do hmotnosti 16-17 kg</a:t>
            </a:r>
          </a:p>
          <a:p>
            <a:r>
              <a:rPr lang="cs-CZ" sz="1800" b="1" dirty="0"/>
              <a:t>Jatečná výtěžnost </a:t>
            </a:r>
            <a:r>
              <a:rPr lang="cs-CZ" sz="1800" dirty="0"/>
              <a:t>45-50 %</a:t>
            </a:r>
          </a:p>
          <a:p>
            <a:r>
              <a:rPr lang="cs-CZ" sz="1800" b="1" dirty="0"/>
              <a:t>Mléčná plemena</a:t>
            </a:r>
            <a:r>
              <a:rPr lang="cs-CZ" sz="1800" dirty="0"/>
              <a:t>: </a:t>
            </a:r>
            <a:r>
              <a:rPr lang="cs-CZ" sz="1800" dirty="0" err="1"/>
              <a:t>Anglonúbijská</a:t>
            </a:r>
            <a:r>
              <a:rPr lang="cs-CZ" sz="1800" dirty="0"/>
              <a:t> koza, bílá a hnědá krátkosrstá</a:t>
            </a:r>
          </a:p>
          <a:p>
            <a:r>
              <a:rPr lang="cs-CZ" sz="1800" b="1" dirty="0"/>
              <a:t>Masná plemena: </a:t>
            </a:r>
            <a:r>
              <a:rPr lang="cs-CZ" sz="1800" dirty="0"/>
              <a:t>Búrská koza</a:t>
            </a:r>
          </a:p>
          <a:p>
            <a:r>
              <a:rPr lang="cs-CZ" sz="1800" b="1" dirty="0"/>
              <a:t>Kombinovaná plemena</a:t>
            </a:r>
            <a:r>
              <a:rPr lang="cs-CZ" sz="1800" dirty="0"/>
              <a:t>: </a:t>
            </a:r>
            <a:r>
              <a:rPr lang="cs-CZ" sz="1800" dirty="0" err="1"/>
              <a:t>Waliská</a:t>
            </a:r>
            <a:r>
              <a:rPr lang="cs-CZ" sz="1800" dirty="0"/>
              <a:t> koza</a:t>
            </a:r>
          </a:p>
        </p:txBody>
      </p:sp>
    </p:spTree>
    <p:extLst>
      <p:ext uri="{BB962C8B-B14F-4D97-AF65-F5344CB8AC3E}">
        <p14:creationId xmlns:p14="http://schemas.microsoft.com/office/powerpoint/2010/main" val="139642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říznutí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TM10001105[[fn=Oříznutí]]</Template>
  <TotalTime>268</TotalTime>
  <Words>757</Words>
  <Application>Microsoft Office PowerPoint</Application>
  <PresentationFormat>Širokoúhlá obrazovka</PresentationFormat>
  <Paragraphs>105</Paragraphs>
  <Slides>12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Franklin Gothic Book</vt:lpstr>
      <vt:lpstr>Oříznutí</vt:lpstr>
      <vt:lpstr>opakování</vt:lpstr>
      <vt:lpstr>Chov skotu</vt:lpstr>
      <vt:lpstr>Mléčná užitkovost</vt:lpstr>
      <vt:lpstr>Reprodukční vlastnosti dojených plemen skotu</vt:lpstr>
      <vt:lpstr>Masná užitkovost</vt:lpstr>
      <vt:lpstr>Chov prasat</vt:lpstr>
      <vt:lpstr>Chov koní</vt:lpstr>
      <vt:lpstr>Chov koní – reprodukční vlastnosti</vt:lpstr>
      <vt:lpstr>Chov drůbeže</vt:lpstr>
      <vt:lpstr>Chov slepic – produkce vajec a masa</vt:lpstr>
      <vt:lpstr>Chov ovcí a koz</vt:lpstr>
      <vt:lpstr>Chov ovcí a koz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opakování</dc:title>
  <dc:creator>Bulušková Kamila</dc:creator>
  <cp:lastModifiedBy>Bulušková Kamila</cp:lastModifiedBy>
  <cp:revision>1</cp:revision>
  <dcterms:created xsi:type="dcterms:W3CDTF">2023-03-24T05:34:34Z</dcterms:created>
  <dcterms:modified xsi:type="dcterms:W3CDTF">2023-03-24T10:03:15Z</dcterms:modified>
</cp:coreProperties>
</file>