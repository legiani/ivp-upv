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48" r:id="rId2"/>
  </p:sldMasterIdLst>
  <p:notesMasterIdLst>
    <p:notesMasterId r:id="rId21"/>
  </p:notesMasterIdLst>
  <p:sldIdLst>
    <p:sldId id="256" r:id="rId3"/>
    <p:sldId id="257" r:id="rId4"/>
    <p:sldId id="268" r:id="rId5"/>
    <p:sldId id="258" r:id="rId6"/>
    <p:sldId id="269" r:id="rId7"/>
    <p:sldId id="262" r:id="rId8"/>
    <p:sldId id="259" r:id="rId9"/>
    <p:sldId id="271" r:id="rId10"/>
    <p:sldId id="272" r:id="rId11"/>
    <p:sldId id="274" r:id="rId12"/>
    <p:sldId id="275" r:id="rId13"/>
    <p:sldId id="276" r:id="rId14"/>
    <p:sldId id="277" r:id="rId15"/>
    <p:sldId id="278" r:id="rId16"/>
    <p:sldId id="279" r:id="rId17"/>
    <p:sldId id="280" r:id="rId18"/>
    <p:sldId id="281" r:id="rId19"/>
    <p:sldId id="282" r:id="rId20"/>
  </p:sldIdLst>
  <p:sldSz cx="12192000" cy="6858000"/>
  <p:notesSz cx="6805613" cy="9939338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Výchozí oddíl" id="{692829CC-9865-4C21-9F75-8CA947B4BCFD}">
          <p14:sldIdLst>
            <p14:sldId id="256"/>
            <p14:sldId id="257"/>
            <p14:sldId id="268"/>
            <p14:sldId id="258"/>
            <p14:sldId id="269"/>
          </p14:sldIdLst>
        </p14:section>
        <p14:section name="parazitózy" id="{34071B91-3545-4B6A-8FF2-522982F2473B}">
          <p14:sldIdLst>
            <p14:sldId id="262"/>
            <p14:sldId id="259"/>
            <p14:sldId id="271"/>
            <p14:sldId id="272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C1D216-54AD-407E-A644-E0B16E81B2E1}" v="1" dt="2023-03-10T11:29:54.4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10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1" d="100"/>
          <a:sy n="51" d="100"/>
        </p:scale>
        <p:origin x="2692" y="2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microsoft.com/office/2016/11/relationships/changesInfo" Target="changesInfos/changesInfo1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ulušková Kamila" userId="b14598a1-bbdf-4794-a95a-12c2c16168d9" providerId="ADAL" clId="{E4C1D216-54AD-407E-A644-E0B16E81B2E1}"/>
    <pc:docChg chg="custSel modSld modNotesMaster">
      <pc:chgData name="Bulušková Kamila" userId="b14598a1-bbdf-4794-a95a-12c2c16168d9" providerId="ADAL" clId="{E4C1D216-54AD-407E-A644-E0B16E81B2E1}" dt="2023-03-12T17:29:38.536" v="123" actId="20577"/>
      <pc:docMkLst>
        <pc:docMk/>
      </pc:docMkLst>
      <pc:sldChg chg="modSp mod">
        <pc:chgData name="Bulušková Kamila" userId="b14598a1-bbdf-4794-a95a-12c2c16168d9" providerId="ADAL" clId="{E4C1D216-54AD-407E-A644-E0B16E81B2E1}" dt="2023-03-10T11:31:49.309" v="52" actId="20577"/>
        <pc:sldMkLst>
          <pc:docMk/>
          <pc:sldMk cId="455396481" sldId="256"/>
        </pc:sldMkLst>
        <pc:spChg chg="mod">
          <ac:chgData name="Bulušková Kamila" userId="b14598a1-bbdf-4794-a95a-12c2c16168d9" providerId="ADAL" clId="{E4C1D216-54AD-407E-A644-E0B16E81B2E1}" dt="2023-03-10T11:31:49.309" v="52" actId="20577"/>
          <ac:spMkLst>
            <pc:docMk/>
            <pc:sldMk cId="455396481" sldId="256"/>
            <ac:spMk id="3" creationId="{01B1F3E3-6549-904A-E635-B8B80A0D8765}"/>
          </ac:spMkLst>
        </pc:spChg>
      </pc:sldChg>
      <pc:sldChg chg="modNotesTx">
        <pc:chgData name="Bulušková Kamila" userId="b14598a1-bbdf-4794-a95a-12c2c16168d9" providerId="ADAL" clId="{E4C1D216-54AD-407E-A644-E0B16E81B2E1}" dt="2023-03-10T11:29:01.115" v="34"/>
        <pc:sldMkLst>
          <pc:docMk/>
          <pc:sldMk cId="3484229222" sldId="257"/>
        </pc:sldMkLst>
      </pc:sldChg>
      <pc:sldChg chg="modNotesTx">
        <pc:chgData name="Bulušková Kamila" userId="b14598a1-bbdf-4794-a95a-12c2c16168d9" providerId="ADAL" clId="{E4C1D216-54AD-407E-A644-E0B16E81B2E1}" dt="2023-03-10T11:25:08.114" v="2"/>
        <pc:sldMkLst>
          <pc:docMk/>
          <pc:sldMk cId="3446724053" sldId="258"/>
        </pc:sldMkLst>
      </pc:sldChg>
      <pc:sldChg chg="modNotesTx">
        <pc:chgData name="Bulušková Kamila" userId="b14598a1-bbdf-4794-a95a-12c2c16168d9" providerId="ADAL" clId="{E4C1D216-54AD-407E-A644-E0B16E81B2E1}" dt="2023-03-10T11:26:03.557" v="10"/>
        <pc:sldMkLst>
          <pc:docMk/>
          <pc:sldMk cId="552973588" sldId="259"/>
        </pc:sldMkLst>
      </pc:sldChg>
      <pc:sldChg chg="modNotesTx">
        <pc:chgData name="Bulušková Kamila" userId="b14598a1-bbdf-4794-a95a-12c2c16168d9" providerId="ADAL" clId="{E4C1D216-54AD-407E-A644-E0B16E81B2E1}" dt="2023-03-10T11:25:34.597" v="6"/>
        <pc:sldMkLst>
          <pc:docMk/>
          <pc:sldMk cId="3220685204" sldId="262"/>
        </pc:sldMkLst>
      </pc:sldChg>
      <pc:sldChg chg="modSp mod modNotesTx">
        <pc:chgData name="Bulušková Kamila" userId="b14598a1-bbdf-4794-a95a-12c2c16168d9" providerId="ADAL" clId="{E4C1D216-54AD-407E-A644-E0B16E81B2E1}" dt="2023-03-12T17:06:59.865" v="54" actId="20577"/>
        <pc:sldMkLst>
          <pc:docMk/>
          <pc:sldMk cId="3003985592" sldId="269"/>
        </pc:sldMkLst>
        <pc:spChg chg="mod">
          <ac:chgData name="Bulušková Kamila" userId="b14598a1-bbdf-4794-a95a-12c2c16168d9" providerId="ADAL" clId="{E4C1D216-54AD-407E-A644-E0B16E81B2E1}" dt="2023-03-12T17:06:59.865" v="54" actId="20577"/>
          <ac:spMkLst>
            <pc:docMk/>
            <pc:sldMk cId="3003985592" sldId="269"/>
            <ac:spMk id="3" creationId="{67AD0CF9-D511-2C7E-AC04-535812991C89}"/>
          </ac:spMkLst>
        </pc:spChg>
      </pc:sldChg>
      <pc:sldChg chg="modNotesTx">
        <pc:chgData name="Bulušková Kamila" userId="b14598a1-bbdf-4794-a95a-12c2c16168d9" providerId="ADAL" clId="{E4C1D216-54AD-407E-A644-E0B16E81B2E1}" dt="2023-03-10T11:26:12.443" v="11"/>
        <pc:sldMkLst>
          <pc:docMk/>
          <pc:sldMk cId="3341803442" sldId="271"/>
        </pc:sldMkLst>
      </pc:sldChg>
      <pc:sldChg chg="modNotesTx">
        <pc:chgData name="Bulušková Kamila" userId="b14598a1-bbdf-4794-a95a-12c2c16168d9" providerId="ADAL" clId="{E4C1D216-54AD-407E-A644-E0B16E81B2E1}" dt="2023-03-10T11:26:47.665" v="17"/>
        <pc:sldMkLst>
          <pc:docMk/>
          <pc:sldMk cId="1250598028" sldId="272"/>
        </pc:sldMkLst>
      </pc:sldChg>
      <pc:sldChg chg="modNotesTx">
        <pc:chgData name="Bulušková Kamila" userId="b14598a1-bbdf-4794-a95a-12c2c16168d9" providerId="ADAL" clId="{E4C1D216-54AD-407E-A644-E0B16E81B2E1}" dt="2023-03-10T11:26:59.496" v="20" actId="20577"/>
        <pc:sldMkLst>
          <pc:docMk/>
          <pc:sldMk cId="718901200" sldId="274"/>
        </pc:sldMkLst>
      </pc:sldChg>
      <pc:sldChg chg="modSp mod modNotesTx">
        <pc:chgData name="Bulušková Kamila" userId="b14598a1-bbdf-4794-a95a-12c2c16168d9" providerId="ADAL" clId="{E4C1D216-54AD-407E-A644-E0B16E81B2E1}" dt="2023-03-12T17:26:10.202" v="74" actId="20577"/>
        <pc:sldMkLst>
          <pc:docMk/>
          <pc:sldMk cId="38852119" sldId="275"/>
        </pc:sldMkLst>
        <pc:spChg chg="mod">
          <ac:chgData name="Bulušková Kamila" userId="b14598a1-bbdf-4794-a95a-12c2c16168d9" providerId="ADAL" clId="{E4C1D216-54AD-407E-A644-E0B16E81B2E1}" dt="2023-03-12T17:26:10.202" v="74" actId="20577"/>
          <ac:spMkLst>
            <pc:docMk/>
            <pc:sldMk cId="38852119" sldId="275"/>
            <ac:spMk id="3" creationId="{45B39C70-F457-4959-AA96-55DBC7D18960}"/>
          </ac:spMkLst>
        </pc:spChg>
      </pc:sldChg>
      <pc:sldChg chg="addSp delSp modSp mod modNotesTx">
        <pc:chgData name="Bulušková Kamila" userId="b14598a1-bbdf-4794-a95a-12c2c16168d9" providerId="ADAL" clId="{E4C1D216-54AD-407E-A644-E0B16E81B2E1}" dt="2023-03-12T17:29:38.536" v="123" actId="20577"/>
        <pc:sldMkLst>
          <pc:docMk/>
          <pc:sldMk cId="3280259724" sldId="276"/>
        </pc:sldMkLst>
        <pc:spChg chg="mod">
          <ac:chgData name="Bulušková Kamila" userId="b14598a1-bbdf-4794-a95a-12c2c16168d9" providerId="ADAL" clId="{E4C1D216-54AD-407E-A644-E0B16E81B2E1}" dt="2023-03-12T17:29:38.536" v="123" actId="20577"/>
          <ac:spMkLst>
            <pc:docMk/>
            <pc:sldMk cId="3280259724" sldId="276"/>
            <ac:spMk id="26" creationId="{F63CD3FB-21E6-A1DF-1550-74D3F799E70E}"/>
          </ac:spMkLst>
        </pc:spChg>
        <pc:picChg chg="add del">
          <ac:chgData name="Bulušková Kamila" userId="b14598a1-bbdf-4794-a95a-12c2c16168d9" providerId="ADAL" clId="{E4C1D216-54AD-407E-A644-E0B16E81B2E1}" dt="2023-03-12T17:29:00.331" v="77" actId="478"/>
          <ac:picMkLst>
            <pc:docMk/>
            <pc:sldMk cId="3280259724" sldId="276"/>
            <ac:picMk id="5" creationId="{38DF973B-98BE-8311-4E2B-976A9C93BB1C}"/>
          </ac:picMkLst>
        </pc:picChg>
      </pc:sldChg>
      <pc:sldChg chg="modNotesTx">
        <pc:chgData name="Bulušková Kamila" userId="b14598a1-bbdf-4794-a95a-12c2c16168d9" providerId="ADAL" clId="{E4C1D216-54AD-407E-A644-E0B16E81B2E1}" dt="2023-03-10T11:28:03.982" v="28"/>
        <pc:sldMkLst>
          <pc:docMk/>
          <pc:sldMk cId="1942979790" sldId="277"/>
        </pc:sldMkLst>
      </pc:sldChg>
      <pc:sldChg chg="modNotesTx">
        <pc:chgData name="Bulušková Kamila" userId="b14598a1-bbdf-4794-a95a-12c2c16168d9" providerId="ADAL" clId="{E4C1D216-54AD-407E-A644-E0B16E81B2E1}" dt="2023-03-10T11:27:44.833" v="26"/>
        <pc:sldMkLst>
          <pc:docMk/>
          <pc:sldMk cId="1656522283" sldId="278"/>
        </pc:sldMkLst>
      </pc:sldChg>
      <pc:sldChg chg="modNotesTx">
        <pc:chgData name="Bulušková Kamila" userId="b14598a1-bbdf-4794-a95a-12c2c16168d9" providerId="ADAL" clId="{E4C1D216-54AD-407E-A644-E0B16E81B2E1}" dt="2023-03-10T11:28:12.633" v="29"/>
        <pc:sldMkLst>
          <pc:docMk/>
          <pc:sldMk cId="3985734829" sldId="279"/>
        </pc:sldMkLst>
      </pc:sldChg>
      <pc:sldChg chg="modNotesTx">
        <pc:chgData name="Bulušková Kamila" userId="b14598a1-bbdf-4794-a95a-12c2c16168d9" providerId="ADAL" clId="{E4C1D216-54AD-407E-A644-E0B16E81B2E1}" dt="2023-03-10T11:28:25.936" v="31"/>
        <pc:sldMkLst>
          <pc:docMk/>
          <pc:sldMk cId="2937740122" sldId="280"/>
        </pc:sldMkLst>
      </pc:sldChg>
      <pc:sldChg chg="modNotesTx">
        <pc:chgData name="Bulušková Kamila" userId="b14598a1-bbdf-4794-a95a-12c2c16168d9" providerId="ADAL" clId="{E4C1D216-54AD-407E-A644-E0B16E81B2E1}" dt="2023-03-10T11:28:34.746" v="32"/>
        <pc:sldMkLst>
          <pc:docMk/>
          <pc:sldMk cId="665232393" sldId="281"/>
        </pc:sldMkLst>
      </pc:sldChg>
      <pc:sldChg chg="modNotesTx">
        <pc:chgData name="Bulušková Kamila" userId="b14598a1-bbdf-4794-a95a-12c2c16168d9" providerId="ADAL" clId="{E4C1D216-54AD-407E-A644-E0B16E81B2E1}" dt="2023-03-10T11:28:43.966" v="33"/>
        <pc:sldMkLst>
          <pc:docMk/>
          <pc:sldMk cId="235572107" sldId="28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54939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2713DA-527D-488E-B447-50EEB1ECD49D}" type="datetimeFigureOut">
              <a:rPr lang="cs-CZ" smtClean="0"/>
              <a:t>12.03.2023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1063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0562" y="4783307"/>
            <a:ext cx="5444490" cy="3913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54939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792E07-B5AC-4CD0-AA43-5490166854E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842055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92E07-B5AC-4CD0-AA43-5490166854E9}" type="slidenum">
              <a:rPr lang="cs-CZ" smtClean="0"/>
              <a:t>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825509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cs-CZ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Zdraví a nemoc: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cs-CZ" sz="1800" u="sng" strike="noStrike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zdraví</a:t>
            </a:r>
            <a:r>
              <a:rPr lang="cs-CZ" sz="1800" u="none" strike="noStrike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je stav úplné tělesné a duševní pohody zvířat</a:t>
            </a:r>
            <a:endParaRPr lang="cs-CZ" sz="1800" u="none" strike="noStrike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cs-CZ" sz="1800" u="none" strike="noStrike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každý živočišný organismus je složitá soustava, která má schopnost udržovat stálost vnitřního prostředí – tzv. </a:t>
            </a:r>
            <a:r>
              <a:rPr lang="cs-CZ" sz="1800" u="sng" strike="noStrike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homeostázi</a:t>
            </a:r>
            <a:endParaRPr lang="cs-CZ" sz="1800" u="none" strike="noStrike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cs-CZ" sz="1800" u="none" strike="noStrike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dojde-li k porušení stálosti vnitřního prostředí </a:t>
            </a:r>
            <a:r>
              <a:rPr lang="cs-CZ" sz="1800" u="sng" strike="noStrike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patogenním podnětem</a:t>
            </a:r>
            <a:r>
              <a:rPr lang="cs-CZ" sz="1800" u="none" strike="noStrike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závisí pak na síle onoho patogenu, odolnosti zvířete, obranyschopnosti… podle toho buď propukne anebo nepropukne </a:t>
            </a:r>
            <a:r>
              <a:rPr lang="cs-CZ" sz="1800" u="sng" strike="noStrike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nemoc</a:t>
            </a:r>
            <a:endParaRPr lang="cs-CZ" sz="1800" u="none" strike="noStrike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cs-CZ" sz="1800" u="sng" strike="noStrike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nemoc je porucha životní činnosti organismu, která vzniká na základě působení patogenních podnětů, porušuje homeostázi organismu a jejím důsledkem je snížení produktivnosti a ekonomické hodnoty zvířete</a:t>
            </a:r>
            <a:endParaRPr lang="cs-CZ" sz="1800" u="none" strike="noStrike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92E07-B5AC-4CD0-AA43-5490166854E9}" type="slidenum">
              <a:rPr lang="cs-CZ" smtClean="0"/>
              <a:t>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711561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92E07-B5AC-4CD0-AA43-5490166854E9}" type="slidenum">
              <a:rPr lang="cs-CZ" smtClean="0"/>
              <a:t>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667666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cs-CZ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Nenakažlivé (orgánové) nemoci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vyskytují se </a:t>
            </a:r>
            <a:r>
              <a:rPr lang="cs-CZ" sz="18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ojediněle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 Důvodem pro jejich vznik je nejčastěji nesprávné krmení zvířete (nedostatek/nadbytek složek), nedostatečná hygiena v chovu, nevhodné podmínky (např. nízká teplota), nadměrná námaha, genetická dispozice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449580" indent="1270">
              <a:lnSpc>
                <a:spcPct val="150000"/>
              </a:lnSpc>
              <a:spcAft>
                <a:spcPts val="1000"/>
              </a:spcAft>
            </a:pPr>
            <a:r>
              <a:rPr lang="cs-CZ" sz="18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Příklady nenakažlivých nemocí u prasat: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Avitaminózy (VESD syndrom – nedostatek vit. E a selenu), Anemie (nedostatek železa) u selat, Cirhóza jater, Křivice, Zánět žaludku a střev, </a:t>
            </a:r>
            <a:r>
              <a:rPr lang="cs-CZ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Parakeratóza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92E07-B5AC-4CD0-AA43-5490166854E9}" type="slidenum">
              <a:rPr lang="cs-CZ" smtClean="0"/>
              <a:t>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367210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cs-CZ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Nakažlivé (infekční) nemoci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– postihují zpravidla </a:t>
            </a:r>
            <a:r>
              <a:rPr lang="cs-CZ" sz="18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více zvířat najednou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 Obecnými příznaky bývá zvýšená tělesná teplota, svalový třes, malátnost zvířat a nechutenství. Infekční nemoci jsou většinou značně nakažlivé, přenáší se buď samotnými nakaženými zvířaty nebo předměty, které s nimi přišly do styku.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	</a:t>
            </a:r>
            <a:r>
              <a:rPr lang="cs-CZ" sz="18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Příklady infekčních nemocí u prasat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: Červenka, </a:t>
            </a:r>
            <a:r>
              <a:rPr lang="cs-CZ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Aujezskyho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choroba, Mor prasat, </a:t>
            </a:r>
            <a:r>
              <a:rPr lang="cs-CZ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Sípavka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Gastroenteritis, Prasečí chřipka, Enzootická pneumonie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92E07-B5AC-4CD0-AA43-5490166854E9}" type="slidenum">
              <a:rPr lang="cs-CZ" smtClean="0"/>
              <a:t>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889271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Mezi infekční nemoci patří také</a:t>
            </a:r>
            <a:r>
              <a:rPr lang="cs-CZ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Parazitózy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tedy nemoci, způsobené parazity.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Dělí se na </a:t>
            </a:r>
            <a:r>
              <a:rPr lang="cs-CZ" sz="1800" u="sng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ektoparazitózy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– způsobené vnějšími parazity (svrab, zavšivení) a </a:t>
            </a:r>
            <a:r>
              <a:rPr lang="cs-CZ" sz="1800" u="sng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endoparazitózy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způsobené vnitřními parazity (kokcidióza, škrkavčitost, svalovčitost – trichinelóza).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92E07-B5AC-4CD0-AA43-5490166854E9}" type="slidenum">
              <a:rPr lang="cs-CZ" smtClean="0"/>
              <a:t>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854197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s-CZ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Svrab („prašivina“): </a:t>
            </a:r>
            <a:r>
              <a:rPr lang="cs-CZ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ektoparazitóza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způsobená roztočem „zákožka svrabová“. Parazituje zejména na svrchních vrstvách kůže, kde si buduje chodbičky a způsobuje tak silné svědění. Živí se uvolněnou rohovinou a tkáňovým mokem.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s-CZ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Příznaky: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pupeny na postižené kůži, tření, drbání se, vypadávání srsti, tvoření strupů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92E07-B5AC-4CD0-AA43-5490166854E9}" type="slidenum">
              <a:rPr lang="cs-CZ" smtClean="0"/>
              <a:t>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624501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49580">
              <a:lnSpc>
                <a:spcPct val="150000"/>
              </a:lnSpc>
              <a:spcAft>
                <a:spcPts val="600"/>
              </a:spcAft>
            </a:pPr>
            <a:r>
              <a:rPr lang="cs-CZ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Léčba: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postřik postižených míst </a:t>
            </a:r>
            <a:r>
              <a:rPr lang="cs-CZ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Arpalit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sprej, popř. injekčně </a:t>
            </a:r>
            <a:r>
              <a:rPr lang="cs-CZ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Ivomec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 Nutno očistit veškerá zařízení, přicházející do styku se zvířetem.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228600" indent="220980">
              <a:lnSpc>
                <a:spcPct val="150000"/>
              </a:lnSpc>
              <a:spcAft>
                <a:spcPts val="600"/>
              </a:spcAft>
            </a:pPr>
            <a:r>
              <a:rPr lang="cs-CZ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Prevence: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důsledná zoohygiena, veterinární vyšetření před každým přesunem zvířete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92E07-B5AC-4CD0-AA43-5490166854E9}" type="slidenum">
              <a:rPr lang="cs-CZ" smtClean="0"/>
              <a:t>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937075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s-CZ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Zavšivení: </a:t>
            </a:r>
            <a:r>
              <a:rPr lang="cs-CZ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ektoparazitóza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způsobená vší prasečí. Parazituje na povrchu kůže, sají krev, hloubí důlky, do kterých vypouštějí sliny, vyvolávající svědění. Samičky lepí vajíčka (hnidy) na štětiny. Nejčastější výskyt je na krku, okolo uší, v ušních boltcích a na vnitřní straně stehen. Viditelné okem.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cs-CZ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s-CZ" sz="1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Příznaky:</a:t>
            </a:r>
            <a:r>
              <a:rPr lang="cs-CZ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Nález dospělců nebo larev na štětinách, tření, drbání, neklid</a:t>
            </a:r>
            <a:endParaRPr lang="cs-CZ" sz="12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92E07-B5AC-4CD0-AA43-5490166854E9}" type="slidenum">
              <a:rPr lang="cs-CZ" smtClean="0"/>
              <a:t>9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690784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>
              <a:lnSpc>
                <a:spcPct val="150000"/>
              </a:lnSpc>
              <a:spcAft>
                <a:spcPts val="600"/>
              </a:spcAft>
            </a:pPr>
            <a:r>
              <a:rPr lang="cs-CZ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Léčba: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cs-CZ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Difusil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nebo </a:t>
            </a:r>
            <a:r>
              <a:rPr lang="cs-CZ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Arpalit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postřik, injekčně </a:t>
            </a:r>
            <a:r>
              <a:rPr lang="cs-CZ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Ivomec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koupel </a:t>
            </a:r>
            <a:r>
              <a:rPr lang="cs-CZ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Fenoform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forte</a:t>
            </a:r>
          </a:p>
          <a:p>
            <a:pPr marL="22860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cs-CZ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Prevence: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kontrola a preventivní ošetření nakoupených zvířat, dobré zoohygienické podmínky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228600">
              <a:lnSpc>
                <a:spcPct val="150000"/>
              </a:lnSpc>
              <a:spcAft>
                <a:spcPts val="600"/>
              </a:spcAft>
            </a:pP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92E07-B5AC-4CD0-AA43-5490166854E9}" type="slidenum">
              <a:rPr lang="cs-CZ" smtClean="0"/>
              <a:t>10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779766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49580">
              <a:lnSpc>
                <a:spcPct val="150000"/>
              </a:lnSpc>
              <a:spcAft>
                <a:spcPts val="600"/>
              </a:spcAft>
            </a:pPr>
            <a:r>
              <a:rPr lang="cs-CZ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Kokcidióza: </a:t>
            </a:r>
            <a:r>
              <a:rPr lang="cs-CZ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endoparazitóza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původcem je kokcidie prasečí, zdrojem onemocnění jsou nemocná prasata a jejich výkaly, k nákaze může dojít i skrz vodu a krmivo. Způsobuje infekci a ničení střevní sliznice.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449580">
              <a:lnSpc>
                <a:spcPct val="150000"/>
              </a:lnSpc>
              <a:spcAft>
                <a:spcPts val="600"/>
              </a:spcAft>
            </a:pP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Postihuje zejména prasata ve věku 2 – 8 měsíců. Při silné invazi je evidována mortalita až 50 %.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449580">
              <a:lnSpc>
                <a:spcPct val="150000"/>
              </a:lnSpc>
              <a:spcAft>
                <a:spcPts val="600"/>
              </a:spcAft>
            </a:pPr>
            <a:r>
              <a:rPr lang="cs-CZ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Příznaky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: nechutenství, rychlý úbytek hmotnosti, krvavý průjem, opoždění ve vývoji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92E07-B5AC-4CD0-AA43-5490166854E9}" type="slidenum">
              <a:rPr lang="cs-CZ" smtClean="0"/>
              <a:t>11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989999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49580">
              <a:lnSpc>
                <a:spcPct val="150000"/>
              </a:lnSpc>
              <a:spcAft>
                <a:spcPts val="600"/>
              </a:spcAft>
            </a:pPr>
            <a:r>
              <a:rPr lang="cs-CZ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Léčba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: sulfonamidy – 0,1 – 0,2 kg/kg ž. hm po dobu 7 dní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449580">
              <a:lnSpc>
                <a:spcPct val="150000"/>
              </a:lnSpc>
              <a:spcAft>
                <a:spcPts val="600"/>
              </a:spcAft>
            </a:pPr>
            <a:r>
              <a:rPr lang="cs-CZ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Prevence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: Snížit výskyt kokcidiózy v chovech lze důkladnou asanací. Oocysty jsou odolné běžným asanačním postupům i dezinfekčním prostředkům a účinné jsou pouze </a:t>
            </a:r>
            <a:r>
              <a:rPr lang="cs-CZ" sz="18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prostředky na bázi čpavku a účinně působí i horká pára (&gt; 70° C)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92E07-B5AC-4CD0-AA43-5490166854E9}" type="slidenum">
              <a:rPr lang="cs-CZ" smtClean="0"/>
              <a:t>12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807565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49580">
              <a:lnSpc>
                <a:spcPct val="150000"/>
              </a:lnSpc>
              <a:spcAft>
                <a:spcPts val="600"/>
              </a:spcAft>
            </a:pPr>
            <a:r>
              <a:rPr lang="cs-CZ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Škrkavčitost: </a:t>
            </a:r>
            <a:r>
              <a:rPr lang="cs-CZ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endoparazitóza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původcem je škrkavka prasečí, zdrojem onemocnění jsou nemocná prasata, kotce, výběhy a voda potřísněné </a:t>
            </a:r>
            <a:r>
              <a:rPr lang="cs-CZ" sz="18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výkaly nemocných prasat, ve kterých se nachází vajíčka škrkavek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 K přenosu vajíček ve výkalech dochází i z obuvi ošetřovatelů a hmyzem, sedajícím na výkaly. Selata se nakazí sáním mléka ze znečištěných struků. 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449580">
              <a:lnSpc>
                <a:spcPct val="150000"/>
              </a:lnSpc>
              <a:spcAft>
                <a:spcPts val="600"/>
              </a:spcAft>
            </a:pP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Škrkavka je oblý červ, dosahující délky 20-40 cm a šířky 5-6 mm.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s-CZ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Příznaky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: nejprve vlhký kašel, vzestup tělesné teploty až na 41 stupňů, nechutenství, ztráta čilosti. Později se objevují i nervové příznaky – prasata upadají na zem, křeče svalstva, kvičení, namáhavé dýchání. V pokročilém stádiu může dojít k zánětu pobřišnice a úhynu. Nález vajíček či dospělců ve střevním obsahu. 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92E07-B5AC-4CD0-AA43-5490166854E9}" type="slidenum">
              <a:rPr lang="cs-CZ" smtClean="0"/>
              <a:t>13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41687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 invazi dochází vajíčky, z nichž se uvolňují v tenkém střevě uvolňují larvy. Uvolněné larvy pronikají sliznicí střeva do krevních kapilár a krví jsou zanášeny do jater. Z jater larvy pronikají krví přes srdce do plic, odkud se vykašláním a polknutím dostávají zpátky do trávicího ústrojí, kde dospívají. 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92E07-B5AC-4CD0-AA43-5490166854E9}" type="slidenum">
              <a:rPr lang="cs-CZ" smtClean="0"/>
              <a:t>14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814623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49580">
              <a:lnSpc>
                <a:spcPct val="150000"/>
              </a:lnSpc>
              <a:spcAft>
                <a:spcPts val="600"/>
              </a:spcAft>
            </a:pPr>
            <a:r>
              <a:rPr lang="cs-CZ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Léčba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: skupinově všem jedincům do krmiva přidat </a:t>
            </a:r>
            <a:r>
              <a:rPr lang="cs-CZ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Helmirazin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cs-CZ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Helmisan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nebo </a:t>
            </a:r>
            <a:r>
              <a:rPr lang="cs-CZ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Mebenvet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449580">
              <a:lnSpc>
                <a:spcPct val="150000"/>
              </a:lnSpc>
              <a:spcAft>
                <a:spcPts val="600"/>
              </a:spcAft>
            </a:pPr>
            <a:r>
              <a:rPr lang="cs-CZ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Prevence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: Pravidelné odčervení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92E07-B5AC-4CD0-AA43-5490166854E9}" type="slidenum">
              <a:rPr lang="cs-CZ" smtClean="0"/>
              <a:t>15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880694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49580">
              <a:lnSpc>
                <a:spcPct val="150000"/>
              </a:lnSpc>
              <a:spcAft>
                <a:spcPts val="600"/>
              </a:spcAft>
            </a:pPr>
            <a:r>
              <a:rPr lang="cs-CZ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Svalovčitost (trichinelóza): </a:t>
            </a:r>
            <a:r>
              <a:rPr lang="cs-CZ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endoparazitóza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PŘENOSNÁ NA ČLOVĚKA. Původcem je oblý červ „svalovec stočený“, larvy svalovce žijí ve svalstvu, odkud se přenáší do dalšího hostitele při pozření masa (týká se zejména divokých prasat).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449580">
              <a:lnSpc>
                <a:spcPct val="150000"/>
              </a:lnSpc>
              <a:spcAft>
                <a:spcPts val="600"/>
              </a:spcAft>
            </a:pPr>
            <a:r>
              <a:rPr lang="cs-CZ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Příznaky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: při mírné invazi zcela bez příznaků, při silnějším napadení nechutenství, zvracení, malátnost, kolikové bolesti, průjmy, ztráta hmotnosti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92E07-B5AC-4CD0-AA43-5490166854E9}" type="slidenum">
              <a:rPr lang="cs-CZ" smtClean="0"/>
              <a:t>16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3109131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49580">
              <a:lnSpc>
                <a:spcPct val="150000"/>
              </a:lnSpc>
              <a:spcAft>
                <a:spcPts val="600"/>
              </a:spcAft>
            </a:pPr>
            <a:r>
              <a:rPr lang="cs-CZ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Léčba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: neléčí se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449580">
              <a:lnSpc>
                <a:spcPct val="150000"/>
              </a:lnSpc>
              <a:spcAft>
                <a:spcPts val="600"/>
              </a:spcAft>
            </a:pPr>
            <a:r>
              <a:rPr lang="cs-CZ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Prevence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: Jako prevence se provádí pravidelná </a:t>
            </a:r>
            <a:r>
              <a:rPr lang="cs-CZ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trichineloskopie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masa jatečných prasat, a deratizace stájových objektů pro chov prasat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92E07-B5AC-4CD0-AA43-5490166854E9}" type="slidenum">
              <a:rPr lang="cs-CZ" smtClean="0"/>
              <a:t>17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3441207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49580">
              <a:lnSpc>
                <a:spcPct val="150000"/>
              </a:lnSpc>
              <a:spcAft>
                <a:spcPts val="600"/>
              </a:spcAft>
            </a:pPr>
            <a:r>
              <a:rPr lang="cs-CZ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Opakování: 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449580">
              <a:lnSpc>
                <a:spcPct val="150000"/>
              </a:lnSpc>
              <a:spcAft>
                <a:spcPts val="600"/>
              </a:spcAft>
            </a:pP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Co je to zdraví? (stav úplné tělesné a duševní pohody zvířat)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449580">
              <a:lnSpc>
                <a:spcPct val="150000"/>
              </a:lnSpc>
              <a:spcAft>
                <a:spcPts val="600"/>
              </a:spcAft>
            </a:pP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Co je to homeostáze? (schopnost udržet si stabilní stav)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449580">
              <a:lnSpc>
                <a:spcPct val="150000"/>
              </a:lnSpc>
              <a:spcAft>
                <a:spcPts val="600"/>
              </a:spcAft>
            </a:pP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Jaký je rozdíl mezi nakažlivými a nenakažlivými nemocemi? (nenakažlivé se vyskytují ojediněle, nakažlivé postihují celé skupiny)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449580">
              <a:lnSpc>
                <a:spcPct val="150000"/>
              </a:lnSpc>
              <a:spcAft>
                <a:spcPts val="600"/>
              </a:spcAft>
            </a:pP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Jaký je rozdíl mezi </a:t>
            </a:r>
            <a:r>
              <a:rPr lang="cs-CZ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ektoparazitózami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(vnitřní) a </a:t>
            </a:r>
            <a:r>
              <a:rPr lang="cs-CZ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endoparazitózami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(vnější)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449580">
              <a:lnSpc>
                <a:spcPct val="150000"/>
              </a:lnSpc>
              <a:spcAft>
                <a:spcPts val="600"/>
              </a:spcAft>
            </a:pP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Vyjmenujte, jaké parazitózy znáte? (svrab, zavšivení, kokcidióza, škrkavčitost, svalovčitost)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92E07-B5AC-4CD0-AA43-5490166854E9}" type="slidenum">
              <a:rPr lang="cs-CZ" smtClean="0"/>
              <a:t>18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165488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AE8791E-A1E7-7FA5-6968-A147D21DE8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F9CDAD69-0FA6-D696-72A4-D26DEF2548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B3C93B2E-1939-192D-6273-F8374B5B5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46792-51B7-44B5-B9CB-F4B161886A78}" type="datetimeFigureOut">
              <a:rPr lang="cs-CZ" smtClean="0"/>
              <a:t>12.03.2023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96D5858F-72F5-9663-801E-030F55400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0CA74B1-FDAC-FAC6-C2EA-A4BB7AD22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69DF9-E67E-4AB7-9589-10B06A7DAB4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28259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BC8CBDE-BA2F-A6A8-98FB-AECB1B47E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800A7E9-8E03-FBFE-1AE5-66A758BAD2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834156F-EAD0-AAD2-89B0-9CB9886CB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46792-51B7-44B5-B9CB-F4B161886A78}" type="datetimeFigureOut">
              <a:rPr lang="cs-CZ" smtClean="0"/>
              <a:t>12.03.2023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3BEEB40B-1604-8C16-E844-0E0009856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08244FF4-A337-C2AB-68E4-7F1C6115A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69DF9-E67E-4AB7-9589-10B06A7DAB4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407068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9FC6AC8-E767-4257-78B5-7D56F8AE4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D3FF76DA-AF96-85F7-2E4B-6A65BC2D9E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637DA60A-61A3-4976-1A79-67470456F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46792-51B7-44B5-B9CB-F4B161886A78}" type="datetimeFigureOut">
              <a:rPr lang="cs-CZ" smtClean="0"/>
              <a:t>12.03.2023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C007E42-F6E8-AE99-27C0-3B6D5CD02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31EF3123-E895-BD69-AD1B-CD24F5E8A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69DF9-E67E-4AB7-9589-10B06A7DAB4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99985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7902CD4-1B13-C168-EFEE-1297EBF3D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C9894FE-F922-6589-5C75-621A5D6F3B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9A574668-44AC-D582-B2C2-ED820A3320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11FBEC57-5A1E-C2AA-1BCB-FED4BF690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46792-51B7-44B5-B9CB-F4B161886A78}" type="datetimeFigureOut">
              <a:rPr lang="cs-CZ" smtClean="0"/>
              <a:t>12.03.2023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32028690-3E7F-A762-5C61-8EE758A3A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0418BD2C-7092-28C5-76DA-400609800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69DF9-E67E-4AB7-9589-10B06A7DAB4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222754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59D788E-F3C3-E8A6-33A0-8FC515705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26B167A6-5FC9-FB12-F1A0-AD2FEB1AB9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3DFF6F99-5C1A-0EA1-4D91-D3ED5801C3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928F45B4-EE12-F2A0-7EBC-510F496A95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35E92A41-2365-28EB-2FD8-B1F0E2DBB1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BA9BE481-5376-8851-907F-FE8C2D8CC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46792-51B7-44B5-B9CB-F4B161886A78}" type="datetimeFigureOut">
              <a:rPr lang="cs-CZ" smtClean="0"/>
              <a:t>12.03.2023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44DE0842-01E2-CE91-B6E3-069D63D6B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0D4903F1-0167-A6AE-EFE7-3691A7178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69DF9-E67E-4AB7-9589-10B06A7DAB4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11247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F20D0CB-698B-347D-7B87-70492DB10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B00E909E-6276-C4F4-2672-5CFEC6B26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46792-51B7-44B5-B9CB-F4B161886A78}" type="datetimeFigureOut">
              <a:rPr lang="cs-CZ" smtClean="0"/>
              <a:t>12.03.2023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803EAF1F-7BCC-74B9-8BE1-64F4E5A37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8511B2CE-8F10-EDC4-35D6-CF696B133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69DF9-E67E-4AB7-9589-10B06A7DAB4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64137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19B83643-1806-13DD-B35E-83855A54B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46792-51B7-44B5-B9CB-F4B161886A78}" type="datetimeFigureOut">
              <a:rPr lang="cs-CZ" smtClean="0"/>
              <a:t>12.03.2023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EB4AD36B-46C3-F99E-7EA4-2CE6C0D62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C1E22D34-D1CB-5173-57CF-CD888A636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69DF9-E67E-4AB7-9589-10B06A7DAB4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42728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3E3A571-71F3-CB0A-BA51-226637CEC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F3B6035-15A0-9BD0-B377-0BC8658B8B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E0C02613-EF61-8F8B-27B6-09F7DB8F7F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9107D7E3-AA3F-ADD7-ABDA-4378DAC72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46792-51B7-44B5-B9CB-F4B161886A78}" type="datetimeFigureOut">
              <a:rPr lang="cs-CZ" smtClean="0"/>
              <a:t>12.03.2023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88F0E968-1543-E8C0-15DA-13CE4D3F1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3CEFB1CE-0C5A-680F-B6A7-E17D647D7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69DF9-E67E-4AB7-9589-10B06A7DAB4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29347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F445C2D-CBCE-E62F-3EB4-847D90236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E43A2DA1-145A-4CDF-C8C5-CCC79487D9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33A23EB3-2B95-91FA-D482-57F17B550E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CE8A2A5B-8233-9A0B-CDA3-3BDAB497B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46792-51B7-44B5-B9CB-F4B161886A78}" type="datetimeFigureOut">
              <a:rPr lang="cs-CZ" smtClean="0"/>
              <a:t>12.03.2023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19F09422-F7C2-74BB-6AB3-5DBE85A75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F4F3D315-3AFC-BA46-2518-BC86D414C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69DF9-E67E-4AB7-9589-10B06A7DAB4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423214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A894824-F9E0-8550-9EBA-61A41F964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971787B1-1640-E772-BA90-D6BFA06B2D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39DD4AE1-D099-DC64-8A62-4D5A922CD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46792-51B7-44B5-B9CB-F4B161886A78}" type="datetimeFigureOut">
              <a:rPr lang="cs-CZ" smtClean="0"/>
              <a:t>12.03.2023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455469A4-B87C-660F-1832-AAE8EEEF7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365EA84-BF5A-B0C4-FF91-8BD42FD7E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69DF9-E67E-4AB7-9589-10B06A7DAB4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44049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3206C29F-3AFA-0CE7-DB91-4BBAA162A6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C84C1D3E-004F-CF0C-2A22-33E21B78B4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F5C4743-02D7-C7E5-C261-EB3381FCD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46792-51B7-44B5-B9CB-F4B161886A78}" type="datetimeFigureOut">
              <a:rPr lang="cs-CZ" smtClean="0"/>
              <a:t>12.03.2023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B67DD3B-9124-60A3-FF48-DBC7BFE6D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DD345C2-6FB9-AD5A-A942-67CC65F5D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69DF9-E67E-4AB7-9589-10B06A7DAB4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840155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A3D030F-2784-92DC-FC7B-9D8F3E355E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6444E1DB-0051-81F5-3B04-644957AED2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850B29CB-75FC-4E6D-68D7-2DCB77AE1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6AB97-FC78-4E8F-94FC-5758EAED6AE9}" type="datetimeFigureOut">
              <a:rPr lang="cs-CZ" smtClean="0"/>
              <a:t>12.03.2023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A7927448-4425-2FA1-6F1B-F78721299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62153F4-6328-B90D-6877-B3E20D100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438F3-0586-405D-9FBD-03D7EE52D8E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701955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7BEB51C-9896-3EAB-3C63-4160B6242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4BFA70F-26CA-CE73-21DA-B641778E99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34A8E8C0-4EFD-A5BB-6076-E98310E4D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6AB97-FC78-4E8F-94FC-5758EAED6AE9}" type="datetimeFigureOut">
              <a:rPr lang="cs-CZ" smtClean="0"/>
              <a:t>12.03.2023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A90558C0-64A2-A331-50D1-690F4DE67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0C2306AF-A82B-9D63-64C2-7329A035B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438F3-0586-405D-9FBD-03D7EE52D8E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733813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A51A791-6B07-8106-6249-A33DC2F9F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588C4ABB-CBF6-741F-C087-9A5AB11BA7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F7B57CF-E026-5490-0606-1CF42B4E6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6AB97-FC78-4E8F-94FC-5758EAED6AE9}" type="datetimeFigureOut">
              <a:rPr lang="cs-CZ" smtClean="0"/>
              <a:t>12.03.2023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FFA211C3-419F-4BB2-1F6E-B2032A44A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9901952-D131-7020-A3FF-653965094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438F3-0586-405D-9FBD-03D7EE52D8E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633911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B9545A9-954B-7200-82F3-EF791C7BF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542E531-4FA2-01E2-87E0-62CF9BFFD2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C56192D9-28CB-BD6D-75C4-4A200F537E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3B4AF9D9-692B-13B2-64A1-C3E2561A6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6AB97-FC78-4E8F-94FC-5758EAED6AE9}" type="datetimeFigureOut">
              <a:rPr lang="cs-CZ" smtClean="0"/>
              <a:t>12.03.2023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B629CAF9-6DBB-1051-DA6F-1578A24FB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48548E97-5B6A-262F-CD63-16D470B94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438F3-0586-405D-9FBD-03D7EE52D8E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779942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49D2E9B-832C-2F11-FD1B-748EF296B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3C62C541-0AF9-0A38-6D4F-5B46FBD15A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5374B5E1-30F8-9C50-A62E-340EB19786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BE56B908-EC5C-B3FF-6D63-C64392791C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7C8FF77A-B2CA-A365-EC34-7B9CF60B53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979631B5-98F1-3F54-C826-126934FD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6AB97-FC78-4E8F-94FC-5758EAED6AE9}" type="datetimeFigureOut">
              <a:rPr lang="cs-CZ" smtClean="0"/>
              <a:t>12.03.2023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CBD5C741-8155-AAD8-6295-CBFE531B3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30FF63C0-BBC6-7067-450B-8F0B314AE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438F3-0586-405D-9FBD-03D7EE52D8E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871555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0521A38-6E87-6F4E-9448-61FFF5DCD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88B1F64C-84D3-F47F-3F2F-041456892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6AB97-FC78-4E8F-94FC-5758EAED6AE9}" type="datetimeFigureOut">
              <a:rPr lang="cs-CZ" smtClean="0"/>
              <a:t>12.03.2023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CEF83967-3391-EA28-5E89-68BC6FEFD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7EA0DEF9-C894-BB10-797F-8DEC173B3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438F3-0586-405D-9FBD-03D7EE52D8E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9785852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26664C82-2F05-A71D-110A-5BEC6B235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6AB97-FC78-4E8F-94FC-5758EAED6AE9}" type="datetimeFigureOut">
              <a:rPr lang="cs-CZ" smtClean="0"/>
              <a:t>12.03.2023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C5933FC2-0E86-7788-DED5-C82B52A47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24456A03-A577-B311-2C86-88668A24B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438F3-0586-405D-9FBD-03D7EE52D8E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919420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958FD85-237F-41DF-3063-0CFE299A0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B556134-9876-57AD-C470-0DBA13481B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B8778D7A-A04B-085B-1232-8FC356A296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96F40700-ACA2-1ED0-D5C2-64ED56DF8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6AB97-FC78-4E8F-94FC-5758EAED6AE9}" type="datetimeFigureOut">
              <a:rPr lang="cs-CZ" smtClean="0"/>
              <a:t>12.03.2023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139DADA5-DB29-9833-FC77-DFD17BB58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5B037048-93A2-046E-3F76-22A678F56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438F3-0586-405D-9FBD-03D7EE52D8E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173101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4626E1D-9CF6-E45B-68DE-58D98B912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1D1B0A7B-BACB-4F53-544F-204394438B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248F47C4-2986-EF6D-DDE2-0B66B92F9C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442C9145-5E8B-3BA2-08F0-7A01EDB98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6AB97-FC78-4E8F-94FC-5758EAED6AE9}" type="datetimeFigureOut">
              <a:rPr lang="cs-CZ" smtClean="0"/>
              <a:t>12.03.2023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E69B19AD-E914-5AFA-6FFC-D16B2F4C2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9EEDF314-8A4C-0572-0803-6DAA32441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438F3-0586-405D-9FBD-03D7EE52D8E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559484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C5A7E71-D046-1453-7C39-BB545D384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881917CD-B773-C70C-E04B-0E32F09952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0664D71A-FBC6-8C09-E084-E4ADC7EDF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6AB97-FC78-4E8F-94FC-5758EAED6AE9}" type="datetimeFigureOut">
              <a:rPr lang="cs-CZ" smtClean="0"/>
              <a:t>12.03.2023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4F79CA61-8FB9-923A-5240-C39120D6C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0B9D4C8C-2B2B-2044-10DC-A63B3416E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438F3-0586-405D-9FBD-03D7EE52D8E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051769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0D84CF04-78E4-9965-DA6B-F0D14417D0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C7F366CB-F9FF-247E-BEA9-B096E96E40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68571228-2B3D-5845-3E20-108F11B06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6AB97-FC78-4E8F-94FC-5758EAED6AE9}" type="datetimeFigureOut">
              <a:rPr lang="cs-CZ" smtClean="0"/>
              <a:t>12.03.2023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92337D9A-27FD-2360-88EF-4B2054DD3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FD28471-1EEC-AD21-C880-F1A576AD0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438F3-0586-405D-9FBD-03D7EE52D8E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710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DC76B48E-E2FF-D787-385E-1AA48636B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C3D34412-23C1-D818-D350-B116C37111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2E7A80A-8B90-F930-8710-9E8E65C635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F46792-51B7-44B5-B9CB-F4B161886A78}" type="datetimeFigureOut">
              <a:rPr lang="cs-CZ" smtClean="0"/>
              <a:t>12.03.2023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971B77A2-8B4E-750B-55B3-51F94721C2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7BA46512-C637-ADCD-1996-D82361E584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069DF9-E67E-4AB7-9589-10B06A7DAB4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34987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8AF8B13F-D3D0-A2D5-A1EF-85AA777A5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949B345B-7097-4DE7-292F-7C2897DC45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6E634D2B-0C5F-3B22-10D1-2E4354B40A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76AB97-FC78-4E8F-94FC-5758EAED6AE9}" type="datetimeFigureOut">
              <a:rPr lang="cs-CZ" smtClean="0"/>
              <a:t>12.03.2023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88D97CF-4B36-D8CF-73EB-4AC8158769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63643379-C58D-9D6D-1B11-7A7BB02B91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8438F3-0586-405D-9FBD-03D7EE52D8E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20917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677BAFB-3BD3-41BB-9107-FAE224AE2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6823A9B-C188-42D4-847C-3AD928DB1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42784" y="253140"/>
            <a:ext cx="6184555" cy="6184555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4B557F3-1A0C-4749-A6DB-EAC082DF3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4848" y="253140"/>
            <a:ext cx="6184555" cy="6184555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5D55AA6-3751-494F-868A-DCEDC5CE8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03723" y="136525"/>
            <a:ext cx="6184555" cy="6184555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ECBDB55B-D77F-1DEA-9E6B-2603E76772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1400" y="965580"/>
            <a:ext cx="5204489" cy="3160593"/>
          </a:xfrm>
        </p:spPr>
        <p:txBody>
          <a:bodyPr>
            <a:normAutofit/>
          </a:bodyPr>
          <a:lstStyle/>
          <a:p>
            <a:r>
              <a:rPr lang="cs-CZ" sz="5400" dirty="0">
                <a:solidFill>
                  <a:schemeClr val="bg1"/>
                </a:solidFill>
              </a:rPr>
              <a:t>Nemoci prasat I.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01B1F3E3-6549-904A-E635-B8B80A0D87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20817" y="4409960"/>
            <a:ext cx="4508641" cy="1116414"/>
          </a:xfrm>
        </p:spPr>
        <p:txBody>
          <a:bodyPr>
            <a:normAutofit/>
          </a:bodyPr>
          <a:lstStyle/>
          <a:p>
            <a:r>
              <a:rPr lang="cs-CZ" sz="2000" dirty="0">
                <a:solidFill>
                  <a:schemeClr val="bg1"/>
                </a:solidFill>
              </a:rPr>
              <a:t>Veterinářství a plemenářství</a:t>
            </a:r>
          </a:p>
          <a:p>
            <a:r>
              <a:rPr lang="cs-CZ" sz="2000" dirty="0">
                <a:solidFill>
                  <a:schemeClr val="bg1"/>
                </a:solidFill>
              </a:rPr>
              <a:t>Kamila Bulušková</a:t>
            </a:r>
          </a:p>
        </p:txBody>
      </p:sp>
      <p:sp>
        <p:nvSpPr>
          <p:cNvPr id="16" name="Graphic 212">
            <a:extLst>
              <a:ext uri="{FF2B5EF4-FFF2-40B4-BE49-F238E27FC236}">
                <a16:creationId xmlns:a16="http://schemas.microsoft.com/office/drawing/2014/main" id="{4D4C00DC-4DC6-4CD2-9E31-F17E6CEBC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8" name="Graphic 212">
            <a:extLst>
              <a:ext uri="{FF2B5EF4-FFF2-40B4-BE49-F238E27FC236}">
                <a16:creationId xmlns:a16="http://schemas.microsoft.com/office/drawing/2014/main" id="{D82AB1B2-7970-42CF-8BF5-567C69E9F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grpSp>
        <p:nvGrpSpPr>
          <p:cNvPr id="20" name="Graphic 190">
            <a:extLst>
              <a:ext uri="{FF2B5EF4-FFF2-40B4-BE49-F238E27FC236}">
                <a16:creationId xmlns:a16="http://schemas.microsoft.com/office/drawing/2014/main" id="{66FB5A75-BDE2-4F12-A95B-C48788A76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80947" y="1755501"/>
            <a:ext cx="1598829" cy="531293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C86CBC8-A814-4C0C-A287-7C549693D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AA52F4F-14E6-402F-A196-668B9CA9B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4" name="Oval 23">
            <a:extLst>
              <a:ext uri="{FF2B5EF4-FFF2-40B4-BE49-F238E27FC236}">
                <a16:creationId xmlns:a16="http://schemas.microsoft.com/office/drawing/2014/main" id="{C10FB9CA-E7FA-462C-B537-F1224ED1A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8469AE7-A75B-4F37-850B-EF5974ABE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8" name="Graphic 4">
            <a:extLst>
              <a:ext uri="{FF2B5EF4-FFF2-40B4-BE49-F238E27FC236}">
                <a16:creationId xmlns:a16="http://schemas.microsoft.com/office/drawing/2014/main" id="{63301095-70B2-49AA-8DA9-A35629AD6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97506" y="4175798"/>
            <a:ext cx="1861486" cy="1861665"/>
            <a:chOff x="5734053" y="3067000"/>
            <a:chExt cx="724484" cy="724549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D218E08C-0BEA-45C2-8C09-4141DDDA0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067000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232F6090-14E0-44C6-B9FC-C91047BCDC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DB9402B-335C-4892-9E7C-C400E95BE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E7A4371D-4448-409A-93F3-0C92E3EBD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80149CB-4B8F-4FD1-AC5E-25670C9EA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92D49A1A-35B0-4620-9D1E-A782A0E978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FF46F08-B1E4-44C1-BD4A-4191D6EAD9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8DB16610-3D81-4E5C-850D-5D1245C0D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2624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E05501B2-83AC-4299-BE5A-8CA16B408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2624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7CF1B90-3B3A-403E-A94F-8B82945D07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56A1CBA9-4AC1-4C42-9429-3FF31DF282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21318D9B-FD39-402A-ADFA-0E6CC789A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333FB08F-B346-47C0-A7CD-1DE53E6C0D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12624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93AD6F2-6408-4A8E-9749-CB7388EF3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715D9D2F-1568-4BE3-A54A-69F52492B0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85393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9AB547A7-0D80-491F-98B4-C6B7CC4FC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7E2693CD-DAF5-4B26-9A2F-17673BF3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A96EEE12-952A-4693-B161-D7071D601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4228DCC-1611-4BDC-90AA-231F67EB11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DA163C3C-D3DF-461F-B6A8-90C7C227D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4D021D29-2980-41C3-AB83-DA93C105BC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AC09C1FA-1A9D-49A7-9D73-8B777140A3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244637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0B8D8CD4-7B9B-48A5-BC59-0CB859354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24463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224D0A27-A8B0-4020-9399-24127726E6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168E8EBA-9F8C-4650-B9BE-38A0A56BC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6A460BB3-2605-4AA2-AE1D-B9FB61EBF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E2E38EE-DBBE-4CC1-9498-E7193E1B2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2446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BF191D5C-7D2A-4408-A8F2-389D2360F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08F7193B-B379-4921-9F17-1841D5061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03786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B4C5E53C-6003-4F74-B1CA-C7EA1E499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CB97B2B1-1CF5-46A5-940D-AB8F57F59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783F4F1-D8CE-4453-B79B-AD976E272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6A7A4C9-F24F-4F00-A2FA-29E788A0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EB694A32-59D6-46E3-8CE4-E4C485C2CB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983EBB4C-28FF-41C6-90D6-5F30FC086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0707659D-8AE9-49B5-AB29-ECC099F49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63031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5C987ECC-9573-46EA-9C4A-7C3CAE39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6302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4DAF6708-18C2-4082-B024-6CEA32AE0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2CBB5AE-39E2-4D9B-A834-64D31B003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4592DE98-77BF-4E8E-AEB4-1934207BA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5AF5D9A0-BA94-4D2B-8479-26C55355B6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63031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CAA6A8E-7ACF-4EF7-AAD6-734A009DC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D3DD3695-F212-4BAD-BBB3-EC1F62474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22181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B1B3ECB-7594-4C5C-B62B-E686C0A89E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EE54C3C-D9E5-4782-B8F6-058EB2D63E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EAE78EEE-DC43-44E1-AB47-ACB80F94B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47D67EF-1141-4582-866E-FE02FB236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99ECC931-60A1-4628-A34B-4B68DA3CC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A587D2BE-3417-44AE-BEEF-57F88CECB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CEB2ED3-A08D-4286-B75D-893289F3F3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C7DB7BB-8173-4377-85B0-032B7BDAB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93EF69B4-3F48-4509-8BF8-926E23BC1D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C1A86650-1EF5-46E3-885D-96985105A8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47EBBDE2-BD90-481F-A671-34E2186FB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87DAF1CB-838D-4C5C-8FB7-76BF677FEB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64573DA8-D2F3-4644-AC79-83843615C4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2624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41AB53B8-0D5C-44BD-A2A9-ABBF659E1F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29B7FA60-B453-4877-8D47-CA1209DF9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7A6D2414-BCCC-40E8-B990-47642EFE96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0F37C2B-B7E6-420D-AD39-3AE4A2FBE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2624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6417E45-D7FC-40B8-AD49-941B28D18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2624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2A8D1963-0C59-476C-AAFA-A7AF4FF50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8539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6BE777A9-EC29-46FC-AD21-AC7FD89B13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C63BA1CE-93FB-42C7-8381-765E50023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7F30F275-ADC8-4FD1-8B4B-673B37517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DB20529C-F2DD-4607-8DEE-19A932968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B8029A9A-DFF9-49CE-8CEE-95A6695F3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85391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6822C2EC-B05D-4CE6-9D59-164769D0E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244634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53A0760F-F576-4A97-94AF-8BBE590844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CA76721C-646A-4910-AD1A-BE6B67767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065D4766-CAEC-4074-A9E2-6110A12389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4F1A0AC6-319D-49D8-A4FB-17A70E8E8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79502B48-2B92-45BF-B9AC-1102B38078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24463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363AFA7-321F-431C-B2FD-ADCB4D24BD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33EDDE1B-7379-4973-8CFD-F3C737104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1F20B58A-2DB8-46B2-9E93-9C8C817DC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A5A3EF12-3DA1-4505-A44B-1B9634887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5B08812B-9264-47E7-8EC8-1233869F6B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2A29F226-A243-410B-BEE4-EBA9DD76F8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0378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9DF57348-F837-475C-A7AA-3C7210041E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63028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E41B89A-9A45-4947-ADB0-940040049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6C1F1525-32BC-46E1-84E6-C2BB88730B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C73A8972-BA44-40C6-B045-83E78C4D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C196E956-03D1-4F79-826A-A2F5E3DEF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6302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ADA7B07B-EAC8-4FA5-B14F-3ABF8BA7A2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63029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93C28672-FF9E-4FE0-AC47-2FDD26CD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4221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E347BAB3-EA9C-4ADD-AE5E-28F2E3C53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321920C4-EE31-4F03-A0D5-A280D3F4B1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6EBB3D05-4C78-4F10-8D03-8909DBCFB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42217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C65F531-84E4-463F-8791-EB6EDFA63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4221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A63BB6A3-D482-43F2-9F5F-20E163CC4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BDCCD34-EB5D-4194-8A28-1424E98AE4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81330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F058544E-163D-4FFF-9A69-0B3A3F2D66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1041486-0577-4F0E-8DD5-5E20E26729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71D11099-C84E-43AC-9F20-92460E1708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E598FB87-8AFF-4C56-9E2C-776F4641E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7701E761-16DE-4350-9718-DD81B37FB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552E747F-E415-4348-A11A-4CABCB64B5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C6472F13-E6DE-4469-9563-F478261B6E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4057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5C72FE15-910B-4622-A14C-AFA2DFCC02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BAB8F759-DEFA-4D35-B76E-6D3034FB77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A1BBCEBD-DCE2-4354-B878-49ABEC367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2CBB3A18-0021-403F-8E24-8805829B4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8FDF7AAC-1EC6-4409-90AB-DBB984883D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B9999E8-7D25-4049-8328-685B556DC6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E77FC8A9-DEAE-424D-B460-12E0F3268D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997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54F9C69A-0DCF-444A-B970-32B412048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BD94DDA-54FF-48EE-9DAC-C0EA6F91D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E18A6989-0132-4CB7-BB68-EEBC4E080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1357332-D19F-4C2B-B474-21D5539B90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295C7590-8B80-428C-95A9-638B26542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A0E8A31-7520-4726-9D96-43BA87407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9407EEE0-5D8E-4CCC-A91B-0CB523227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3" y="365896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3799DFCC-868B-4257-B530-8E8D616CC5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99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F7F5EEB5-FE82-45A8-97C4-88460ABAFB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49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CD76E4C7-EB07-499D-9BC3-FF39C8B61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86EFDF8D-E5F7-4EB8-B8DA-3CC7E21D88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2CA6506B-EACA-4FB2-81AB-E028F44786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0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193E4771-2787-4901-93D8-7E90F3F479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0EA31773-15F1-4605-8787-6891ABB211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71811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1302C213-2CD5-4168-9534-111E6E81A8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B9B36C24-2336-41FD-BAC4-6CD69DFD5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CA3AFAFE-D376-4A7B-928B-833531472D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7C685A00-A4F7-4250-BAAA-70978DADE4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E52682F3-EDD5-4BDC-BB19-A4540873A8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2C5E1880-CFBA-4547-9C23-6D2C433048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39AAF4F-2AAD-4A02-A7FA-FE28D5286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7" y="3777362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05614144-9309-41ED-8E05-839A6EEFF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1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24324D6F-A81D-45F2-BA36-C53F1AB0C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3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6B00668D-07BC-47CF-9D1E-F94EC7C56F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701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CF78A89-29F2-4973-8463-DF3C57EFB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54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F5BCB645-FB02-40FC-99A4-06CA3F1B2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102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6115A3A-2FBE-4633-A426-37D05BC071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50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AEFD8D2F-B95A-4C0A-AE85-53171B29F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481330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4DD4F397-1F35-4E06-8EC1-8F58C51912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B031E5E0-C77D-49F7-ADF2-258D23052D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3F044DE9-FE64-4C30-8191-7E1547880C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9B18BCEB-85ED-4077-ACB7-FEB2F6443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00C0927E-2CCF-4F8E-8A54-22B8A93C97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48132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D0C3350E-04F5-4FED-9991-4DD964E099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4057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F43D0338-A6C9-4866-8D0C-072664518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405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40EA171B-27E2-4100-9D5F-123CF6E7F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22FD540C-F3DF-40F5-B2BE-BBD113EF4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57768D93-FAD4-4236-969B-B8EE8E88F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405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0F5E0490-21C2-4EF6-950D-38814F32C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40588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E981C9B-710F-4034-AE82-28B1B07245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997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CC62C2CC-DBAE-4877-8F55-02FE00AE8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D8F57D8B-1988-441F-9DAE-A525DA5E9D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6715F028-3A13-4D5F-86C4-74C0AD81D6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DC6C9B50-47B3-44E7-B897-43D010A18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9973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F3F602F0-702E-4D5F-A4FC-0E602C02B9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9F379870-B34C-4DFC-9F0A-BDAB8C89F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6589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641092AC-FED1-4D1D-B57C-0AC883CA95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EA8A0B5E-5BB1-46AF-AC31-7D3756F354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1C519384-2192-432B-B768-64B4BC2DA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13C77A9D-44F0-4289-A611-D8AF81357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A54AEDC-E418-4E02-A713-6CE30C0CDD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1" y="36589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24FECFE3-9F31-47B0-B17F-CF2A1CEE85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9" y="371813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68167DF4-8B16-419B-B7BA-2FD5FF6CC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A543D24F-44C0-4DDF-A30E-8C8407548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63DEAE3C-3931-41EE-B4A1-F9385602BE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B11945CD-32F6-4C09-82AF-551051231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92" y="371812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9109F44F-512F-4792-AED2-ECA80DDE16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0" y="37181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29B9E19B-BC56-46F2-BFFF-1688CEA55A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77737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573BDDE-4AED-43FB-B8D1-B5F3708931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EFFDA684-6DFF-4629-830E-6F2ACAB8C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6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92E23250-6349-4726-AF61-08A57B3A2E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55" y="377735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8536AAE6-5497-4B0A-9C9F-4EAA1BB322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314" y="377745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52B72898-B9DE-4574-BB20-0C317954D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553964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89B7BFD-8F45-4093-AD9C-91B15B050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10"/>
            <a:ext cx="12192000" cy="686221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E461337-472F-2B0A-29E0-99B376F98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703" y="507238"/>
            <a:ext cx="3555916" cy="384589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cs-CZ" sz="5400" dirty="0">
                <a:solidFill>
                  <a:schemeClr val="bg1"/>
                </a:solidFill>
              </a:rPr>
              <a:t>zdraví a nemoc?</a:t>
            </a:r>
            <a:endParaRPr lang="en-US" sz="5400" dirty="0">
              <a:solidFill>
                <a:schemeClr val="bg1"/>
              </a:solidFill>
            </a:endParaRPr>
          </a:p>
        </p:txBody>
      </p:sp>
      <p:pic>
        <p:nvPicPr>
          <p:cNvPr id="5" name="Picture 4" descr="Zvětšovací sklo a otazník">
            <a:extLst>
              <a:ext uri="{FF2B5EF4-FFF2-40B4-BE49-F238E27FC236}">
                <a16:creationId xmlns:a16="http://schemas.microsoft.com/office/drawing/2014/main" id="{0B8D46C1-C3DA-C735-3164-556CCC901A0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352" r="20400" b="2"/>
          <a:stretch/>
        </p:blipFill>
        <p:spPr>
          <a:xfrm>
            <a:off x="5467894" y="590861"/>
            <a:ext cx="5290998" cy="5290998"/>
          </a:xfrm>
          <a:custGeom>
            <a:avLst/>
            <a:gdLst/>
            <a:ahLst/>
            <a:cxnLst/>
            <a:rect l="l" t="t" r="r" b="b"/>
            <a:pathLst>
              <a:path w="5290998" h="5290998">
                <a:moveTo>
                  <a:pt x="2645499" y="0"/>
                </a:moveTo>
                <a:cubicBezTo>
                  <a:pt x="4106568" y="0"/>
                  <a:pt x="5290998" y="1184430"/>
                  <a:pt x="5290998" y="2645499"/>
                </a:cubicBezTo>
                <a:cubicBezTo>
                  <a:pt x="5290998" y="4106568"/>
                  <a:pt x="4106568" y="5290998"/>
                  <a:pt x="2645499" y="5290998"/>
                </a:cubicBezTo>
                <a:cubicBezTo>
                  <a:pt x="1184430" y="5290998"/>
                  <a:pt x="0" y="4106568"/>
                  <a:pt x="0" y="2645499"/>
                </a:cubicBezTo>
                <a:cubicBezTo>
                  <a:pt x="0" y="1184430"/>
                  <a:pt x="1184430" y="0"/>
                  <a:pt x="2645499" y="0"/>
                </a:cubicBezTo>
                <a:close/>
              </a:path>
            </a:pathLst>
          </a:custGeom>
          <a:ln w="25400">
            <a:noFill/>
          </a:ln>
        </p:spPr>
      </p:pic>
      <p:sp>
        <p:nvSpPr>
          <p:cNvPr id="18" name="Graphic 212">
            <a:extLst>
              <a:ext uri="{FF2B5EF4-FFF2-40B4-BE49-F238E27FC236}">
                <a16:creationId xmlns:a16="http://schemas.microsoft.com/office/drawing/2014/main" id="{4D4C00DC-4DC6-4CD2-9E31-F17E6CEBC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58925" y="823301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0" name="Graphic 212">
            <a:extLst>
              <a:ext uri="{FF2B5EF4-FFF2-40B4-BE49-F238E27FC236}">
                <a16:creationId xmlns:a16="http://schemas.microsoft.com/office/drawing/2014/main" id="{A499C65A-9B02-4D7F-BD68-CD38D88055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58925" y="823301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2" name="Graphic 190">
            <a:extLst>
              <a:ext uri="{FF2B5EF4-FFF2-40B4-BE49-F238E27FC236}">
                <a16:creationId xmlns:a16="http://schemas.microsoft.com/office/drawing/2014/main" id="{66FB5A75-BDE2-4F12-A95B-C48788A76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70622" y="1755501"/>
            <a:ext cx="1598829" cy="531293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DC86CBC8-A814-4C0C-A287-7C549693D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AA52F4F-14E6-402F-A196-668B9CA9B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6" name="Graphic 4">
            <a:extLst>
              <a:ext uri="{FF2B5EF4-FFF2-40B4-BE49-F238E27FC236}">
                <a16:creationId xmlns:a16="http://schemas.microsoft.com/office/drawing/2014/main" id="{1F4896D7-5AD0-4505-BCCD-82262CFEE2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035286" y="3429061"/>
            <a:ext cx="1861484" cy="1861513"/>
            <a:chOff x="5734037" y="3067039"/>
            <a:chExt cx="724483" cy="724489"/>
          </a:xfrm>
          <a:solidFill>
            <a:schemeClr val="bg1"/>
          </a:solidFill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3C04C31-4BBB-4AC5-A222-4E79BDDF63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90890F0-A440-4A5F-89E2-860A604251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F9BA7632-2294-4740-BB61-DFA5017B7B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025C556-497E-4B62-9131-98448B5A7C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C467884A-CD29-4BCE-A1A4-1E629953FC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3A1BC11-A782-4A26-87D0-76C92BAB7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8787142E-1022-4109-9141-85FF9C22EC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763BCB7E-36CC-4105-9CDA-BFB80F3FFC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6EF2588-350F-4CCE-9BF8-799EC71961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0A696712-7E60-48CD-A6F8-91754B0908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0244E95B-2BBF-4335-BEFC-BA135EF949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D692242-534C-4A58-90D7-43A781D236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BC72B2EF-E5D1-46BF-B7FE-A9D174508B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48805B31-6BA4-45FA-8180-436B2EC419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51B376A0-4543-4AE3-8071-5C746BADEC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0824AEB4-F797-4131-AD1A-BCB807B086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7399A867-568D-43D3-8F17-6644C8D096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9953DBA6-7A8F-4369-8F18-DC19A21B43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D9167760-8210-45B7-96C9-462EB82D8E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3B578C99-7B91-480A-B8CA-B9FB3AF17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CDF91670-E084-4B4B-9F86-75DD43CBE8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8FC99F2F-C73F-444D-B4BB-C02E463AB2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7F3FF604-A6A9-4EDC-868C-696B92122A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38D6C5BB-BF17-4FE8-B611-578E8EBE92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A80A8D66-3FA7-4C04-AEDC-D8F94AA43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3DE9B826-6E87-4EF5-AA9D-F55BB3A21D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BBAEEC53-BED0-4ACB-94B4-818158D7EF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30709FE3-3633-4C01-AAD6-75ADD93953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C0D68B00-260E-4EFC-A1FE-8B04EB5A7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360AF8DD-D1D2-43F3-83E5-ECF20A0916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87B3F103-7F53-4D5E-B9A2-DE4F0B78D0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2BBECD20-3735-4F14-8816-26D648091F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500687DC-38D4-44B7-BA7D-D8A0BA155F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23AFC6B0-2B60-47B1-B854-A02279C706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39963332-7F58-48B9-9BAB-87C986F39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342BD313-0F6E-4DC3-B8A8-861289801F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2253CE00-9D58-4821-B362-2552C433B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7E89086E-98CE-4697-8CE7-B2E7DB2E8C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2CE9357F-710D-4D3B-90C1-CF19E73F27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170ED7F2-AD38-47BC-B6A1-FF7E20AFDE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02600E9C-0B0F-45ED-A2CF-DE0240B2B9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B07D2066-6599-4BD0-9CD5-7289EB1B81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7BF96C0D-1DEE-47F2-A950-16BC0896F5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FD254ABE-505D-4C6A-9267-BFB78FBBA0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822BBE38-BC6F-4DDE-BD6D-2B496CE420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1046D1FA-C431-4F16-8BDD-71C614D798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CF387987-DEF1-447C-BC86-281AC0B3D6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9808DF01-2715-4215-81F1-B8C178304A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AED7F897-8A4F-4F3D-BFB1-738BCDCA97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9B51B8B7-D508-44C3-AFC5-820557A943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FBC6B94-2A13-4303-AE51-334E386DAB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27897959-2F8E-4A05-9EA8-5B0329B574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0522AB50-D351-40F4-8A88-E856C1F27F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221AFD52-C13F-4A20-B1DB-13C1A9A3D8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8E789B3B-F514-4E02-8C1A-2F85817AA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E473BAC-3DA1-4D63-9D6C-2B993665F6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F385DCF4-8F59-4838-B86C-2B3EF0BCE7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3EC5A02E-609A-4C39-A35D-E8D038F7C9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7AB67B18-1821-4367-A7B6-CC2FFF66DF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DFCAC56E-4767-4984-9FE7-2C3CA57D01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0A1929ED-CEB2-4C49-B2ED-A206D37935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01D632F9-2F59-4C8D-B1BC-1CB0D15C36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03B9F80B-CAEF-442C-A218-E2B069545B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526A626E-CC14-4106-8AD4-DB3D81CD64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7CD710B8-B5DF-495F-ACEA-CFB9308CB5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E550C81D-B0B8-4DB8-A12C-B62944D07F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4EB82E53-B337-43EB-BFF8-1466F10E8B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D1DCEF3A-2B54-4AA2-9BFD-57EA4A2468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9F122967-34EF-4575-8E59-75D77FCD07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D87EBF9D-3949-4CCE-BB87-9784668346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58A1183F-B28F-4BAD-A14B-3940A6E92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A81851B7-6D8F-454C-BBAA-498426069D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99759A7A-483F-4DB0-8677-C6AB61E197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BDD1E55B-DE82-4811-BB33-1468396D2C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F4B0251C-DACC-4A24-83BA-3D95F8D191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3647EF9B-D99D-48C1-B61E-19B85F471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EB55DF3C-DDF0-4B01-849E-46A6634655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09149238-5A44-4264-84E6-DD25E7C01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4E6925C1-B440-4C1C-8829-2E6D9EE142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937B5BDB-32A7-4C47-A984-AF2316600E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9B5A7D9C-91C9-49A3-8AD5-DB49632FD4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C64B015D-AFCF-4AB2-AE58-A069B06DB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A4407931-9375-400F-88AC-C63D4E9E9C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554278B7-45C8-46E4-885A-69208D598B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3A806AB0-FBD6-41CD-997C-A76266D375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19E2D6D-6D96-4348-954B-3657A0B06D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9794AABE-9C3E-4A8C-820F-0FDF65213E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1DBEC39D-5464-46CA-B62B-24826F1F4D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41807973-667B-4780-B3AA-4ADC32DB3A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970D793C-C9EE-467B-8385-42B6905A00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94695A53-78EB-4811-8BBC-4707F30169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0576416F-0C2E-4D01-9357-5C73ADF85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A091FE22-8667-4F89-A333-BA9A0917EC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CB779008-969D-4FA8-BB6C-3BBBCF919E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CDAF3B96-0DFB-44BA-959D-BF9643FFE2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5F66F5FF-98B2-4453-8175-EB602A6A03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751D9683-9D41-4058-B90B-99146FC2F3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0907098D-1005-4522-BA21-F1534CBACF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5BFEF082-7E02-4ED8-B9D1-F0FC47FEC6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4429C269-222E-4EFB-97B9-08FA243CE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FC460F7F-5702-4281-850B-59E4182A71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A329057C-293F-4933-9DEA-2463E66D4B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7274CBA8-6253-4229-AC37-1D7126639E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B7ABAAD2-23FD-4AF4-8506-3CDDC5607B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27A85620-3B33-477A-949C-3F221DCC21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6247316E-E815-4CE3-9EC0-8DC8391EB4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3D047E26-5A98-4B49-A453-C71D894500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940C95BF-A85B-4251-A817-35A7B4F713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EA4FDA2F-E340-40E6-8678-8F4F9EB3D4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D94A3796-87FD-436D-8309-857F9B4898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2B20BE68-41F5-4E59-87CD-A8654B1238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7FD87938-B42E-45E5-ABB8-936E00A244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EA46A837-6AA3-4099-8055-251ED6D7D4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B9D871B1-B4D0-4667-B5FA-21AE12E501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477E102A-1E9D-44C8-9DA0-1B4B61444C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42DB4921-ECFC-42CD-B91B-56AB1FE263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3156177C-2880-4AAF-BFC7-C3EA4AD09A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B7C807E0-34AB-4AC3-A674-D7E438C603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93AD80AB-575A-4D50-A561-CE310E06BF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E4C11A99-7E93-4B54-B1CE-D90D45325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25A3E814-2D04-4881-B9E9-81ADDC0C97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073D9FB4-F4AF-4974-A734-C9300D2107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081A1414-A8F5-43F1-BA51-B058EF2C05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E41588DC-3C7F-4695-A42A-B5ABEA8B51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3884DF6D-4C87-4B4A-A918-B3F3C8BE35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CF26F2A0-B8D0-48D4-A9A9-BEB75CFF1F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7A9177E1-A6DC-4200-9D85-31A348E027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7DA218E3-83A8-45E8-B2E3-4B693606C9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31E51433-E260-493C-8A94-FCE7FD9BA2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3A74FFD3-BE5F-435D-AC22-825B6E049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B3420F88-93EB-4790-A2BD-EFF61E77B0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3875302B-159F-4E81-AD49-154BAA8FD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E9966CE-BC06-4CEB-877D-34D9D1C2EE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889924EA-8A9B-4ED5-8CF2-E184EE89D2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300C1FB1-E227-40EE-A773-071D080BD1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14F26B5D-6E35-40E8-90DF-FD65CB33FA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059D8F05-F701-45A6-9377-454642C212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5F57ACF8-D510-4715-B964-20D980558C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51053CDD-687F-481B-86FB-56DA74C55C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76B24CA5-1578-43AE-8ED8-CB9F7EA620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A3208550-AB5B-4E2B-914A-270D30163A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D4120D7E-20EE-4413-A541-781EA43508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9C0CC66E-BFF1-47FD-8C37-092016FBE2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09D9AD44-3983-44A2-9DBA-6C5FF3C47A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71915592-B946-43D1-AE24-B72B17FC58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3AC48622-C7DC-416F-B14F-AB0C6A3EF5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C122E9A7-0590-453C-AC3A-88265131C0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78246847-0B72-46B3-9243-7A7B92E212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207FF669-6E9C-47DF-A1A0-6676692794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06905CAD-DCDC-4965-969E-3BA793FCA8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7E82B7F4-81C1-4A48-A3C9-B9DE741C94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53D306B7-0050-4206-8020-D3F81BC46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BE50823B-85BA-4734-A0E5-99F2D027CC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1F26CEA8-889B-4F33-AE59-91F66E1602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E64E5726-D6A2-4541-9EB4-0D455BFB19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B5A9478C-31E8-4C23-856A-5B4D6936B9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D4D55AFD-7163-47DF-8918-6BCF397B55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20C5BF88-D776-4C9B-89BD-85EE0DCE81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A0347C6-25EE-4289-B805-750B30ABB9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4C83C9E0-7820-4EA4-B9AA-AD6E0719F3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7E1B6DEA-553D-4733-9A45-3A28D118B6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BE647149-B885-4A7D-B57E-A9762FF951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3FFCDDD6-EA47-4BA4-914F-B4AD52A7DA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18C5FC42-4A56-48D7-9C6F-EE6973256C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E58746BA-672F-48B8-BA1D-E317498C1F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75C60814-753C-4243-BD88-443E240D6B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174EB8C9-709B-42D9-9948-434CAA5E0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786AB5B1-D0D7-4FE2-9A7D-BF9C01F7D7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718E7606-3FC9-4354-BCF8-A980AE6DFA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84229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89B7BFD-8F45-4093-AD9C-91B15B050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10"/>
            <a:ext cx="12192000" cy="686221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E461337-472F-2B0A-29E0-99B376F98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703" y="507238"/>
            <a:ext cx="3555916" cy="384589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cs-CZ" sz="5400" dirty="0">
                <a:solidFill>
                  <a:schemeClr val="bg1"/>
                </a:solidFill>
              </a:rPr>
              <a:t>orgánové a</a:t>
            </a:r>
            <a:br>
              <a:rPr lang="cs-CZ" sz="5400" dirty="0">
                <a:solidFill>
                  <a:schemeClr val="bg1"/>
                </a:solidFill>
              </a:rPr>
            </a:br>
            <a:r>
              <a:rPr lang="cs-CZ" sz="5400" dirty="0">
                <a:solidFill>
                  <a:schemeClr val="bg1"/>
                </a:solidFill>
              </a:rPr>
              <a:t>infekční nemoci?</a:t>
            </a:r>
            <a:endParaRPr lang="en-US" sz="5400" dirty="0">
              <a:solidFill>
                <a:schemeClr val="bg1"/>
              </a:solidFill>
            </a:endParaRPr>
          </a:p>
        </p:txBody>
      </p:sp>
      <p:sp>
        <p:nvSpPr>
          <p:cNvPr id="18" name="Graphic 212">
            <a:extLst>
              <a:ext uri="{FF2B5EF4-FFF2-40B4-BE49-F238E27FC236}">
                <a16:creationId xmlns:a16="http://schemas.microsoft.com/office/drawing/2014/main" id="{4D4C00DC-4DC6-4CD2-9E31-F17E6CEBC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58925" y="823301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0" name="Graphic 212">
            <a:extLst>
              <a:ext uri="{FF2B5EF4-FFF2-40B4-BE49-F238E27FC236}">
                <a16:creationId xmlns:a16="http://schemas.microsoft.com/office/drawing/2014/main" id="{A499C65A-9B02-4D7F-BD68-CD38D88055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58925" y="823301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2" name="Graphic 190">
            <a:extLst>
              <a:ext uri="{FF2B5EF4-FFF2-40B4-BE49-F238E27FC236}">
                <a16:creationId xmlns:a16="http://schemas.microsoft.com/office/drawing/2014/main" id="{66FB5A75-BDE2-4F12-A95B-C48788A76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70622" y="1755501"/>
            <a:ext cx="1598829" cy="531293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DC86CBC8-A814-4C0C-A287-7C549693D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AA52F4F-14E6-402F-A196-668B9CA9B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6" name="Graphic 4">
            <a:extLst>
              <a:ext uri="{FF2B5EF4-FFF2-40B4-BE49-F238E27FC236}">
                <a16:creationId xmlns:a16="http://schemas.microsoft.com/office/drawing/2014/main" id="{1F4896D7-5AD0-4505-BCCD-82262CFEE2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035286" y="3429061"/>
            <a:ext cx="1861484" cy="1861513"/>
            <a:chOff x="5734037" y="3067039"/>
            <a:chExt cx="724483" cy="724489"/>
          </a:xfrm>
          <a:solidFill>
            <a:schemeClr val="bg1"/>
          </a:solidFill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3C04C31-4BBB-4AC5-A222-4E79BDDF63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90890F0-A440-4A5F-89E2-860A604251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F9BA7632-2294-4740-BB61-DFA5017B7B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025C556-497E-4B62-9131-98448B5A7C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C467884A-CD29-4BCE-A1A4-1E629953FC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3A1BC11-A782-4A26-87D0-76C92BAB7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8787142E-1022-4109-9141-85FF9C22EC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763BCB7E-36CC-4105-9CDA-BFB80F3FFC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6EF2588-350F-4CCE-9BF8-799EC71961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0A696712-7E60-48CD-A6F8-91754B0908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0244E95B-2BBF-4335-BEFC-BA135EF949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D692242-534C-4A58-90D7-43A781D236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BC72B2EF-E5D1-46BF-B7FE-A9D174508B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48805B31-6BA4-45FA-8180-436B2EC419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51B376A0-4543-4AE3-8071-5C746BADEC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0824AEB4-F797-4131-AD1A-BCB807B086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7399A867-568D-43D3-8F17-6644C8D096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9953DBA6-7A8F-4369-8F18-DC19A21B43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D9167760-8210-45B7-96C9-462EB82D8E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3B578C99-7B91-480A-B8CA-B9FB3AF17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CDF91670-E084-4B4B-9F86-75DD43CBE8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8FC99F2F-C73F-444D-B4BB-C02E463AB2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7F3FF604-A6A9-4EDC-868C-696B92122A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38D6C5BB-BF17-4FE8-B611-578E8EBE92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A80A8D66-3FA7-4C04-AEDC-D8F94AA43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3DE9B826-6E87-4EF5-AA9D-F55BB3A21D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BBAEEC53-BED0-4ACB-94B4-818158D7EF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30709FE3-3633-4C01-AAD6-75ADD93953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C0D68B00-260E-4EFC-A1FE-8B04EB5A7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360AF8DD-D1D2-43F3-83E5-ECF20A0916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87B3F103-7F53-4D5E-B9A2-DE4F0B78D0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2BBECD20-3735-4F14-8816-26D648091F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500687DC-38D4-44B7-BA7D-D8A0BA155F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23AFC6B0-2B60-47B1-B854-A02279C706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39963332-7F58-48B9-9BAB-87C986F39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342BD313-0F6E-4DC3-B8A8-861289801F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2253CE00-9D58-4821-B362-2552C433B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7E89086E-98CE-4697-8CE7-B2E7DB2E8C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2CE9357F-710D-4D3B-90C1-CF19E73F27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170ED7F2-AD38-47BC-B6A1-FF7E20AFDE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02600E9C-0B0F-45ED-A2CF-DE0240B2B9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B07D2066-6599-4BD0-9CD5-7289EB1B81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7BF96C0D-1DEE-47F2-A950-16BC0896F5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FD254ABE-505D-4C6A-9267-BFB78FBBA0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822BBE38-BC6F-4DDE-BD6D-2B496CE420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1046D1FA-C431-4F16-8BDD-71C614D798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CF387987-DEF1-447C-BC86-281AC0B3D6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9808DF01-2715-4215-81F1-B8C178304A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AED7F897-8A4F-4F3D-BFB1-738BCDCA97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9B51B8B7-D508-44C3-AFC5-820557A943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FBC6B94-2A13-4303-AE51-334E386DAB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27897959-2F8E-4A05-9EA8-5B0329B574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0522AB50-D351-40F4-8A88-E856C1F27F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221AFD52-C13F-4A20-B1DB-13C1A9A3D8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8E789B3B-F514-4E02-8C1A-2F85817AA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E473BAC-3DA1-4D63-9D6C-2B993665F6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F385DCF4-8F59-4838-B86C-2B3EF0BCE7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3EC5A02E-609A-4C39-A35D-E8D038F7C9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7AB67B18-1821-4367-A7B6-CC2FFF66DF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DFCAC56E-4767-4984-9FE7-2C3CA57D01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0A1929ED-CEB2-4C49-B2ED-A206D37935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01D632F9-2F59-4C8D-B1BC-1CB0D15C36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03B9F80B-CAEF-442C-A218-E2B069545B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526A626E-CC14-4106-8AD4-DB3D81CD64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7CD710B8-B5DF-495F-ACEA-CFB9308CB5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E550C81D-B0B8-4DB8-A12C-B62944D07F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4EB82E53-B337-43EB-BFF8-1466F10E8B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D1DCEF3A-2B54-4AA2-9BFD-57EA4A2468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9F122967-34EF-4575-8E59-75D77FCD07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D87EBF9D-3949-4CCE-BB87-9784668346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58A1183F-B28F-4BAD-A14B-3940A6E92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A81851B7-6D8F-454C-BBAA-498426069D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99759A7A-483F-4DB0-8677-C6AB61E197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BDD1E55B-DE82-4811-BB33-1468396D2C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F4B0251C-DACC-4A24-83BA-3D95F8D191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3647EF9B-D99D-48C1-B61E-19B85F471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EB55DF3C-DDF0-4B01-849E-46A6634655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09149238-5A44-4264-84E6-DD25E7C01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4E6925C1-B440-4C1C-8829-2E6D9EE142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937B5BDB-32A7-4C47-A984-AF2316600E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9B5A7D9C-91C9-49A3-8AD5-DB49632FD4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C64B015D-AFCF-4AB2-AE58-A069B06DB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A4407931-9375-400F-88AC-C63D4E9E9C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554278B7-45C8-46E4-885A-69208D598B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3A806AB0-FBD6-41CD-997C-A76266D375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19E2D6D-6D96-4348-954B-3657A0B06D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9794AABE-9C3E-4A8C-820F-0FDF65213E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1DBEC39D-5464-46CA-B62B-24826F1F4D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41807973-667B-4780-B3AA-4ADC32DB3A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970D793C-C9EE-467B-8385-42B6905A00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94695A53-78EB-4811-8BBC-4707F30169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0576416F-0C2E-4D01-9357-5C73ADF85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A091FE22-8667-4F89-A333-BA9A0917EC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CB779008-969D-4FA8-BB6C-3BBBCF919E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CDAF3B96-0DFB-44BA-959D-BF9643FFE2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5F66F5FF-98B2-4453-8175-EB602A6A03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751D9683-9D41-4058-B90B-99146FC2F3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0907098D-1005-4522-BA21-F1534CBACF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5BFEF082-7E02-4ED8-B9D1-F0FC47FEC6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4429C269-222E-4EFB-97B9-08FA243CE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FC460F7F-5702-4281-850B-59E4182A71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A329057C-293F-4933-9DEA-2463E66D4B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7274CBA8-6253-4229-AC37-1D7126639E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B7ABAAD2-23FD-4AF4-8506-3CDDC5607B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27A85620-3B33-477A-949C-3F221DCC21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6247316E-E815-4CE3-9EC0-8DC8391EB4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3D047E26-5A98-4B49-A453-C71D894500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940C95BF-A85B-4251-A817-35A7B4F713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EA4FDA2F-E340-40E6-8678-8F4F9EB3D4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D94A3796-87FD-436D-8309-857F9B4898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2B20BE68-41F5-4E59-87CD-A8654B1238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7FD87938-B42E-45E5-ABB8-936E00A244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EA46A837-6AA3-4099-8055-251ED6D7D4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B9D871B1-B4D0-4667-B5FA-21AE12E501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477E102A-1E9D-44C8-9DA0-1B4B61444C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42DB4921-ECFC-42CD-B91B-56AB1FE263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3156177C-2880-4AAF-BFC7-C3EA4AD09A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B7C807E0-34AB-4AC3-A674-D7E438C603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93AD80AB-575A-4D50-A561-CE310E06BF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E4C11A99-7E93-4B54-B1CE-D90D45325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25A3E814-2D04-4881-B9E9-81ADDC0C97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073D9FB4-F4AF-4974-A734-C9300D2107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081A1414-A8F5-43F1-BA51-B058EF2C05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E41588DC-3C7F-4695-A42A-B5ABEA8B51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3884DF6D-4C87-4B4A-A918-B3F3C8BE35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CF26F2A0-B8D0-48D4-A9A9-BEB75CFF1F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7A9177E1-A6DC-4200-9D85-31A348E027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7DA218E3-83A8-45E8-B2E3-4B693606C9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31E51433-E260-493C-8A94-FCE7FD9BA2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3A74FFD3-BE5F-435D-AC22-825B6E049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B3420F88-93EB-4790-A2BD-EFF61E77B0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3875302B-159F-4E81-AD49-154BAA8FD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E9966CE-BC06-4CEB-877D-34D9D1C2EE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889924EA-8A9B-4ED5-8CF2-E184EE89D2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300C1FB1-E227-40EE-A773-071D080BD1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14F26B5D-6E35-40E8-90DF-FD65CB33FA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059D8F05-F701-45A6-9377-454642C212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5F57ACF8-D510-4715-B964-20D980558C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51053CDD-687F-481B-86FB-56DA74C55C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76B24CA5-1578-43AE-8ED8-CB9F7EA620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A3208550-AB5B-4E2B-914A-270D30163A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D4120D7E-20EE-4413-A541-781EA43508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9C0CC66E-BFF1-47FD-8C37-092016FBE2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09D9AD44-3983-44A2-9DBA-6C5FF3C47A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71915592-B946-43D1-AE24-B72B17FC58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3AC48622-C7DC-416F-B14F-AB0C6A3EF5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C122E9A7-0590-453C-AC3A-88265131C0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78246847-0B72-46B3-9243-7A7B92E212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207FF669-6E9C-47DF-A1A0-6676692794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06905CAD-DCDC-4965-969E-3BA793FCA8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7E82B7F4-81C1-4A48-A3C9-B9DE741C94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53D306B7-0050-4206-8020-D3F81BC46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BE50823B-85BA-4734-A0E5-99F2D027CC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1F26CEA8-889B-4F33-AE59-91F66E1602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E64E5726-D6A2-4541-9EB4-0D455BFB19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B5A9478C-31E8-4C23-856A-5B4D6936B9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D4D55AFD-7163-47DF-8918-6BCF397B55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20C5BF88-D776-4C9B-89BD-85EE0DCE81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A0347C6-25EE-4289-B805-750B30ABB9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4C83C9E0-7820-4EA4-B9AA-AD6E0719F3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7E1B6DEA-553D-4733-9A45-3A28D118B6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BE647149-B885-4A7D-B57E-A9762FF951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3FFCDDD6-EA47-4BA4-914F-B4AD52A7DA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18C5FC42-4A56-48D7-9C6F-EE6973256C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E58746BA-672F-48B8-BA1D-E317498C1F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75C60814-753C-4243-BD88-443E240D6B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174EB8C9-709B-42D9-9948-434CAA5E0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786AB5B1-D0D7-4FE2-9A7D-BF9C01F7D7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718E7606-3FC9-4354-BCF8-A980AE6DFA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pic>
        <p:nvPicPr>
          <p:cNvPr id="1026" name="Picture 2" descr="Čistější prase z laboratoře. Mohou genetické modifikace přispět k ochraně  životního prostředí? | Věda | Lidovky.cz">
            <a:extLst>
              <a:ext uri="{FF2B5EF4-FFF2-40B4-BE49-F238E27FC236}">
                <a16:creationId xmlns:a16="http://schemas.microsoft.com/office/drawing/2014/main" id="{0B856A24-E1C5-DAE8-5157-5FC31586B4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8239" y="2128567"/>
            <a:ext cx="4381500" cy="28575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0805535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99050EE-26AF-4253-BD50-F0FCD965A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284" y="575361"/>
            <a:ext cx="5707277" cy="5707277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72AA5F7D-1D6F-500E-1046-0F3F56A49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8452"/>
            <a:ext cx="4974771" cy="3587786"/>
          </a:xfrm>
        </p:spPr>
        <p:txBody>
          <a:bodyPr>
            <a:normAutofit/>
          </a:bodyPr>
          <a:lstStyle/>
          <a:p>
            <a:pPr algn="ctr"/>
            <a:r>
              <a:rPr lang="cs-CZ" dirty="0">
                <a:solidFill>
                  <a:schemeClr val="bg1"/>
                </a:solidFill>
              </a:rPr>
              <a:t>Orgánové (nenakažlivé) nemoci</a:t>
            </a:r>
          </a:p>
        </p:txBody>
      </p:sp>
      <p:grpSp>
        <p:nvGrpSpPr>
          <p:cNvPr id="12" name="Graphic 190">
            <a:extLst>
              <a:ext uri="{FF2B5EF4-FFF2-40B4-BE49-F238E27FC236}">
                <a16:creationId xmlns:a16="http://schemas.microsoft.com/office/drawing/2014/main" id="{00E015F5-1A99-4E40-BC3D-770780299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93117" y="1193254"/>
            <a:ext cx="1291642" cy="429215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E6F571-2BB7-46DA-A3D9-B32ADDC16A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905CC16-753C-4B9F-B3E2-C456795AE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6" name="Graphic 212">
            <a:extLst>
              <a:ext uri="{FF2B5EF4-FFF2-40B4-BE49-F238E27FC236}">
                <a16:creationId xmlns:a16="http://schemas.microsoft.com/office/drawing/2014/main" id="{D0C78466-EB6E-45A0-99A6-A00789ACD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7727" y="421588"/>
            <a:ext cx="1291468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8" name="Graphic 212">
            <a:extLst>
              <a:ext uri="{FF2B5EF4-FFF2-40B4-BE49-F238E27FC236}">
                <a16:creationId xmlns:a16="http://schemas.microsoft.com/office/drawing/2014/main" id="{E99F76E4-5DFD-4DBE-B042-66FBCD118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7727" y="421588"/>
            <a:ext cx="1291468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0" name="Graphic 4">
            <a:extLst>
              <a:ext uri="{FF2B5EF4-FFF2-40B4-BE49-F238E27FC236}">
                <a16:creationId xmlns:a16="http://schemas.microsoft.com/office/drawing/2014/main" id="{5468B3A9-705E-43C3-A742-0619B0D8F2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0915" y="4748271"/>
            <a:ext cx="1330536" cy="1330521"/>
            <a:chOff x="5734037" y="3067039"/>
            <a:chExt cx="724483" cy="724489"/>
          </a:xfrm>
          <a:solidFill>
            <a:schemeClr val="bg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9D439AD-5D67-497C-B831-D17FC3E592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3F54BF2-C71C-45C5-9408-3B5E011B0F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BBABE17-DB56-44AB-934B-63C07C79F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B483D20-A128-4076-AF54-88646172B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5EFA818-FDDA-49E9-B11F-E9DC1854A9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EA1F8728-F8F7-4828-A718-A15E7663EA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DA1F73F-AA1D-41D7-BAAB-292FD94A3E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9441DEA-C85E-4B9C-A48D-8437854C4C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5EBAA20-1368-4495-8D7C-820FAD8EC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FB92591-626C-4D2B-A3E6-EC8742D67B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392448D-513F-4528-9D8D-A151982041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61946BAE-1546-4EA4-A108-A799BF5D2C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2A8EC93-6A35-4D37-A8CB-59362BF875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FC3ECA2-E914-4D83-ABF9-B9FFD96E92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12B1108-9AAC-4F10-A64F-0D6963E518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84CDA0C-B2AB-4791-83B1-C053C061D6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F857BF6B-E0CA-49C0-8827-B44CE8B928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6D7B06A7-ADDF-4F27-B11F-08422FC18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E8B0DA6C-71D7-4FCB-AE4C-035E0ADB50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EB078173-ADFB-480D-91A4-4D71C0109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AAA4027A-C97B-4C9A-B04C-EBE2112200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C06DA92D-C6D0-4C7D-98CF-D9576912E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D6601653-3941-4C9B-BD39-62EECE23A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BC4A394-4FFE-4BFE-9A59-2B624E071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EB4EABA5-FDCF-4F6F-8FF1-6FDFF5058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10F3C940-2320-488A-B24C-AB0A4FB53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525BA82-37D8-47ED-AFF6-AE57124A4E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C2D78955-C80F-4DA3-83AA-D28A5A6FA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C23DAAC-7C06-4012-8CBB-8E3126B68B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0D19F80-DC80-49EC-8EDD-7889092C1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11F50BB3-EA39-4693-BAE1-1101EF0A41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00EFD45B-69A8-47F6-A5BF-779F7EB49F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9E53C464-7272-4EBC-830B-CB29A96988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B6BF10CE-C2AD-487A-9402-8D5C746ECF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064C7FE-F8EB-47EF-97FA-348A520599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991C553-06A1-4F26-BBBC-80F7E11E7A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CE9C081-2191-4C84-956E-F106BB015C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292F6F03-BC34-40C6-8F17-7A169CD72F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A5101B80-7351-4F0F-AB7D-3E40B4D266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570EE1D-95AC-4660-8E96-7C8A36FEB6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385D9A56-2D15-4E0A-B981-E168F09064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28D0BA2F-9273-4EAA-AD17-C4EFE11403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512CC54E-7976-4DC9-984C-45C2A23A72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C8A3FC72-9FF9-41F6-97E0-45A0FEE946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48918C16-C9B6-40D5-93A0-DB547B644A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A05612C6-4858-4854-A3D3-90CF1E1C75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A8E88D77-C726-4008-849C-DA7361F885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24CFE7CA-C955-4365-90C3-6272CB9A3C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38B43FC8-B81C-490A-A346-4C6235DA8A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14D0221-0C97-4C71-B535-7506956EF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ED0C44EA-BD25-49A3-9EB8-9D8DED7C19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3C9CCF2-15CC-4F7D-87F5-7FFEBAC9C2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AA321D8-1D2C-472C-A2DB-EBB74498DD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4680C1-4BB5-45DB-A558-82514418CF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C94F4CEF-82DD-4CFB-8EE3-4AB115F6A0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4F186C9C-C620-4426-A674-E40F808F66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8929942C-BA3F-40EF-94DD-4A5C22C5B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D234974B-3555-465B-95A7-1C63CE7386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0E38F9FD-48AC-4C3E-9E75-D1C0B555E0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3AA72E26-5C3D-4231-9042-E00AE43E80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6684433D-3C9E-4C19-A801-D51CF3064F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ADB0C3D-A021-4F40-93B3-76B61334F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41781C18-F408-401D-8A86-99FFBB9895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9D958D9F-E4B0-48B1-ADA4-3053AFB5D9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43EFCD46-F0FB-499C-81B9-3508FE5C8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2B6A130F-CB85-4BDA-8DDF-8DAAB2F7D0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9359DA40-CA94-4B1F-9BE6-C800BEEC77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73304FCD-8DAD-4BC8-A16E-84DDCA07FF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BCB4864C-8F67-4BE7-89CC-664EA25EC5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845F543D-67FC-4640-A2A1-69DA6D0528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DBDB2A9C-60E5-4F7E-BA2B-4DD1595FB9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72B10DA2-D88E-4952-BDB5-102E61B4B2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AC5F5BED-3698-4F52-9977-D8CA2DC031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E19CCEBC-AD20-45B2-A751-42B40BB31C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3A978AD9-9A35-4B89-B3BC-61E54AD9EB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77D8C808-AFC9-42DD-B253-0048903791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EECD0BF1-7C64-407E-8306-4C447B1D32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953B0F94-AC35-4CB2-878D-1DC7D68BE9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08EA50C2-BB5F-4368-AA91-67B207C1AB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DE45A7FE-0A45-45F6-8417-EBDA5A12D8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DA8B8DC8-F88C-432E-A8C2-8D13FE874F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D02C5430-233D-49F7-B852-181D2B2F61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76DB286F-9E15-441C-8697-57007B76C1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534DC0EE-15B7-44AE-A7DC-8B5E22688A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4FBE9900-F640-4248-9C4C-EDBE5E00AF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37FF04AF-F86B-49F8-AAB5-DA696591A1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710DCFEA-4572-47A3-A6BE-7B21F5758C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BA42ED8E-CCC8-478F-9EF4-625B633071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46DF8F4-DF09-4E6C-887F-C9269E56A5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7FF3916E-5C82-4956-A88B-81BFAC91B8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7E5CF7AE-ED45-4AB5-9AEB-56FC964BFA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CFB132C-BEB1-4897-B1A4-97422811F6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4EE49F21-E336-41BC-8256-85A9AB597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C62510EE-BDCD-4393-9AD7-2D0C9A722D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2420F94B-4F00-4C6C-97E3-BA5B5E6871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E712560A-A110-4132-85D5-21BBBFA8C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D1E3102B-23D5-43AE-A67D-583AAA52BA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9D5ABE4E-EB80-423C-BBCE-9C1B77D9B0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BEB8CCC5-38F5-4892-A00B-14B645BBDF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8860175F-F7D5-4464-AD61-5B435528F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E28C20B0-98AA-4A5B-8CE1-236A3F6CAA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8A56719F-13F0-4B75-8C04-DAACD8FD86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B30555DA-285C-4859-83DE-B16FF6DB13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67AF00E9-C8D6-41C4-9703-5468F51639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07F88BD-A2E8-4F25-BB43-9372C6C9F3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DFAE35DA-8283-4F4B-8C00-FF8EFE39B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4340DEBE-A255-48E2-B7B2-AE881651C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FE968FB9-507A-4F2E-B346-15995081B1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4DA99BD8-9C2B-46BF-AA27-ED405540D1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50C84F67-D2C2-48DF-8537-DF99C6024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F5CAEB9A-26A6-4FBF-916B-19FC9B0BFC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E4DEDE1B-4819-4E4B-849E-330D7DF56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C441B73E-F19C-4313-8F46-F600603B36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014FE805-EF51-4859-A6DF-CF75F9A0F5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624CF2A5-BD9E-4570-8560-063BC70F2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6BEC415C-7946-43B2-9AC8-348B6B5CD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1B615AD5-3365-43D4-8E16-377A2A2F97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9D184DFD-DD33-491E-90FF-6E4ECA2668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31B62FE1-0262-4B09-ABEA-8AA010137D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20C539C6-FAA9-4EBE-93D9-1F946E1449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8C6EF3FF-09E5-4099-A49B-CA364A6E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B3C5E06F-8F1E-4771-AAE4-B34B1D6A3D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538D5AE9-76CC-4AE4-B026-656EDCB01B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30F1A9B9-52AB-4527-BD4A-1802F7C960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46A57D78-C020-4EEF-971D-0C8802889A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7666D7A3-5ABF-4EDE-A0C5-F2099B2D86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13BC460A-E0FF-4658-A2FD-A3AF4D51DF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26467CC2-3AB3-4D37-8323-385B7399F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563A1F58-33CE-4EDF-B902-3F43F69DA2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DDCFAB2F-7E88-4A57-999A-2506A1FE71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571BEB66-3787-441F-BB54-80C05C6F13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641DC095-611E-4979-8664-6C0EB878FC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210B9ECF-D859-4919-A9D6-3208548F00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4FBC31D4-7E98-452C-8A87-822DE0432C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E302346C-F328-435B-87ED-447C6F8542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B94F507E-9E94-432E-AE8A-A6CB2C5D05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1FFAC4F0-FD7F-4943-B60E-E276F8B23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A8A5D871-92FD-43C3-BF94-0B524FA7D3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6A79A241-1665-453E-ADD4-18892D4F8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81EABE18-4189-4E07-93C9-9B76673E3E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B658A0EE-6F09-4EF7-B5E7-F23A556BD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15EB019C-C95B-4DE3-BD17-DC20F8007A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2948B3ED-79C1-47C8-B712-0BFB5536C3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13387DB9-900B-422D-90F7-C5C7EB5D59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48FDCCF3-E6D6-4CD0-9D47-02FE785C7A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BC14E8F6-33F6-47CE-9A24-EA71D7149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F78CC38F-63FC-4552-B17B-8D79D3C8F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89042823-A002-49CE-B03D-ED1291DC13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96EFC6CE-198B-489B-B1EE-72CE842628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49FEA23D-54D9-45D7-9325-1E2F638C9C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2DB04EE3-370F-49CE-BCFE-C2999C3CF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8BCBCC34-797D-41A8-8AD1-7E03E1BBFF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AFF5C1F8-0EDE-4835-89E6-1FCB2EA395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6171D504-6300-457C-AFCC-064DBB3FC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62ACE739-C8C4-4495-B04C-C3AFC4481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3F4771CD-CDCA-4FFE-8EF5-E42D1781E7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A10C0BFE-A8F9-4E21-9DFD-37A4D26C62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4D8D4EF9-4EF7-4538-A4AE-439F9335EA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7E0500AB-5662-43B9-95C2-2EC80CC54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984021AD-A6A2-4CDA-A953-72FBA7598B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FD1FBF47-CAC8-4385-9DC7-C9BB6167E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FBAEE482-005F-4288-8D66-09EA246C45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2C5DCF49-33DE-4AFF-818E-42F59F280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866903F3-208B-46D5-925B-254DC74291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2550D219-E342-4A38-BB89-575C1EE7A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5B5485FC-95D0-4660-9594-2C9BD3B776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2EA358DA-C7E8-4DF8-B7D6-CC58295655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7990E8BB-4369-4845-8436-A6F3FE1D1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D6C050C5-1951-434B-A7FE-D271E73F8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191" name="Graphic 4">
            <a:extLst>
              <a:ext uri="{FF2B5EF4-FFF2-40B4-BE49-F238E27FC236}">
                <a16:creationId xmlns:a16="http://schemas.microsoft.com/office/drawing/2014/main" id="{773717CC-ECEE-4ABF-BA61-C59F468017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0915" y="4748271"/>
            <a:ext cx="1330536" cy="1330521"/>
            <a:chOff x="5734037" y="3067039"/>
            <a:chExt cx="724483" cy="724489"/>
          </a:xfrm>
          <a:solidFill>
            <a:schemeClr val="bg1">
              <a:alpha val="60000"/>
            </a:schemeClr>
          </a:solidFill>
        </p:grpSpPr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9A4FAE41-62DF-4B8E-BD66-8EC206E0E3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564C7F1F-5546-40DC-A16B-C9A3E45777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45583216-FC24-4B75-9703-DBEC401FF8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2FD0A70D-2E7E-4048-8145-0F45EDBBCE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B703C78E-D176-4455-B7B5-2DB4F418DB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AD23B98E-D1FB-4BD9-BA4A-060BC8266E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541992-EEDB-4D6B-BDA9-B66E58A17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08072B3B-B852-4186-ACFE-F614251324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7B5DD2CA-BCBA-4F3E-B472-84006768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C7335DFE-05E4-4D45-B035-1D85E7648E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ADCF9375-A092-491A-960D-A4DBB376C3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95341599-7E99-490F-9AF8-07EAE5C8DB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E1C55EB0-818A-46E6-8D53-5503100290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319B036C-5BD8-4F3B-8935-96D50F410D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A8445880-106C-4DC8-A250-D132F0D6F3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952AA1DD-5DBE-43CD-9B85-63C7626929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2A412466-ED73-4944-83CE-224B1769C2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807E195A-10DB-494C-A547-E1D0C6F616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4CD4AECE-734D-4B90-984F-B2ABFA2B6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2927072E-8001-4AD1-A4C4-2EDBA3BF87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499D6F50-E593-46A3-81D8-73389276B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7A96E600-84B4-452B-AE40-295FC5807E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CBBA17AC-C1AB-4BFC-A051-457275D1D6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488E850C-90D5-4D0F-A57D-7809327EF3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9F98D808-AB13-4D8D-B4C5-9D32153462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95AFFBC0-FF37-4117-86FA-21ABDA17A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ED0AC42A-17B0-4154-968C-CAE2A04C2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4A7A31A0-8490-4B9D-B9CC-7FF28053EB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8188899C-6A74-43D8-B36C-F86B278C8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1537EAA6-95B6-4674-A7B9-40F9AB7F59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F4B29507-C08F-4764-B703-0EB33A0FAC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4200E500-6A99-47FC-A30F-FA4C85DA8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9558677C-76AD-451F-AEEE-C5FEE4179C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79E472E5-A81A-44E7-AEBA-C3A593497B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5CD54F54-9E41-4635-A533-6CC6515E13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B22D6F46-74C0-49D9-8CD8-BC125E973D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C6FAA6EC-EDF6-4522-ACD8-8D4F7FF872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5F8364DC-ED1A-482D-A418-7941B199CB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1896D361-70A8-4528-940B-F306550F88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4D1CB00A-0CE1-4E25-ADCE-9562845F54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E1B6761E-B7C6-4218-B95F-F6DEC0066D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CA081177-DAC3-4667-91A1-4CC885D4A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435007DC-BB8D-43BA-9598-AE79AA262E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46628B8A-02EC-44EF-B52C-5EBAFBCF9C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2DACEC99-8F4C-495C-8EAA-670A3A02ED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C8EFEAD4-1425-4357-9D8A-F326DABC6E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FDA70E94-A082-47D4-B4F8-142AEF1DC3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10E96E8A-1EEA-4F1D-8CFE-12DC9B9E7A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B12D7CC4-A548-4FF7-A6B2-9151CFA9E3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B3F1C68-B597-4669-87F8-C80124ABE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A57037D2-0958-4F34-815F-C8CA7F86AE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30AF3969-3F11-4157-B4B9-33B1314623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1D613E3-18F5-4426-ADEB-DEC123E16B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DC25548-A3A9-4018-A29B-6972D353F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EDE6372-94D2-435D-BD43-A20072D80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729575A6-77E2-4199-8F0A-27C89330A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12EB506D-59AD-4011-80F8-36A2BDB954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92FD46FA-14EB-46A2-B4A3-ECD1F49BAC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1CD84E07-49A9-40E3-B34C-91C156C9C6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F3090306-C384-44A0-8C38-77397133BA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3515E97E-31A4-4273-AB55-8EAD74CB9E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792F63CA-0494-43E2-A0AA-37C35C8326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5389A040-E4CC-4CE7-8B9F-40ECA9ACE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1BA51B23-705C-49BE-B606-8A9B623E0A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B16EF17A-F451-4B5B-9052-33A9116E9D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1B20B7D1-27D7-4E1A-A317-E9E7A105A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1E3FADAF-FD1D-45B2-A40D-EBDD536E75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301257BA-BCE2-4479-A04F-A9DBFAF92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619D0ABC-04D9-405A-A52F-5EEC01762A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123AE5C7-608A-47A7-B7A1-55662B70BF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957BDA1A-3081-45EB-A31E-3F98EC6DC3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683DDA50-C794-4DC5-8297-CFDEB8DCB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FA42024A-A832-4635-9CE6-B968232CE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564D00AA-3E68-4F56-80A0-08D5DFFB61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D988A711-E3E8-4172-AFE1-60E93FF10A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7A89FF34-EE34-461C-A3EF-73AC3801B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80D55E43-BE59-444D-B32B-9C0306A126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639C823F-B16B-4DF7-BA6E-0D832AAB2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E623C08-172F-41EA-90CB-59ED0D583B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94C0577F-0FF9-47D5-8C6D-FC7B4CC31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30C80E9D-7909-4C52-ACAD-80FF874F99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2B9598CE-4E74-4A54-BAB8-59379D2114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E7188EAA-47E1-4B73-8682-C74A0421BE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36900E8B-61F2-411F-B29F-A9CDC6E81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0A25598A-334A-487D-9604-4753EAE81E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C8DBE472-045A-491C-AB7C-4153EE2B00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2F6DD374-5D5F-48BB-8135-8F37EE2C2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386B8A5A-00D0-4291-937B-931B3F19CD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89C10BFA-8067-495D-810E-1F4085F7B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51F94E69-8294-4AB3-A457-3BD4ACF085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AD2859C5-45C5-4EE2-8272-0FA7A02353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14AFB321-1B9D-41AF-9686-8C689A3F4B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5C4403F4-D893-4E4C-8DFE-E79AE6A62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A894316-677B-4B51-AF19-0D3FAF96A7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07FDE9AD-8F5A-44B0-AC7E-30148150D0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A4D0E6BA-489D-4EA4-994E-225F7D078B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7EDFBCCB-EC92-4860-BBDB-2EC6355FEE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459DBA8E-2EB0-4C51-A161-2C595B89D4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FB1BA285-9A95-49B7-A098-F38400D92B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D29C405E-90F5-4AB5-8B5F-3CA2F1815A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F7214FFD-3321-412F-9CA5-4BC6E874F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5F16C3D8-64A1-443D-92A7-EA97518A63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7E4EFAB9-436A-4B6B-A16B-8DA3F614A8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37DDFC3-D7A5-443D-8417-D723296DA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253AC142-F4B4-47E8-BBEE-F7D0F8547F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890AAA82-94E2-41D0-AE92-9C87195CCB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FD33B856-EF4E-40FC-BDA0-9E26203D03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24AEBF58-C8A2-4D00-9AFB-B5012AEA36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21270E55-4211-4529-BDC3-29B80BDF5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16DD7E91-EFBB-4DD7-B30F-4A13C20BED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96260F31-66FB-4E2C-801E-701C2B859A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B5FEE1C9-3961-4400-AD3E-B5AD93A474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34E1BE05-269F-4A13-99FE-2A973A0E77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2D591FBD-65C6-46C4-AF19-875D652DCF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85F7E635-CB45-4346-BBFB-10FF0576AF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3BDAC885-F0B3-4D66-8587-438465298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3427A7E1-71C9-42CC-9CAF-53642DC4D0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20BF60C4-2E5D-473E-96B6-D22BB8536F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C4703732-1088-4448-ACC0-D8BD901B2C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6777D706-23BF-4962-98D3-D5AE7DF4E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783FF777-4C59-44D0-9441-2B40E0A70E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2037F33C-65F4-44B6-9CB2-D32D1552C6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E73BA403-F3FD-4D76-A516-5698375D6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0AF0D29B-415A-4327-A4B4-B5DC8F0AC0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374A9388-F55E-4F94-817D-5BFF0B59E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30C52183-F223-4E0A-B713-C91589CEB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A6BEE030-DC6B-4CB1-A01B-95CC82552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2D41CF67-37BB-443C-85CF-2A05174FD4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65A449CF-396F-45B8-B268-6824A4E89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9C20A7EF-7013-4D6C-ADD8-868A931DF2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F787692C-3BA9-4D4D-82F8-E497797AAE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A6D539D6-A55E-40F5-83AC-A77340524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D4D7922F-CA55-4202-B99F-ED303E7044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4120C846-A602-4B6C-9C07-11D2B0F8A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84B5D527-4684-45F5-84CE-73642492D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FF31CF21-8169-4D45-A115-9CF8D37189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DA8762B9-9CD8-4676-93F5-6C9358A94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A183E80A-70D1-4F52-A92D-D396648CCB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83FBB0F7-E17E-4890-9B66-3625BA1468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708E7BF1-2D4D-44AB-A5CC-0ED91B8462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4B468C4E-6F63-4172-AE1F-8965744DBC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974C7149-F567-4D55-8F48-511DCF3A81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54A551FA-7E10-4D28-9A10-B9A06C0780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1D04F3C0-CE2C-4B8D-A5BD-0E994FD8D9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D2EA9230-DD52-48A9-B268-56744EA506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043A05F5-A8CF-4D01-AF12-95D1ECAE46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1F47C6BC-BD1A-4291-B018-05E5A72E4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E5B89844-FD17-4048-A3F5-35E390C6E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B5593F34-8B0E-4D34-9781-B594E2F5D7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4428E4BB-2263-4D19-8254-C9B54B8565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2366216E-6EA2-4872-8370-C5EC22520F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D66F8E3F-BF33-4F99-A1F0-EB5885BF2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EB506747-ED9D-43EA-BD67-DF7971849E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AC803CE8-FFF7-40EA-AF62-102724C324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7EF6FFCA-06CC-4395-AEB0-425719A42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0D95F285-AAC0-4F32-8665-2677878BD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8DFCCA2E-BF12-4D26-A5A4-A03387546A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2ABEAC60-6AC3-4D6A-95F9-2E79F6BE00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FA6015B7-49FE-4729-B2F4-585F0F305F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D611DEB1-76FE-4625-9449-88E52D15F4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97F031C1-1AA7-4CA7-ADD3-E0577626E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96F5D0CB-22E6-4536-8403-F42527F31F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A32718AB-7401-4F66-9C77-E06C3CF7C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85B6B5F1-D1E4-45A3-8117-348D02D2A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534869FD-184C-42DB-B9DA-293DB67E5E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A781504F-CAFD-4201-B288-8B4A809B43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D9FC8348-2BA6-4631-8AA7-D63CD898C5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C1AF95A2-64EA-45E2-A43B-1EBD56910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CFC80050-240D-434A-BFCB-DE4DA4FAFB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7AD0CF9-D511-2C7E-AC04-535812991C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78935" y="976045"/>
            <a:ext cx="5513889" cy="5123745"/>
          </a:xfrm>
        </p:spPr>
        <p:txBody>
          <a:bodyPr>
            <a:normAutofit/>
          </a:bodyPr>
          <a:lstStyle/>
          <a:p>
            <a:r>
              <a:rPr lang="cs-CZ" sz="3200" dirty="0">
                <a:solidFill>
                  <a:schemeClr val="bg1"/>
                </a:solidFill>
              </a:rPr>
              <a:t>Ojedinělý výskyt</a:t>
            </a:r>
          </a:p>
          <a:p>
            <a:pPr lvl="1"/>
            <a:r>
              <a:rPr lang="cs-CZ" sz="2800" dirty="0">
                <a:solidFill>
                  <a:schemeClr val="bg1"/>
                </a:solidFill>
              </a:rPr>
              <a:t>Špatná výživa</a:t>
            </a:r>
          </a:p>
          <a:p>
            <a:pPr lvl="1"/>
            <a:r>
              <a:rPr lang="cs-CZ" sz="2800" dirty="0">
                <a:solidFill>
                  <a:schemeClr val="bg1"/>
                </a:solidFill>
              </a:rPr>
              <a:t>Nevyhovující zoohygienické podmínky</a:t>
            </a:r>
          </a:p>
          <a:p>
            <a:pPr lvl="1"/>
            <a:r>
              <a:rPr lang="cs-CZ" sz="2800" dirty="0">
                <a:solidFill>
                  <a:schemeClr val="bg1"/>
                </a:solidFill>
              </a:rPr>
              <a:t>Nadměrná námaha</a:t>
            </a:r>
          </a:p>
          <a:p>
            <a:pPr lvl="1"/>
            <a:r>
              <a:rPr lang="cs-CZ" sz="2800" dirty="0">
                <a:solidFill>
                  <a:schemeClr val="bg1"/>
                </a:solidFill>
              </a:rPr>
              <a:t>Genetická dispozice</a:t>
            </a:r>
          </a:p>
          <a:p>
            <a:r>
              <a:rPr lang="cs-CZ" sz="3200" u="sng" dirty="0">
                <a:solidFill>
                  <a:schemeClr val="bg1"/>
                </a:solidFill>
              </a:rPr>
              <a:t>Příklad</a:t>
            </a:r>
            <a:r>
              <a:rPr lang="cs-CZ" sz="3200" dirty="0">
                <a:solidFill>
                  <a:schemeClr val="bg1"/>
                </a:solidFill>
              </a:rPr>
              <a:t>: avitaminózy, anémie, nemoci končetin, záněty, poruchy reprodukční funkce</a:t>
            </a:r>
          </a:p>
        </p:txBody>
      </p:sp>
    </p:spTree>
    <p:extLst>
      <p:ext uri="{BB962C8B-B14F-4D97-AF65-F5344CB8AC3E}">
        <p14:creationId xmlns:p14="http://schemas.microsoft.com/office/powerpoint/2010/main" val="34467240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99050EE-26AF-4253-BD50-F0FCD965A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284" y="575361"/>
            <a:ext cx="5707277" cy="5707277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72AA5F7D-1D6F-500E-1046-0F3F56A49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8452"/>
            <a:ext cx="4974771" cy="3587786"/>
          </a:xfrm>
        </p:spPr>
        <p:txBody>
          <a:bodyPr>
            <a:normAutofit/>
          </a:bodyPr>
          <a:lstStyle/>
          <a:p>
            <a:pPr algn="ctr"/>
            <a:r>
              <a:rPr lang="cs-CZ" dirty="0">
                <a:solidFill>
                  <a:schemeClr val="bg1"/>
                </a:solidFill>
              </a:rPr>
              <a:t>Infekční (nakažlivé) nemoci</a:t>
            </a:r>
          </a:p>
        </p:txBody>
      </p:sp>
      <p:grpSp>
        <p:nvGrpSpPr>
          <p:cNvPr id="12" name="Graphic 190">
            <a:extLst>
              <a:ext uri="{FF2B5EF4-FFF2-40B4-BE49-F238E27FC236}">
                <a16:creationId xmlns:a16="http://schemas.microsoft.com/office/drawing/2014/main" id="{00E015F5-1A99-4E40-BC3D-770780299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93117" y="1193254"/>
            <a:ext cx="1291642" cy="429215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E6F571-2BB7-46DA-A3D9-B32ADDC16A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905CC16-753C-4B9F-B3E2-C456795AE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6" name="Graphic 212">
            <a:extLst>
              <a:ext uri="{FF2B5EF4-FFF2-40B4-BE49-F238E27FC236}">
                <a16:creationId xmlns:a16="http://schemas.microsoft.com/office/drawing/2014/main" id="{D0C78466-EB6E-45A0-99A6-A00789ACD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7727" y="421588"/>
            <a:ext cx="1291468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8" name="Graphic 212">
            <a:extLst>
              <a:ext uri="{FF2B5EF4-FFF2-40B4-BE49-F238E27FC236}">
                <a16:creationId xmlns:a16="http://schemas.microsoft.com/office/drawing/2014/main" id="{E99F76E4-5DFD-4DBE-B042-66FBCD118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7727" y="421588"/>
            <a:ext cx="1291468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0" name="Graphic 4">
            <a:extLst>
              <a:ext uri="{FF2B5EF4-FFF2-40B4-BE49-F238E27FC236}">
                <a16:creationId xmlns:a16="http://schemas.microsoft.com/office/drawing/2014/main" id="{5468B3A9-705E-43C3-A742-0619B0D8F2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0915" y="4748271"/>
            <a:ext cx="1330536" cy="1330521"/>
            <a:chOff x="5734037" y="3067039"/>
            <a:chExt cx="724483" cy="724489"/>
          </a:xfrm>
          <a:solidFill>
            <a:schemeClr val="bg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9D439AD-5D67-497C-B831-D17FC3E592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3F54BF2-C71C-45C5-9408-3B5E011B0F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BBABE17-DB56-44AB-934B-63C07C79F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B483D20-A128-4076-AF54-88646172B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5EFA818-FDDA-49E9-B11F-E9DC1854A9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EA1F8728-F8F7-4828-A718-A15E7663EA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DA1F73F-AA1D-41D7-BAAB-292FD94A3E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9441DEA-C85E-4B9C-A48D-8437854C4C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5EBAA20-1368-4495-8D7C-820FAD8EC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FB92591-626C-4D2B-A3E6-EC8742D67B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392448D-513F-4528-9D8D-A151982041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61946BAE-1546-4EA4-A108-A799BF5D2C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2A8EC93-6A35-4D37-A8CB-59362BF875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FC3ECA2-E914-4D83-ABF9-B9FFD96E92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12B1108-9AAC-4F10-A64F-0D6963E518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84CDA0C-B2AB-4791-83B1-C053C061D6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F857BF6B-E0CA-49C0-8827-B44CE8B928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6D7B06A7-ADDF-4F27-B11F-08422FC18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E8B0DA6C-71D7-4FCB-AE4C-035E0ADB50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EB078173-ADFB-480D-91A4-4D71C0109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AAA4027A-C97B-4C9A-B04C-EBE2112200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C06DA92D-C6D0-4C7D-98CF-D9576912E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D6601653-3941-4C9B-BD39-62EECE23A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BC4A394-4FFE-4BFE-9A59-2B624E071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EB4EABA5-FDCF-4F6F-8FF1-6FDFF5058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10F3C940-2320-488A-B24C-AB0A4FB53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525BA82-37D8-47ED-AFF6-AE57124A4E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C2D78955-C80F-4DA3-83AA-D28A5A6FA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C23DAAC-7C06-4012-8CBB-8E3126B68B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0D19F80-DC80-49EC-8EDD-7889092C1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11F50BB3-EA39-4693-BAE1-1101EF0A41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00EFD45B-69A8-47F6-A5BF-779F7EB49F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9E53C464-7272-4EBC-830B-CB29A96988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B6BF10CE-C2AD-487A-9402-8D5C746ECF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064C7FE-F8EB-47EF-97FA-348A520599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991C553-06A1-4F26-BBBC-80F7E11E7A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CE9C081-2191-4C84-956E-F106BB015C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292F6F03-BC34-40C6-8F17-7A169CD72F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A5101B80-7351-4F0F-AB7D-3E40B4D266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570EE1D-95AC-4660-8E96-7C8A36FEB6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385D9A56-2D15-4E0A-B981-E168F09064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28D0BA2F-9273-4EAA-AD17-C4EFE11403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512CC54E-7976-4DC9-984C-45C2A23A72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C8A3FC72-9FF9-41F6-97E0-45A0FEE946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48918C16-C9B6-40D5-93A0-DB547B644A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A05612C6-4858-4854-A3D3-90CF1E1C75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A8E88D77-C726-4008-849C-DA7361F885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24CFE7CA-C955-4365-90C3-6272CB9A3C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38B43FC8-B81C-490A-A346-4C6235DA8A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14D0221-0C97-4C71-B535-7506956EF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ED0C44EA-BD25-49A3-9EB8-9D8DED7C19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3C9CCF2-15CC-4F7D-87F5-7FFEBAC9C2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AA321D8-1D2C-472C-A2DB-EBB74498DD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4680C1-4BB5-45DB-A558-82514418CF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C94F4CEF-82DD-4CFB-8EE3-4AB115F6A0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4F186C9C-C620-4426-A674-E40F808F66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8929942C-BA3F-40EF-94DD-4A5C22C5B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D234974B-3555-465B-95A7-1C63CE7386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0E38F9FD-48AC-4C3E-9E75-D1C0B555E0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3AA72E26-5C3D-4231-9042-E00AE43E80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6684433D-3C9E-4C19-A801-D51CF3064F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ADB0C3D-A021-4F40-93B3-76B61334F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41781C18-F408-401D-8A86-99FFBB9895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9D958D9F-E4B0-48B1-ADA4-3053AFB5D9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43EFCD46-F0FB-499C-81B9-3508FE5C8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2B6A130F-CB85-4BDA-8DDF-8DAAB2F7D0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9359DA40-CA94-4B1F-9BE6-C800BEEC77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73304FCD-8DAD-4BC8-A16E-84DDCA07FF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BCB4864C-8F67-4BE7-89CC-664EA25EC5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845F543D-67FC-4640-A2A1-69DA6D0528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DBDB2A9C-60E5-4F7E-BA2B-4DD1595FB9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72B10DA2-D88E-4952-BDB5-102E61B4B2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AC5F5BED-3698-4F52-9977-D8CA2DC031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E19CCEBC-AD20-45B2-A751-42B40BB31C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3A978AD9-9A35-4B89-B3BC-61E54AD9EB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77D8C808-AFC9-42DD-B253-0048903791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EECD0BF1-7C64-407E-8306-4C447B1D32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953B0F94-AC35-4CB2-878D-1DC7D68BE9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08EA50C2-BB5F-4368-AA91-67B207C1AB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DE45A7FE-0A45-45F6-8417-EBDA5A12D8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DA8B8DC8-F88C-432E-A8C2-8D13FE874F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D02C5430-233D-49F7-B852-181D2B2F61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76DB286F-9E15-441C-8697-57007B76C1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534DC0EE-15B7-44AE-A7DC-8B5E22688A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4FBE9900-F640-4248-9C4C-EDBE5E00AF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37FF04AF-F86B-49F8-AAB5-DA696591A1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710DCFEA-4572-47A3-A6BE-7B21F5758C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BA42ED8E-CCC8-478F-9EF4-625B633071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46DF8F4-DF09-4E6C-887F-C9269E56A5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7FF3916E-5C82-4956-A88B-81BFAC91B8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7E5CF7AE-ED45-4AB5-9AEB-56FC964BFA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CFB132C-BEB1-4897-B1A4-97422811F6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4EE49F21-E336-41BC-8256-85A9AB597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C62510EE-BDCD-4393-9AD7-2D0C9A722D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2420F94B-4F00-4C6C-97E3-BA5B5E6871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E712560A-A110-4132-85D5-21BBBFA8C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D1E3102B-23D5-43AE-A67D-583AAA52BA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9D5ABE4E-EB80-423C-BBCE-9C1B77D9B0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BEB8CCC5-38F5-4892-A00B-14B645BBDF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8860175F-F7D5-4464-AD61-5B435528F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E28C20B0-98AA-4A5B-8CE1-236A3F6CAA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8A56719F-13F0-4B75-8C04-DAACD8FD86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B30555DA-285C-4859-83DE-B16FF6DB13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67AF00E9-C8D6-41C4-9703-5468F51639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07F88BD-A2E8-4F25-BB43-9372C6C9F3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DFAE35DA-8283-4F4B-8C00-FF8EFE39B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4340DEBE-A255-48E2-B7B2-AE881651C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FE968FB9-507A-4F2E-B346-15995081B1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4DA99BD8-9C2B-46BF-AA27-ED405540D1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50C84F67-D2C2-48DF-8537-DF99C6024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F5CAEB9A-26A6-4FBF-916B-19FC9B0BFC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E4DEDE1B-4819-4E4B-849E-330D7DF56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C441B73E-F19C-4313-8F46-F600603B36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014FE805-EF51-4859-A6DF-CF75F9A0F5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624CF2A5-BD9E-4570-8560-063BC70F2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6BEC415C-7946-43B2-9AC8-348B6B5CD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1B615AD5-3365-43D4-8E16-377A2A2F97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9D184DFD-DD33-491E-90FF-6E4ECA2668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31B62FE1-0262-4B09-ABEA-8AA010137D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20C539C6-FAA9-4EBE-93D9-1F946E1449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8C6EF3FF-09E5-4099-A49B-CA364A6E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B3C5E06F-8F1E-4771-AAE4-B34B1D6A3D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538D5AE9-76CC-4AE4-B026-656EDCB01B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30F1A9B9-52AB-4527-BD4A-1802F7C960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46A57D78-C020-4EEF-971D-0C8802889A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7666D7A3-5ABF-4EDE-A0C5-F2099B2D86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13BC460A-E0FF-4658-A2FD-A3AF4D51DF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26467CC2-3AB3-4D37-8323-385B7399F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563A1F58-33CE-4EDF-B902-3F43F69DA2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DDCFAB2F-7E88-4A57-999A-2506A1FE71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571BEB66-3787-441F-BB54-80C05C6F13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641DC095-611E-4979-8664-6C0EB878FC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210B9ECF-D859-4919-A9D6-3208548F00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4FBC31D4-7E98-452C-8A87-822DE0432C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E302346C-F328-435B-87ED-447C6F8542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B94F507E-9E94-432E-AE8A-A6CB2C5D05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1FFAC4F0-FD7F-4943-B60E-E276F8B23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A8A5D871-92FD-43C3-BF94-0B524FA7D3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6A79A241-1665-453E-ADD4-18892D4F8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81EABE18-4189-4E07-93C9-9B76673E3E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B658A0EE-6F09-4EF7-B5E7-F23A556BD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15EB019C-C95B-4DE3-BD17-DC20F8007A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2948B3ED-79C1-47C8-B712-0BFB5536C3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13387DB9-900B-422D-90F7-C5C7EB5D59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48FDCCF3-E6D6-4CD0-9D47-02FE785C7A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BC14E8F6-33F6-47CE-9A24-EA71D7149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F78CC38F-63FC-4552-B17B-8D79D3C8F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89042823-A002-49CE-B03D-ED1291DC13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96EFC6CE-198B-489B-B1EE-72CE842628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49FEA23D-54D9-45D7-9325-1E2F638C9C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2DB04EE3-370F-49CE-BCFE-C2999C3CF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8BCBCC34-797D-41A8-8AD1-7E03E1BBFF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AFF5C1F8-0EDE-4835-89E6-1FCB2EA395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6171D504-6300-457C-AFCC-064DBB3FC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62ACE739-C8C4-4495-B04C-C3AFC4481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3F4771CD-CDCA-4FFE-8EF5-E42D1781E7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A10C0BFE-A8F9-4E21-9DFD-37A4D26C62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4D8D4EF9-4EF7-4538-A4AE-439F9335EA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7E0500AB-5662-43B9-95C2-2EC80CC54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984021AD-A6A2-4CDA-A953-72FBA7598B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FD1FBF47-CAC8-4385-9DC7-C9BB6167E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FBAEE482-005F-4288-8D66-09EA246C45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2C5DCF49-33DE-4AFF-818E-42F59F280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866903F3-208B-46D5-925B-254DC74291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2550D219-E342-4A38-BB89-575C1EE7A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5B5485FC-95D0-4660-9594-2C9BD3B776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2EA358DA-C7E8-4DF8-B7D6-CC58295655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7990E8BB-4369-4845-8436-A6F3FE1D1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D6C050C5-1951-434B-A7FE-D271E73F8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191" name="Graphic 4">
            <a:extLst>
              <a:ext uri="{FF2B5EF4-FFF2-40B4-BE49-F238E27FC236}">
                <a16:creationId xmlns:a16="http://schemas.microsoft.com/office/drawing/2014/main" id="{773717CC-ECEE-4ABF-BA61-C59F468017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0915" y="4748271"/>
            <a:ext cx="1330536" cy="1330521"/>
            <a:chOff x="5734037" y="3067039"/>
            <a:chExt cx="724483" cy="724489"/>
          </a:xfrm>
          <a:solidFill>
            <a:schemeClr val="bg1">
              <a:alpha val="60000"/>
            </a:schemeClr>
          </a:solidFill>
        </p:grpSpPr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9A4FAE41-62DF-4B8E-BD66-8EC206E0E3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564C7F1F-5546-40DC-A16B-C9A3E45777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45583216-FC24-4B75-9703-DBEC401FF8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2FD0A70D-2E7E-4048-8145-0F45EDBBCE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B703C78E-D176-4455-B7B5-2DB4F418DB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AD23B98E-D1FB-4BD9-BA4A-060BC8266E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541992-EEDB-4D6B-BDA9-B66E58A17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08072B3B-B852-4186-ACFE-F614251324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7B5DD2CA-BCBA-4F3E-B472-84006768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C7335DFE-05E4-4D45-B035-1D85E7648E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ADCF9375-A092-491A-960D-A4DBB376C3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95341599-7E99-490F-9AF8-07EAE5C8DB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E1C55EB0-818A-46E6-8D53-5503100290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319B036C-5BD8-4F3B-8935-96D50F410D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A8445880-106C-4DC8-A250-D132F0D6F3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952AA1DD-5DBE-43CD-9B85-63C7626929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2A412466-ED73-4944-83CE-224B1769C2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807E195A-10DB-494C-A547-E1D0C6F616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4CD4AECE-734D-4B90-984F-B2ABFA2B6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2927072E-8001-4AD1-A4C4-2EDBA3BF87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499D6F50-E593-46A3-81D8-73389276B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7A96E600-84B4-452B-AE40-295FC5807E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CBBA17AC-C1AB-4BFC-A051-457275D1D6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488E850C-90D5-4D0F-A57D-7809327EF3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9F98D808-AB13-4D8D-B4C5-9D32153462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95AFFBC0-FF37-4117-86FA-21ABDA17A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ED0AC42A-17B0-4154-968C-CAE2A04C2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4A7A31A0-8490-4B9D-B9CC-7FF28053EB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8188899C-6A74-43D8-B36C-F86B278C8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1537EAA6-95B6-4674-A7B9-40F9AB7F59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F4B29507-C08F-4764-B703-0EB33A0FAC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4200E500-6A99-47FC-A30F-FA4C85DA8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9558677C-76AD-451F-AEEE-C5FEE4179C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79E472E5-A81A-44E7-AEBA-C3A593497B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5CD54F54-9E41-4635-A533-6CC6515E13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B22D6F46-74C0-49D9-8CD8-BC125E973D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C6FAA6EC-EDF6-4522-ACD8-8D4F7FF872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5F8364DC-ED1A-482D-A418-7941B199CB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1896D361-70A8-4528-940B-F306550F88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4D1CB00A-0CE1-4E25-ADCE-9562845F54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E1B6761E-B7C6-4218-B95F-F6DEC0066D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CA081177-DAC3-4667-91A1-4CC885D4A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435007DC-BB8D-43BA-9598-AE79AA262E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46628B8A-02EC-44EF-B52C-5EBAFBCF9C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2DACEC99-8F4C-495C-8EAA-670A3A02ED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C8EFEAD4-1425-4357-9D8A-F326DABC6E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FDA70E94-A082-47D4-B4F8-142AEF1DC3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10E96E8A-1EEA-4F1D-8CFE-12DC9B9E7A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B12D7CC4-A548-4FF7-A6B2-9151CFA9E3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B3F1C68-B597-4669-87F8-C80124ABE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A57037D2-0958-4F34-815F-C8CA7F86AE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30AF3969-3F11-4157-B4B9-33B1314623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1D613E3-18F5-4426-ADEB-DEC123E16B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DC25548-A3A9-4018-A29B-6972D353F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EDE6372-94D2-435D-BD43-A20072D80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729575A6-77E2-4199-8F0A-27C89330A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12EB506D-59AD-4011-80F8-36A2BDB954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92FD46FA-14EB-46A2-B4A3-ECD1F49BAC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1CD84E07-49A9-40E3-B34C-91C156C9C6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F3090306-C384-44A0-8C38-77397133BA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3515E97E-31A4-4273-AB55-8EAD74CB9E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792F63CA-0494-43E2-A0AA-37C35C8326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5389A040-E4CC-4CE7-8B9F-40ECA9ACE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1BA51B23-705C-49BE-B606-8A9B623E0A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B16EF17A-F451-4B5B-9052-33A9116E9D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1B20B7D1-27D7-4E1A-A317-E9E7A105A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1E3FADAF-FD1D-45B2-A40D-EBDD536E75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301257BA-BCE2-4479-A04F-A9DBFAF92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619D0ABC-04D9-405A-A52F-5EEC01762A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123AE5C7-608A-47A7-B7A1-55662B70BF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957BDA1A-3081-45EB-A31E-3F98EC6DC3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683DDA50-C794-4DC5-8297-CFDEB8DCB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FA42024A-A832-4635-9CE6-B968232CE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564D00AA-3E68-4F56-80A0-08D5DFFB61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D988A711-E3E8-4172-AFE1-60E93FF10A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7A89FF34-EE34-461C-A3EF-73AC3801B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80D55E43-BE59-444D-B32B-9C0306A126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639C823F-B16B-4DF7-BA6E-0D832AAB2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E623C08-172F-41EA-90CB-59ED0D583B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94C0577F-0FF9-47D5-8C6D-FC7B4CC31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30C80E9D-7909-4C52-ACAD-80FF874F99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2B9598CE-4E74-4A54-BAB8-59379D2114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E7188EAA-47E1-4B73-8682-C74A0421BE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36900E8B-61F2-411F-B29F-A9CDC6E81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0A25598A-334A-487D-9604-4753EAE81E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C8DBE472-045A-491C-AB7C-4153EE2B00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2F6DD374-5D5F-48BB-8135-8F37EE2C2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386B8A5A-00D0-4291-937B-931B3F19CD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89C10BFA-8067-495D-810E-1F4085F7B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51F94E69-8294-4AB3-A457-3BD4ACF085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AD2859C5-45C5-4EE2-8272-0FA7A02353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14AFB321-1B9D-41AF-9686-8C689A3F4B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5C4403F4-D893-4E4C-8DFE-E79AE6A62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A894316-677B-4B51-AF19-0D3FAF96A7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07FDE9AD-8F5A-44B0-AC7E-30148150D0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A4D0E6BA-489D-4EA4-994E-225F7D078B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7EDFBCCB-EC92-4860-BBDB-2EC6355FEE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459DBA8E-2EB0-4C51-A161-2C595B89D4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FB1BA285-9A95-49B7-A098-F38400D92B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D29C405E-90F5-4AB5-8B5F-3CA2F1815A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F7214FFD-3321-412F-9CA5-4BC6E874F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5F16C3D8-64A1-443D-92A7-EA97518A63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7E4EFAB9-436A-4B6B-A16B-8DA3F614A8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37DDFC3-D7A5-443D-8417-D723296DA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253AC142-F4B4-47E8-BBEE-F7D0F8547F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890AAA82-94E2-41D0-AE92-9C87195CCB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FD33B856-EF4E-40FC-BDA0-9E26203D03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24AEBF58-C8A2-4D00-9AFB-B5012AEA36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21270E55-4211-4529-BDC3-29B80BDF5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16DD7E91-EFBB-4DD7-B30F-4A13C20BED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96260F31-66FB-4E2C-801E-701C2B859A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B5FEE1C9-3961-4400-AD3E-B5AD93A474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34E1BE05-269F-4A13-99FE-2A973A0E77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2D591FBD-65C6-46C4-AF19-875D652DCF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85F7E635-CB45-4346-BBFB-10FF0576AF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3BDAC885-F0B3-4D66-8587-438465298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3427A7E1-71C9-42CC-9CAF-53642DC4D0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20BF60C4-2E5D-473E-96B6-D22BB8536F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C4703732-1088-4448-ACC0-D8BD901B2C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6777D706-23BF-4962-98D3-D5AE7DF4E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783FF777-4C59-44D0-9441-2B40E0A70E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2037F33C-65F4-44B6-9CB2-D32D1552C6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E73BA403-F3FD-4D76-A516-5698375D6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0AF0D29B-415A-4327-A4B4-B5DC8F0AC0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374A9388-F55E-4F94-817D-5BFF0B59E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30C52183-F223-4E0A-B713-C91589CEB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A6BEE030-DC6B-4CB1-A01B-95CC82552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2D41CF67-37BB-443C-85CF-2A05174FD4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65A449CF-396F-45B8-B268-6824A4E89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9C20A7EF-7013-4D6C-ADD8-868A931DF2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F787692C-3BA9-4D4D-82F8-E497797AAE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A6D539D6-A55E-40F5-83AC-A77340524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D4D7922F-CA55-4202-B99F-ED303E7044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4120C846-A602-4B6C-9C07-11D2B0F8A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84B5D527-4684-45F5-84CE-73642492D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FF31CF21-8169-4D45-A115-9CF8D37189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DA8762B9-9CD8-4676-93F5-6C9358A94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A183E80A-70D1-4F52-A92D-D396648CCB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83FBB0F7-E17E-4890-9B66-3625BA1468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708E7BF1-2D4D-44AB-A5CC-0ED91B8462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4B468C4E-6F63-4172-AE1F-8965744DBC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974C7149-F567-4D55-8F48-511DCF3A81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54A551FA-7E10-4D28-9A10-B9A06C0780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1D04F3C0-CE2C-4B8D-A5BD-0E994FD8D9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D2EA9230-DD52-48A9-B268-56744EA506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043A05F5-A8CF-4D01-AF12-95D1ECAE46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1F47C6BC-BD1A-4291-B018-05E5A72E4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E5B89844-FD17-4048-A3F5-35E390C6E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B5593F34-8B0E-4D34-9781-B594E2F5D7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4428E4BB-2263-4D19-8254-C9B54B8565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2366216E-6EA2-4872-8370-C5EC22520F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D66F8E3F-BF33-4F99-A1F0-EB5885BF2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EB506747-ED9D-43EA-BD67-DF7971849E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AC803CE8-FFF7-40EA-AF62-102724C324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7EF6FFCA-06CC-4395-AEB0-425719A42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0D95F285-AAC0-4F32-8665-2677878BD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8DFCCA2E-BF12-4D26-A5A4-A03387546A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2ABEAC60-6AC3-4D6A-95F9-2E79F6BE00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FA6015B7-49FE-4729-B2F4-585F0F305F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D611DEB1-76FE-4625-9449-88E52D15F4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97F031C1-1AA7-4CA7-ADD3-E0577626E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96F5D0CB-22E6-4536-8403-F42527F31F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A32718AB-7401-4F66-9C77-E06C3CF7C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85B6B5F1-D1E4-45A3-8117-348D02D2A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534869FD-184C-42DB-B9DA-293DB67E5E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A781504F-CAFD-4201-B288-8B4A809B43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D9FC8348-2BA6-4631-8AA7-D63CD898C5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C1AF95A2-64EA-45E2-A43B-1EBD56910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CFC80050-240D-434A-BFCB-DE4DA4FAFB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7AD0CF9-D511-2C7E-AC04-535812991C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8103" y="1263023"/>
            <a:ext cx="5513889" cy="5123745"/>
          </a:xfrm>
        </p:spPr>
        <p:txBody>
          <a:bodyPr>
            <a:normAutofit/>
          </a:bodyPr>
          <a:lstStyle/>
          <a:p>
            <a:r>
              <a:rPr lang="cs-CZ" sz="3200" dirty="0">
                <a:solidFill>
                  <a:schemeClr val="bg1"/>
                </a:solidFill>
              </a:rPr>
              <a:t>Postihují více zvířat najednou</a:t>
            </a:r>
          </a:p>
          <a:p>
            <a:pPr lvl="1"/>
            <a:r>
              <a:rPr lang="cs-CZ" sz="2800" dirty="0">
                <a:solidFill>
                  <a:schemeClr val="bg1"/>
                </a:solidFill>
              </a:rPr>
              <a:t>Viry</a:t>
            </a:r>
          </a:p>
          <a:p>
            <a:pPr lvl="1"/>
            <a:r>
              <a:rPr lang="cs-CZ" sz="2800" dirty="0">
                <a:solidFill>
                  <a:schemeClr val="bg1"/>
                </a:solidFill>
              </a:rPr>
              <a:t>Bakterie</a:t>
            </a:r>
          </a:p>
          <a:p>
            <a:pPr lvl="1"/>
            <a:r>
              <a:rPr lang="cs-CZ" sz="2800" dirty="0">
                <a:solidFill>
                  <a:schemeClr val="bg1"/>
                </a:solidFill>
              </a:rPr>
              <a:t>Parazité</a:t>
            </a:r>
          </a:p>
          <a:p>
            <a:r>
              <a:rPr lang="cs-CZ" sz="3200" u="sng" dirty="0">
                <a:solidFill>
                  <a:schemeClr val="bg1"/>
                </a:solidFill>
              </a:rPr>
              <a:t>Příklad</a:t>
            </a:r>
            <a:r>
              <a:rPr lang="cs-CZ" sz="3200" dirty="0">
                <a:solidFill>
                  <a:schemeClr val="bg1"/>
                </a:solidFill>
              </a:rPr>
              <a:t>: červenka, mor prasat, chřipka, </a:t>
            </a:r>
            <a:r>
              <a:rPr lang="cs-CZ" sz="3200" dirty="0" err="1">
                <a:solidFill>
                  <a:schemeClr val="bg1"/>
                </a:solidFill>
              </a:rPr>
              <a:t>sípavka</a:t>
            </a:r>
            <a:r>
              <a:rPr lang="cs-CZ" sz="3200" dirty="0">
                <a:solidFill>
                  <a:schemeClr val="bg1"/>
                </a:solidFill>
              </a:rPr>
              <a:t>, </a:t>
            </a:r>
            <a:r>
              <a:rPr lang="cs-CZ" sz="3200" dirty="0" err="1">
                <a:solidFill>
                  <a:schemeClr val="bg1"/>
                </a:solidFill>
              </a:rPr>
              <a:t>Aujezskyho</a:t>
            </a:r>
            <a:r>
              <a:rPr lang="cs-CZ" sz="3200" dirty="0">
                <a:solidFill>
                  <a:schemeClr val="bg1"/>
                </a:solidFill>
              </a:rPr>
              <a:t> choroba, gastroenteritida, enzootická pneumonie</a:t>
            </a:r>
          </a:p>
        </p:txBody>
      </p:sp>
    </p:spTree>
    <p:extLst>
      <p:ext uri="{BB962C8B-B14F-4D97-AF65-F5344CB8AC3E}">
        <p14:creationId xmlns:p14="http://schemas.microsoft.com/office/powerpoint/2010/main" val="30039855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4C39B38B-5C46-BAD5-AFA7-7D9FE1BD1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2368" y="923293"/>
            <a:ext cx="4030132" cy="4641720"/>
          </a:xfrm>
        </p:spPr>
        <p:txBody>
          <a:bodyPr>
            <a:normAutofit/>
          </a:bodyPr>
          <a:lstStyle/>
          <a:p>
            <a:pPr algn="ctr"/>
            <a:r>
              <a:rPr lang="cs-CZ" dirty="0">
                <a:solidFill>
                  <a:schemeClr val="bg1"/>
                </a:solidFill>
              </a:rPr>
              <a:t>Parazitózy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0A98BBA-D3EA-45DC-B8A1-9C61397D4C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55862"/>
            <a:ext cx="1170294" cy="274629"/>
          </a:xfrm>
          <a:custGeom>
            <a:avLst/>
            <a:gdLst>
              <a:gd name="connsiteX0" fmla="*/ 453342 w 1170294"/>
              <a:gd name="connsiteY0" fmla="*/ 0 h 274629"/>
              <a:gd name="connsiteX1" fmla="*/ 689085 w 1170294"/>
              <a:gd name="connsiteY1" fmla="*/ 235744 h 274629"/>
              <a:gd name="connsiteX2" fmla="*/ 924829 w 1170294"/>
              <a:gd name="connsiteY2" fmla="*/ 0 h 274629"/>
              <a:gd name="connsiteX3" fmla="*/ 1170294 w 1170294"/>
              <a:gd name="connsiteY3" fmla="*/ 245465 h 274629"/>
              <a:gd name="connsiteX4" fmla="*/ 1153282 w 1170294"/>
              <a:gd name="connsiteY4" fmla="*/ 264908 h 274629"/>
              <a:gd name="connsiteX5" fmla="*/ 924829 w 1170294"/>
              <a:gd name="connsiteY5" fmla="*/ 38885 h 274629"/>
              <a:gd name="connsiteX6" fmla="*/ 689085 w 1170294"/>
              <a:gd name="connsiteY6" fmla="*/ 274629 h 274629"/>
              <a:gd name="connsiteX7" fmla="*/ 453342 w 1170294"/>
              <a:gd name="connsiteY7" fmla="*/ 38885 h 274629"/>
              <a:gd name="connsiteX8" fmla="*/ 215168 w 1170294"/>
              <a:gd name="connsiteY8" fmla="*/ 274629 h 274629"/>
              <a:gd name="connsiteX9" fmla="*/ 0 w 1170294"/>
              <a:gd name="connsiteY9" fmla="*/ 59462 h 274629"/>
              <a:gd name="connsiteX10" fmla="*/ 0 w 1170294"/>
              <a:gd name="connsiteY10" fmla="*/ 20577 h 274629"/>
              <a:gd name="connsiteX11" fmla="*/ 215168 w 1170294"/>
              <a:gd name="connsiteY11" fmla="*/ 235744 h 274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70294" h="274629">
                <a:moveTo>
                  <a:pt x="453342" y="0"/>
                </a:moveTo>
                <a:lnTo>
                  <a:pt x="689085" y="235744"/>
                </a:lnTo>
                <a:lnTo>
                  <a:pt x="924829" y="0"/>
                </a:lnTo>
                <a:lnTo>
                  <a:pt x="1170294" y="245465"/>
                </a:lnTo>
                <a:lnTo>
                  <a:pt x="1153282" y="264908"/>
                </a:lnTo>
                <a:lnTo>
                  <a:pt x="924829" y="38885"/>
                </a:lnTo>
                <a:lnTo>
                  <a:pt x="689085" y="274629"/>
                </a:lnTo>
                <a:lnTo>
                  <a:pt x="453342" y="38885"/>
                </a:lnTo>
                <a:lnTo>
                  <a:pt x="215168" y="274629"/>
                </a:lnTo>
                <a:lnTo>
                  <a:pt x="0" y="59462"/>
                </a:lnTo>
                <a:lnTo>
                  <a:pt x="0" y="20577"/>
                </a:lnTo>
                <a:lnTo>
                  <a:pt x="215168" y="235744"/>
                </a:lnTo>
                <a:close/>
              </a:path>
            </a:pathLst>
          </a:cu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E4C95AB-2BD7-4E38-BDD5-1E41F3A9B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90894"/>
            <a:ext cx="1170294" cy="274629"/>
          </a:xfrm>
          <a:custGeom>
            <a:avLst/>
            <a:gdLst>
              <a:gd name="connsiteX0" fmla="*/ 453342 w 1170294"/>
              <a:gd name="connsiteY0" fmla="*/ 0 h 274629"/>
              <a:gd name="connsiteX1" fmla="*/ 689085 w 1170294"/>
              <a:gd name="connsiteY1" fmla="*/ 238174 h 274629"/>
              <a:gd name="connsiteX2" fmla="*/ 924829 w 1170294"/>
              <a:gd name="connsiteY2" fmla="*/ 0 h 274629"/>
              <a:gd name="connsiteX3" fmla="*/ 1170294 w 1170294"/>
              <a:gd name="connsiteY3" fmla="*/ 247895 h 274629"/>
              <a:gd name="connsiteX4" fmla="*/ 1153282 w 1170294"/>
              <a:gd name="connsiteY4" fmla="*/ 264908 h 274629"/>
              <a:gd name="connsiteX5" fmla="*/ 924829 w 1170294"/>
              <a:gd name="connsiteY5" fmla="*/ 38885 h 274629"/>
              <a:gd name="connsiteX6" fmla="*/ 689085 w 1170294"/>
              <a:gd name="connsiteY6" fmla="*/ 274629 h 274629"/>
              <a:gd name="connsiteX7" fmla="*/ 453342 w 1170294"/>
              <a:gd name="connsiteY7" fmla="*/ 38885 h 274629"/>
              <a:gd name="connsiteX8" fmla="*/ 215168 w 1170294"/>
              <a:gd name="connsiteY8" fmla="*/ 274629 h 274629"/>
              <a:gd name="connsiteX9" fmla="*/ 0 w 1170294"/>
              <a:gd name="connsiteY9" fmla="*/ 59462 h 274629"/>
              <a:gd name="connsiteX10" fmla="*/ 0 w 1170294"/>
              <a:gd name="connsiteY10" fmla="*/ 20789 h 274629"/>
              <a:gd name="connsiteX11" fmla="*/ 215168 w 1170294"/>
              <a:gd name="connsiteY11" fmla="*/ 238174 h 274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70294" h="274629">
                <a:moveTo>
                  <a:pt x="453342" y="0"/>
                </a:moveTo>
                <a:lnTo>
                  <a:pt x="689085" y="238174"/>
                </a:lnTo>
                <a:lnTo>
                  <a:pt x="924829" y="0"/>
                </a:lnTo>
                <a:lnTo>
                  <a:pt x="1170294" y="247895"/>
                </a:lnTo>
                <a:lnTo>
                  <a:pt x="1153282" y="264908"/>
                </a:lnTo>
                <a:lnTo>
                  <a:pt x="924829" y="38885"/>
                </a:lnTo>
                <a:lnTo>
                  <a:pt x="689085" y="274629"/>
                </a:lnTo>
                <a:lnTo>
                  <a:pt x="453342" y="38885"/>
                </a:lnTo>
                <a:lnTo>
                  <a:pt x="215168" y="274629"/>
                </a:lnTo>
                <a:lnTo>
                  <a:pt x="0" y="59462"/>
                </a:lnTo>
                <a:lnTo>
                  <a:pt x="0" y="20789"/>
                </a:lnTo>
                <a:lnTo>
                  <a:pt x="215168" y="23817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F1F2985-31D9-7B1F-17FC-4CE89F8265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9629" y="1876619"/>
            <a:ext cx="5217173" cy="4351338"/>
          </a:xfrm>
        </p:spPr>
        <p:txBody>
          <a:bodyPr>
            <a:normAutofit/>
          </a:bodyPr>
          <a:lstStyle/>
          <a:p>
            <a:r>
              <a:rPr lang="cs-CZ" sz="3600" dirty="0" err="1">
                <a:solidFill>
                  <a:schemeClr val="bg1"/>
                </a:solidFill>
              </a:rPr>
              <a:t>Ektoparazitózy</a:t>
            </a:r>
            <a:r>
              <a:rPr lang="cs-CZ" sz="3600" dirty="0">
                <a:solidFill>
                  <a:schemeClr val="bg1"/>
                </a:solidFill>
              </a:rPr>
              <a:t> – vnější parazité</a:t>
            </a:r>
          </a:p>
          <a:p>
            <a:endParaRPr lang="cs-CZ" sz="3600" dirty="0">
              <a:solidFill>
                <a:schemeClr val="bg1"/>
              </a:solidFill>
            </a:endParaRPr>
          </a:p>
          <a:p>
            <a:r>
              <a:rPr lang="cs-CZ" sz="3600" dirty="0" err="1">
                <a:solidFill>
                  <a:schemeClr val="bg1"/>
                </a:solidFill>
              </a:rPr>
              <a:t>Endoparazitózy</a:t>
            </a:r>
            <a:r>
              <a:rPr lang="cs-CZ" sz="3600" dirty="0">
                <a:solidFill>
                  <a:schemeClr val="bg1"/>
                </a:solidFill>
              </a:rPr>
              <a:t> – vnitřní parazité</a:t>
            </a:r>
          </a:p>
          <a:p>
            <a:endParaRPr lang="cs-CZ" dirty="0">
              <a:solidFill>
                <a:schemeClr val="bg1"/>
              </a:solidFill>
            </a:endParaRPr>
          </a:p>
          <a:p>
            <a:endParaRPr lang="cs-CZ" dirty="0">
              <a:solidFill>
                <a:schemeClr val="bg1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5836128-58DE-4E5A-B27E-DFE747CA0B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121348" y="5364542"/>
            <a:ext cx="1562428" cy="1493465"/>
            <a:chOff x="3121343" y="4864099"/>
            <a:chExt cx="2085971" cy="1993901"/>
          </a:xfrm>
          <a:solidFill>
            <a:schemeClr val="bg1"/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92DF49A-063A-4F60-BE30-D268264925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38556" y="4981312"/>
              <a:ext cx="442726" cy="44272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0DCBBE0-7DEE-43ED-BEE3-ABB179CFC1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128809" y="4871565"/>
              <a:ext cx="902626" cy="902626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9FE8DF-D1B2-4074-9BDF-C458EA0123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121343" y="4864099"/>
              <a:ext cx="1152732" cy="1152732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1C143B5-6E24-417D-A035-65747A8E9D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152324" y="4894707"/>
              <a:ext cx="1321462" cy="1321838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331ED8C-8819-4FFB-BF3C-FDA6A90D4B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15037" y="4957793"/>
              <a:ext cx="1428975" cy="1428975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A39574D-5ECC-4A94-9CB6-646D90DA5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301642" y="5044398"/>
              <a:ext cx="1490195" cy="1490195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A73D6F7-977D-4026-8F68-CA63C162C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09523" y="5152279"/>
              <a:ext cx="1509607" cy="1509607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6348370-4FD9-4A99-BB05-944D5B0B0E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538685" y="5279576"/>
              <a:ext cx="1488326" cy="1490192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D1146D46-43DB-4487-A191-0970511C3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83896" y="5426652"/>
              <a:ext cx="1429720" cy="1429720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DA0090F-4FBF-434D-83B1-B274F83A9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01021" y="5597624"/>
              <a:ext cx="1275308" cy="1260376"/>
            </a:xfrm>
            <a:custGeom>
              <a:avLst/>
              <a:gdLst>
                <a:gd name="connsiteX0" fmla="*/ 1260376 w 1275308"/>
                <a:gd name="connsiteY0" fmla="*/ 0 h 1260376"/>
                <a:gd name="connsiteX1" fmla="*/ 1275308 w 1275308"/>
                <a:gd name="connsiteY1" fmla="*/ 52634 h 1260376"/>
                <a:gd name="connsiteX2" fmla="*/ 67566 w 1275308"/>
                <a:gd name="connsiteY2" fmla="*/ 1260376 h 1260376"/>
                <a:gd name="connsiteX3" fmla="*/ 0 w 1275308"/>
                <a:gd name="connsiteY3" fmla="*/ 1260376 h 1260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5308" h="1260376">
                  <a:moveTo>
                    <a:pt x="1260376" y="0"/>
                  </a:moveTo>
                  <a:cubicBezTo>
                    <a:pt x="1265977" y="17174"/>
                    <a:pt x="1270829" y="34716"/>
                    <a:pt x="1275308" y="52634"/>
                  </a:cubicBezTo>
                  <a:lnTo>
                    <a:pt x="67566" y="1260376"/>
                  </a:lnTo>
                  <a:lnTo>
                    <a:pt x="0" y="1260376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C8DF6032-C07A-45C6-8A4F-04EF4EDC04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141456" y="5797338"/>
              <a:ext cx="1065858" cy="1060662"/>
            </a:xfrm>
            <a:custGeom>
              <a:avLst/>
              <a:gdLst>
                <a:gd name="connsiteX0" fmla="*/ 1061006 w 1065858"/>
                <a:gd name="connsiteY0" fmla="*/ 0 h 1060662"/>
                <a:gd name="connsiteX1" fmla="*/ 1065858 w 1065858"/>
                <a:gd name="connsiteY1" fmla="*/ 62342 h 1060662"/>
                <a:gd name="connsiteX2" fmla="*/ 67196 w 1065858"/>
                <a:gd name="connsiteY2" fmla="*/ 1060662 h 1060662"/>
                <a:gd name="connsiteX3" fmla="*/ 0 w 1065858"/>
                <a:gd name="connsiteY3" fmla="*/ 1060662 h 1060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65858" h="1060662">
                  <a:moveTo>
                    <a:pt x="1061006" y="0"/>
                  </a:moveTo>
                  <a:cubicBezTo>
                    <a:pt x="1063248" y="20905"/>
                    <a:pt x="1064741" y="41809"/>
                    <a:pt x="1065858" y="62342"/>
                  </a:cubicBezTo>
                  <a:lnTo>
                    <a:pt x="67196" y="1060662"/>
                  </a:lnTo>
                  <a:lnTo>
                    <a:pt x="0" y="1060662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F5B89F44-A096-479D-AD1F-120561C282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1830" y="6039978"/>
              <a:ext cx="818022" cy="818022"/>
            </a:xfrm>
            <a:custGeom>
              <a:avLst/>
              <a:gdLst>
                <a:gd name="connsiteX0" fmla="*/ 818022 w 818022"/>
                <a:gd name="connsiteY0" fmla="*/ 0 h 818022"/>
                <a:gd name="connsiteX1" fmla="*/ 804584 w 818022"/>
                <a:gd name="connsiteY1" fmla="*/ 80632 h 818022"/>
                <a:gd name="connsiteX2" fmla="*/ 67190 w 818022"/>
                <a:gd name="connsiteY2" fmla="*/ 818022 h 818022"/>
                <a:gd name="connsiteX3" fmla="*/ 0 w 818022"/>
                <a:gd name="connsiteY3" fmla="*/ 818022 h 818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8022" h="818022">
                  <a:moveTo>
                    <a:pt x="818022" y="0"/>
                  </a:moveTo>
                  <a:cubicBezTo>
                    <a:pt x="814660" y="27250"/>
                    <a:pt x="810180" y="53755"/>
                    <a:pt x="804584" y="80632"/>
                  </a:cubicBezTo>
                  <a:lnTo>
                    <a:pt x="67190" y="818022"/>
                  </a:lnTo>
                  <a:lnTo>
                    <a:pt x="0" y="818022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5547DC8-8B87-4446-9CC9-65AF04A5FE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647375" y="6390131"/>
              <a:ext cx="442354" cy="442354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206852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FE4E6F22-7BB7-2438-9788-AE8AAE9A9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2368" y="694268"/>
            <a:ext cx="3553510" cy="5477932"/>
          </a:xfrm>
        </p:spPr>
        <p:txBody>
          <a:bodyPr>
            <a:normAutofit/>
          </a:bodyPr>
          <a:lstStyle/>
          <a:p>
            <a:pPr algn="ctr"/>
            <a:r>
              <a:rPr lang="cs-CZ" dirty="0">
                <a:solidFill>
                  <a:schemeClr val="bg1"/>
                </a:solidFill>
              </a:rPr>
              <a:t>Svrab („prašivina“)</a:t>
            </a:r>
          </a:p>
        </p:txBody>
      </p:sp>
      <p:grpSp>
        <p:nvGrpSpPr>
          <p:cNvPr id="10" name="Graphic 38">
            <a:extLst>
              <a:ext uri="{FF2B5EF4-FFF2-40B4-BE49-F238E27FC236}">
                <a16:creationId xmlns:a16="http://schemas.microsoft.com/office/drawing/2014/main" id="{1E8369D0-2C3B-4E27-AC6C-A246AC28CD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3D5586F-4573-4C57-9793-1EBFDC8963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EED35EF-93A0-4921-941C-ECC67AE2A4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4" name="Graphic 4">
            <a:extLst>
              <a:ext uri="{FF2B5EF4-FFF2-40B4-BE49-F238E27FC236}">
                <a16:creationId xmlns:a16="http://schemas.microsoft.com/office/drawing/2014/main" id="{C6F74901-2A71-43C3-837C-27CCD6B6D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737426" y="2203010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92DF49A-063A-4F60-BE30-D268264925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0DCBBE0-7DEE-43ED-BEE3-ABB179CFC1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9FE8DF-D1B2-4074-9BDF-C458EA0123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1C143B5-6E24-417D-A035-65747A8E9D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331ED8C-8819-4FFB-BF3C-FDA6A90D4B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A39574D-5ECC-4A94-9CB6-646D90DA5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A73D6F7-977D-4026-8F68-CA63C162C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6348370-4FD9-4A99-BB05-944D5B0B0E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D1146D46-43DB-4487-A191-0970511C3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17B7142-9D64-4D34-B23C-9471326AD6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8EB71CD-AB26-440E-A0D5-E1081DB55A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4423BD2-7458-4680-AF49-5013C9D30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5547DC8-8B87-4446-9CC9-65AF04A5FE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9" name="Oval 28">
            <a:extLst>
              <a:ext uri="{FF2B5EF4-FFF2-40B4-BE49-F238E27FC236}">
                <a16:creationId xmlns:a16="http://schemas.microsoft.com/office/drawing/2014/main" id="{EC11F68A-CC71-4196-BBF3-20CDCD75D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9502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85F9950-F10E-4E64-962B-F7034578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9502" y="4752208"/>
            <a:ext cx="365021" cy="36502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5B39C70-F457-4959-AA96-55DBC7D189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6802" y="1820862"/>
            <a:ext cx="5446849" cy="4351338"/>
          </a:xfrm>
        </p:spPr>
        <p:txBody>
          <a:bodyPr>
            <a:normAutofit/>
          </a:bodyPr>
          <a:lstStyle/>
          <a:p>
            <a:r>
              <a:rPr lang="cs-CZ" dirty="0" err="1">
                <a:solidFill>
                  <a:schemeClr val="bg1"/>
                </a:solidFill>
              </a:rPr>
              <a:t>Ektoparazitóza</a:t>
            </a:r>
            <a:endParaRPr lang="cs-CZ" dirty="0">
              <a:solidFill>
                <a:schemeClr val="bg1"/>
              </a:solidFill>
            </a:endParaRPr>
          </a:p>
          <a:p>
            <a:r>
              <a:rPr lang="cs-CZ" u="sng" dirty="0">
                <a:solidFill>
                  <a:schemeClr val="bg1"/>
                </a:solidFill>
              </a:rPr>
              <a:t>Původce</a:t>
            </a:r>
            <a:r>
              <a:rPr lang="cs-CZ" dirty="0">
                <a:solidFill>
                  <a:schemeClr val="bg1"/>
                </a:solidFill>
              </a:rPr>
              <a:t>: Zákožka svrabová</a:t>
            </a:r>
          </a:p>
          <a:p>
            <a:pPr lvl="1"/>
            <a:r>
              <a:rPr lang="cs-CZ" dirty="0">
                <a:solidFill>
                  <a:schemeClr val="bg1"/>
                </a:solidFill>
              </a:rPr>
              <a:t>svrchní vrstvy kůže, živí se uvolněnou rohovinou a tkáň. mokem</a:t>
            </a:r>
          </a:p>
          <a:p>
            <a:pPr lvl="1"/>
            <a:r>
              <a:rPr lang="cs-CZ" dirty="0">
                <a:solidFill>
                  <a:schemeClr val="bg1"/>
                </a:solidFill>
              </a:rPr>
              <a:t>hloubení chodbiček = silné svědění</a:t>
            </a:r>
          </a:p>
          <a:p>
            <a:r>
              <a:rPr lang="cs-CZ" u="sng" dirty="0">
                <a:solidFill>
                  <a:schemeClr val="bg1"/>
                </a:solidFill>
              </a:rPr>
              <a:t>Příznaky</a:t>
            </a:r>
            <a:r>
              <a:rPr lang="cs-CZ" dirty="0">
                <a:solidFill>
                  <a:schemeClr val="bg1"/>
                </a:solidFill>
              </a:rPr>
              <a:t>: pupeny na postižené kůži, drbání se, neklid, strupy, vypadávání srsti</a:t>
            </a:r>
          </a:p>
          <a:p>
            <a:endParaRPr lang="cs-CZ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29735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2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Freeform: Shape 14">
            <a:extLst>
              <a:ext uri="{FF2B5EF4-FFF2-40B4-BE49-F238E27FC236}">
                <a16:creationId xmlns:a16="http://schemas.microsoft.com/office/drawing/2014/main" id="{F98F79A4-A6C7-4101-B1E9-27E05CB7CF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2"/>
            <a:ext cx="2232251" cy="2361890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B209A37-617D-77DB-B931-9CB29931B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2251" y="633046"/>
            <a:ext cx="3863749" cy="1314996"/>
          </a:xfrm>
        </p:spPr>
        <p:txBody>
          <a:bodyPr anchor="b">
            <a:normAutofit/>
          </a:bodyPr>
          <a:lstStyle/>
          <a:p>
            <a:r>
              <a:rPr lang="cs-CZ" dirty="0">
                <a:solidFill>
                  <a:schemeClr val="bg1"/>
                </a:solidFill>
              </a:rPr>
              <a:t>Svrab</a:t>
            </a:r>
          </a:p>
        </p:txBody>
      </p:sp>
      <p:sp>
        <p:nvSpPr>
          <p:cNvPr id="24" name="Freeform: Shape 16">
            <a:extLst>
              <a:ext uri="{FF2B5EF4-FFF2-40B4-BE49-F238E27FC236}">
                <a16:creationId xmlns:a16="http://schemas.microsoft.com/office/drawing/2014/main" id="{79AFCB35-9C04-4524-A0B1-57FF6865D0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92656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D11AD2AD-0BA0-4DD3-8EEA-84686A0E71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32391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6" name="Content Placeholder 9">
            <a:extLst>
              <a:ext uri="{FF2B5EF4-FFF2-40B4-BE49-F238E27FC236}">
                <a16:creationId xmlns:a16="http://schemas.microsoft.com/office/drawing/2014/main" id="{F63CD3FB-21E6-A1DF-1550-74D3F799E7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2251" y="2125737"/>
            <a:ext cx="3863749" cy="4044463"/>
          </a:xfrm>
        </p:spPr>
        <p:txBody>
          <a:bodyPr>
            <a:normAutofit/>
          </a:bodyPr>
          <a:lstStyle/>
          <a:p>
            <a:r>
              <a:rPr lang="cs-CZ" u="sng" dirty="0">
                <a:solidFill>
                  <a:schemeClr val="bg1"/>
                </a:solidFill>
              </a:rPr>
              <a:t>Léčba</a:t>
            </a:r>
            <a:r>
              <a:rPr lang="cs-CZ" dirty="0">
                <a:solidFill>
                  <a:schemeClr val="bg1"/>
                </a:solidFill>
              </a:rPr>
              <a:t>: </a:t>
            </a:r>
          </a:p>
          <a:p>
            <a:pPr lvl="1"/>
            <a:r>
              <a:rPr lang="cs-CZ" dirty="0" err="1">
                <a:solidFill>
                  <a:schemeClr val="bg1"/>
                </a:solidFill>
              </a:rPr>
              <a:t>Arpalit</a:t>
            </a:r>
            <a:r>
              <a:rPr lang="cs-CZ" dirty="0">
                <a:solidFill>
                  <a:schemeClr val="bg1"/>
                </a:solidFill>
              </a:rPr>
              <a:t> sprej na postižená místa</a:t>
            </a:r>
          </a:p>
          <a:p>
            <a:pPr lvl="1"/>
            <a:r>
              <a:rPr lang="cs-CZ" dirty="0">
                <a:solidFill>
                  <a:schemeClr val="bg1"/>
                </a:solidFill>
              </a:rPr>
              <a:t>Injekčně </a:t>
            </a:r>
            <a:r>
              <a:rPr lang="cs-CZ" dirty="0" err="1">
                <a:solidFill>
                  <a:schemeClr val="bg1"/>
                </a:solidFill>
              </a:rPr>
              <a:t>Ivomec</a:t>
            </a:r>
            <a:endParaRPr lang="cs-CZ" dirty="0">
              <a:solidFill>
                <a:schemeClr val="bg1"/>
              </a:solidFill>
            </a:endParaRPr>
          </a:p>
          <a:p>
            <a:pPr lvl="1"/>
            <a:r>
              <a:rPr lang="cs-CZ" dirty="0">
                <a:solidFill>
                  <a:schemeClr val="bg1"/>
                </a:solidFill>
              </a:rPr>
              <a:t>Nutné očištění veškerých zařízení!</a:t>
            </a:r>
          </a:p>
          <a:p>
            <a:r>
              <a:rPr lang="cs-CZ" u="sng" dirty="0">
                <a:solidFill>
                  <a:schemeClr val="bg1"/>
                </a:solidFill>
              </a:rPr>
              <a:t>Prevence</a:t>
            </a:r>
            <a:r>
              <a:rPr lang="cs-CZ" dirty="0">
                <a:solidFill>
                  <a:schemeClr val="bg1"/>
                </a:solidFill>
              </a:rPr>
              <a:t>: </a:t>
            </a:r>
          </a:p>
          <a:p>
            <a:pPr lvl="1"/>
            <a:r>
              <a:rPr lang="cs-CZ" dirty="0">
                <a:solidFill>
                  <a:schemeClr val="bg1"/>
                </a:solidFill>
              </a:rPr>
              <a:t>Důsledná zoohygiena</a:t>
            </a:r>
          </a:p>
          <a:p>
            <a:pPr lvl="1"/>
            <a:r>
              <a:rPr lang="cs-CZ" dirty="0">
                <a:solidFill>
                  <a:schemeClr val="bg1"/>
                </a:solidFill>
              </a:rPr>
              <a:t>Kontrola nakoupených zvířat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59463AC4-F96D-4507-9EE0-A831B79102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2"/>
            <a:ext cx="2232251" cy="2361890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pic>
        <p:nvPicPr>
          <p:cNvPr id="6" name="Obrázek 5" descr="alternativní popis obrázku chybí">
            <a:extLst>
              <a:ext uri="{FF2B5EF4-FFF2-40B4-BE49-F238E27FC236}">
                <a16:creationId xmlns:a16="http://schemas.microsoft.com/office/drawing/2014/main" id="{6D04675F-637B-AD44-69B1-B08D6F03B77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56" r="-1" b="7880"/>
          <a:stretch/>
        </p:blipFill>
        <p:spPr bwMode="auto">
          <a:xfrm>
            <a:off x="6423487" y="929609"/>
            <a:ext cx="2518114" cy="2518114"/>
          </a:xfrm>
          <a:custGeom>
            <a:avLst/>
            <a:gdLst/>
            <a:ahLst/>
            <a:cxnLst/>
            <a:rect l="l" t="t" r="r" b="b"/>
            <a:pathLst>
              <a:path w="2518114" h="2518114">
                <a:moveTo>
                  <a:pt x="1259057" y="0"/>
                </a:moveTo>
                <a:cubicBezTo>
                  <a:pt x="1954415" y="0"/>
                  <a:pt x="2518114" y="563699"/>
                  <a:pt x="2518114" y="1259057"/>
                </a:cubicBezTo>
                <a:cubicBezTo>
                  <a:pt x="2518114" y="1954415"/>
                  <a:pt x="1954415" y="2518114"/>
                  <a:pt x="1259057" y="2518114"/>
                </a:cubicBezTo>
                <a:cubicBezTo>
                  <a:pt x="563699" y="2518114"/>
                  <a:pt x="0" y="1954415"/>
                  <a:pt x="0" y="1259057"/>
                </a:cubicBezTo>
                <a:cubicBezTo>
                  <a:pt x="0" y="563699"/>
                  <a:pt x="563699" y="0"/>
                  <a:pt x="1259057" y="0"/>
                </a:cubicBezTo>
                <a:close/>
              </a:path>
            </a:pathLst>
          </a:custGeom>
          <a:noFill/>
        </p:spPr>
      </p:pic>
      <p:pic>
        <p:nvPicPr>
          <p:cNvPr id="5" name="Obrázek 4" descr="Svrab u prasat: co dělat a jak zacházet, patogen a příznaky">
            <a:extLst>
              <a:ext uri="{FF2B5EF4-FFF2-40B4-BE49-F238E27FC236}">
                <a16:creationId xmlns:a16="http://schemas.microsoft.com/office/drawing/2014/main" id="{402A659A-8F22-E675-A6B3-F6C57D219F7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24" r="19472" b="-5"/>
          <a:stretch/>
        </p:blipFill>
        <p:spPr bwMode="auto">
          <a:xfrm>
            <a:off x="9090426" y="86636"/>
            <a:ext cx="2952748" cy="2952748"/>
          </a:xfrm>
          <a:custGeom>
            <a:avLst/>
            <a:gdLst/>
            <a:ahLst/>
            <a:cxnLst/>
            <a:rect l="l" t="t" r="r" b="b"/>
            <a:pathLst>
              <a:path w="2361890" h="2361890">
                <a:moveTo>
                  <a:pt x="1180945" y="0"/>
                </a:moveTo>
                <a:cubicBezTo>
                  <a:pt x="1833163" y="0"/>
                  <a:pt x="2361890" y="528727"/>
                  <a:pt x="2361890" y="1180945"/>
                </a:cubicBezTo>
                <a:cubicBezTo>
                  <a:pt x="2361890" y="1833163"/>
                  <a:pt x="1833163" y="2361890"/>
                  <a:pt x="1180945" y="2361890"/>
                </a:cubicBezTo>
                <a:cubicBezTo>
                  <a:pt x="528727" y="2361890"/>
                  <a:pt x="0" y="1833163"/>
                  <a:pt x="0" y="1180945"/>
                </a:cubicBezTo>
                <a:cubicBezTo>
                  <a:pt x="0" y="528727"/>
                  <a:pt x="528727" y="0"/>
                  <a:pt x="1180945" y="0"/>
                </a:cubicBezTo>
                <a:close/>
              </a:path>
            </a:pathLst>
          </a:custGeom>
          <a:noFill/>
        </p:spPr>
      </p:pic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9E5C5460-229E-46C8-A712-CC31798542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51176" y="4803984"/>
            <a:ext cx="2140824" cy="2054016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FC3ABE8C-1C72-4141-BADF-DD68117645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51176" y="4803984"/>
            <a:ext cx="2140824" cy="2054016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7" name="Graphic 185">
            <a:extLst>
              <a:ext uri="{FF2B5EF4-FFF2-40B4-BE49-F238E27FC236}">
                <a16:creationId xmlns:a16="http://schemas.microsoft.com/office/drawing/2014/main" id="{0C156BF8-7FF7-440F-BE2B-417DFFE8BF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9346" y="59870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B7067280-C3E7-4DF6-A345-B9FEF6EF8D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A78365A8-666B-4417-9D3C-554E6E6B2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71CAAFA-0A31-4308-AB9F-B1C84ABDF9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6AB1D25-144D-4BB4-A45C-60B8A094F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69F0FB4-779A-48FC-AC33-784F177C92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4" name="Zástupný obsah 3" descr="prasata Flashcards | Quizlet">
            <a:extLst>
              <a:ext uri="{FF2B5EF4-FFF2-40B4-BE49-F238E27FC236}">
                <a16:creationId xmlns:a16="http://schemas.microsoft.com/office/drawing/2014/main" id="{6D70E8F6-2721-AA1A-2A64-58EDBE655B8E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667"/>
          <a:stretch/>
        </p:blipFill>
        <p:spPr bwMode="auto">
          <a:xfrm>
            <a:off x="7682545" y="3175909"/>
            <a:ext cx="3454390" cy="3454390"/>
          </a:xfrm>
          <a:custGeom>
            <a:avLst/>
            <a:gdLst/>
            <a:ahLst/>
            <a:cxnLst/>
            <a:rect l="l" t="t" r="r" b="b"/>
            <a:pathLst>
              <a:path w="2452978" h="2452978">
                <a:moveTo>
                  <a:pt x="1226489" y="0"/>
                </a:moveTo>
                <a:cubicBezTo>
                  <a:pt x="1903860" y="0"/>
                  <a:pt x="2452978" y="549118"/>
                  <a:pt x="2452978" y="1226489"/>
                </a:cubicBezTo>
                <a:cubicBezTo>
                  <a:pt x="2452978" y="1903860"/>
                  <a:pt x="1903860" y="2452978"/>
                  <a:pt x="1226489" y="2452978"/>
                </a:cubicBezTo>
                <a:cubicBezTo>
                  <a:pt x="549118" y="2452978"/>
                  <a:pt x="0" y="1903860"/>
                  <a:pt x="0" y="1226489"/>
                </a:cubicBezTo>
                <a:cubicBezTo>
                  <a:pt x="0" y="549118"/>
                  <a:pt x="549118" y="0"/>
                  <a:pt x="1226489" y="0"/>
                </a:cubicBezTo>
                <a:close/>
              </a:path>
            </a:pathLst>
          </a:custGeom>
          <a:noFill/>
        </p:spPr>
      </p:pic>
    </p:spTree>
    <p:extLst>
      <p:ext uri="{BB962C8B-B14F-4D97-AF65-F5344CB8AC3E}">
        <p14:creationId xmlns:p14="http://schemas.microsoft.com/office/powerpoint/2010/main" val="33418034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FE4E6F22-7BB7-2438-9788-AE8AAE9A9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2368" y="694268"/>
            <a:ext cx="3553510" cy="5477932"/>
          </a:xfrm>
        </p:spPr>
        <p:txBody>
          <a:bodyPr>
            <a:normAutofit/>
          </a:bodyPr>
          <a:lstStyle/>
          <a:p>
            <a:pPr algn="ctr"/>
            <a:r>
              <a:rPr lang="cs-CZ" dirty="0">
                <a:solidFill>
                  <a:schemeClr val="bg1"/>
                </a:solidFill>
              </a:rPr>
              <a:t>Zavšivení </a:t>
            </a:r>
          </a:p>
        </p:txBody>
      </p:sp>
      <p:grpSp>
        <p:nvGrpSpPr>
          <p:cNvPr id="10" name="Graphic 38">
            <a:extLst>
              <a:ext uri="{FF2B5EF4-FFF2-40B4-BE49-F238E27FC236}">
                <a16:creationId xmlns:a16="http://schemas.microsoft.com/office/drawing/2014/main" id="{1E8369D0-2C3B-4E27-AC6C-A246AC28CD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3D5586F-4573-4C57-9793-1EBFDC8963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EED35EF-93A0-4921-941C-ECC67AE2A4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4" name="Graphic 4">
            <a:extLst>
              <a:ext uri="{FF2B5EF4-FFF2-40B4-BE49-F238E27FC236}">
                <a16:creationId xmlns:a16="http://schemas.microsoft.com/office/drawing/2014/main" id="{C6F74901-2A71-43C3-837C-27CCD6B6D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737426" y="2203010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92DF49A-063A-4F60-BE30-D268264925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0DCBBE0-7DEE-43ED-BEE3-ABB179CFC1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9FE8DF-D1B2-4074-9BDF-C458EA0123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1C143B5-6E24-417D-A035-65747A8E9D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331ED8C-8819-4FFB-BF3C-FDA6A90D4B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A39574D-5ECC-4A94-9CB6-646D90DA5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A73D6F7-977D-4026-8F68-CA63C162C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6348370-4FD9-4A99-BB05-944D5B0B0E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D1146D46-43DB-4487-A191-0970511C3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17B7142-9D64-4D34-B23C-9471326AD6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8EB71CD-AB26-440E-A0D5-E1081DB55A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4423BD2-7458-4680-AF49-5013C9D30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5547DC8-8B87-4446-9CC9-65AF04A5FE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9" name="Oval 28">
            <a:extLst>
              <a:ext uri="{FF2B5EF4-FFF2-40B4-BE49-F238E27FC236}">
                <a16:creationId xmlns:a16="http://schemas.microsoft.com/office/drawing/2014/main" id="{EC11F68A-CC71-4196-BBF3-20CDCD75D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9502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85F9950-F10E-4E64-962B-F7034578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9502" y="4752208"/>
            <a:ext cx="365021" cy="36502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5B39C70-F457-4959-AA96-55DBC7D189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6802" y="1820862"/>
            <a:ext cx="5446849" cy="4351338"/>
          </a:xfrm>
        </p:spPr>
        <p:txBody>
          <a:bodyPr>
            <a:normAutofit lnSpcReduction="10000"/>
          </a:bodyPr>
          <a:lstStyle/>
          <a:p>
            <a:r>
              <a:rPr lang="cs-CZ" dirty="0" err="1">
                <a:solidFill>
                  <a:schemeClr val="bg1"/>
                </a:solidFill>
              </a:rPr>
              <a:t>Ektoparazitóza</a:t>
            </a:r>
            <a:endParaRPr lang="cs-CZ" dirty="0">
              <a:solidFill>
                <a:schemeClr val="bg1"/>
              </a:solidFill>
            </a:endParaRPr>
          </a:p>
          <a:p>
            <a:r>
              <a:rPr lang="cs-CZ" u="sng" dirty="0">
                <a:solidFill>
                  <a:schemeClr val="bg1"/>
                </a:solidFill>
              </a:rPr>
              <a:t>Původce</a:t>
            </a:r>
            <a:r>
              <a:rPr lang="cs-CZ" dirty="0">
                <a:solidFill>
                  <a:schemeClr val="bg1"/>
                </a:solidFill>
              </a:rPr>
              <a:t>: Veš prasečí</a:t>
            </a:r>
          </a:p>
          <a:p>
            <a:pPr lvl="1"/>
            <a:r>
              <a:rPr lang="cs-CZ" dirty="0">
                <a:solidFill>
                  <a:schemeClr val="bg1"/>
                </a:solidFill>
              </a:rPr>
              <a:t>povrch kůže, živí se sáním krve</a:t>
            </a:r>
          </a:p>
          <a:p>
            <a:pPr lvl="1"/>
            <a:r>
              <a:rPr lang="cs-CZ" dirty="0">
                <a:solidFill>
                  <a:schemeClr val="bg1"/>
                </a:solidFill>
              </a:rPr>
              <a:t>hloubení důlků a jejich plnění slinami = svědění</a:t>
            </a:r>
          </a:p>
          <a:p>
            <a:pPr lvl="1"/>
            <a:r>
              <a:rPr lang="cs-CZ" dirty="0">
                <a:solidFill>
                  <a:schemeClr val="bg1"/>
                </a:solidFill>
              </a:rPr>
              <a:t>samičky lepí vajíčka na štětiny</a:t>
            </a:r>
          </a:p>
          <a:p>
            <a:pPr lvl="1"/>
            <a:r>
              <a:rPr lang="cs-CZ" dirty="0">
                <a:solidFill>
                  <a:schemeClr val="bg1"/>
                </a:solidFill>
              </a:rPr>
              <a:t>výskyt na krku, okolo uší, vnitřní strana stehen</a:t>
            </a:r>
          </a:p>
          <a:p>
            <a:r>
              <a:rPr lang="cs-CZ" u="sng" dirty="0">
                <a:solidFill>
                  <a:schemeClr val="bg1"/>
                </a:solidFill>
              </a:rPr>
              <a:t>Příznaky</a:t>
            </a:r>
            <a:r>
              <a:rPr lang="cs-CZ" dirty="0">
                <a:solidFill>
                  <a:schemeClr val="bg1"/>
                </a:solidFill>
              </a:rPr>
              <a:t>: nález dospělců nebo vajíček na štětinách, tření, drbání, neklid</a:t>
            </a:r>
          </a:p>
          <a:p>
            <a:endParaRPr lang="cs-CZ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05980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98F79A4-A6C7-4101-B1E9-27E05CB7CF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2"/>
            <a:ext cx="2232251" cy="2361890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F8875E4C-CFFE-4552-ABC7-175C3CB757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2"/>
            <a:ext cx="2232251" cy="2361890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B209A37-617D-77DB-B931-9CB29931B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5403" y="633046"/>
            <a:ext cx="4539543" cy="1314996"/>
          </a:xfrm>
        </p:spPr>
        <p:txBody>
          <a:bodyPr anchor="b">
            <a:normAutofit/>
          </a:bodyPr>
          <a:lstStyle/>
          <a:p>
            <a:r>
              <a:rPr lang="cs-CZ" dirty="0">
                <a:solidFill>
                  <a:schemeClr val="bg1"/>
                </a:solidFill>
              </a:rPr>
              <a:t>Zavšivení</a:t>
            </a: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79AFCB35-9C04-4524-A0B1-57FF6865D0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92656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D11AD2AD-0BA0-4DD3-8EEA-84686A0E71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32391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6" name="Content Placeholder 9">
            <a:extLst>
              <a:ext uri="{FF2B5EF4-FFF2-40B4-BE49-F238E27FC236}">
                <a16:creationId xmlns:a16="http://schemas.microsoft.com/office/drawing/2014/main" id="{F63CD3FB-21E6-A1DF-1550-74D3F799E7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15403" y="2125737"/>
            <a:ext cx="4539543" cy="4044463"/>
          </a:xfrm>
        </p:spPr>
        <p:txBody>
          <a:bodyPr>
            <a:normAutofit/>
          </a:bodyPr>
          <a:lstStyle/>
          <a:p>
            <a:r>
              <a:rPr lang="cs-CZ" u="sng" dirty="0">
                <a:solidFill>
                  <a:schemeClr val="bg1"/>
                </a:solidFill>
              </a:rPr>
              <a:t>Léčba</a:t>
            </a:r>
            <a:r>
              <a:rPr lang="cs-CZ" dirty="0">
                <a:solidFill>
                  <a:schemeClr val="bg1"/>
                </a:solidFill>
              </a:rPr>
              <a:t>: </a:t>
            </a:r>
          </a:p>
          <a:p>
            <a:pPr lvl="1"/>
            <a:r>
              <a:rPr lang="cs-CZ" dirty="0" err="1">
                <a:solidFill>
                  <a:schemeClr val="bg1"/>
                </a:solidFill>
              </a:rPr>
              <a:t>Arpalit</a:t>
            </a:r>
            <a:r>
              <a:rPr lang="cs-CZ" dirty="0">
                <a:solidFill>
                  <a:schemeClr val="bg1"/>
                </a:solidFill>
              </a:rPr>
              <a:t> nebo </a:t>
            </a:r>
            <a:r>
              <a:rPr lang="cs-CZ" dirty="0" err="1">
                <a:solidFill>
                  <a:schemeClr val="bg1"/>
                </a:solidFill>
              </a:rPr>
              <a:t>Difusil</a:t>
            </a:r>
            <a:r>
              <a:rPr lang="cs-CZ" dirty="0">
                <a:solidFill>
                  <a:schemeClr val="bg1"/>
                </a:solidFill>
              </a:rPr>
              <a:t> sprej na postižená místa</a:t>
            </a:r>
          </a:p>
          <a:p>
            <a:pPr lvl="1"/>
            <a:r>
              <a:rPr lang="cs-CZ" dirty="0">
                <a:solidFill>
                  <a:schemeClr val="bg1"/>
                </a:solidFill>
              </a:rPr>
              <a:t>Injekčně </a:t>
            </a:r>
            <a:r>
              <a:rPr lang="cs-CZ" dirty="0" err="1">
                <a:solidFill>
                  <a:schemeClr val="bg1"/>
                </a:solidFill>
              </a:rPr>
              <a:t>Ivomec</a:t>
            </a:r>
            <a:endParaRPr lang="cs-CZ" dirty="0">
              <a:solidFill>
                <a:schemeClr val="bg1"/>
              </a:solidFill>
            </a:endParaRPr>
          </a:p>
          <a:p>
            <a:pPr lvl="1"/>
            <a:r>
              <a:rPr lang="cs-CZ" dirty="0">
                <a:solidFill>
                  <a:schemeClr val="bg1"/>
                </a:solidFill>
              </a:rPr>
              <a:t>Koupel </a:t>
            </a:r>
            <a:r>
              <a:rPr lang="cs-CZ" dirty="0" err="1">
                <a:solidFill>
                  <a:schemeClr val="bg1"/>
                </a:solidFill>
              </a:rPr>
              <a:t>Fenoform</a:t>
            </a:r>
            <a:r>
              <a:rPr lang="cs-CZ" dirty="0">
                <a:solidFill>
                  <a:schemeClr val="bg1"/>
                </a:solidFill>
              </a:rPr>
              <a:t> forte</a:t>
            </a:r>
          </a:p>
          <a:p>
            <a:r>
              <a:rPr lang="cs-CZ" u="sng" dirty="0">
                <a:solidFill>
                  <a:schemeClr val="bg1"/>
                </a:solidFill>
              </a:rPr>
              <a:t>Prevence</a:t>
            </a:r>
            <a:r>
              <a:rPr lang="cs-CZ" dirty="0">
                <a:solidFill>
                  <a:schemeClr val="bg1"/>
                </a:solidFill>
              </a:rPr>
              <a:t>: </a:t>
            </a:r>
          </a:p>
          <a:p>
            <a:pPr lvl="1"/>
            <a:r>
              <a:rPr lang="cs-CZ" dirty="0">
                <a:solidFill>
                  <a:schemeClr val="bg1"/>
                </a:solidFill>
              </a:rPr>
              <a:t>Důsledná zoohygiena</a:t>
            </a:r>
          </a:p>
          <a:p>
            <a:pPr lvl="1"/>
            <a:r>
              <a:rPr lang="cs-CZ" dirty="0">
                <a:solidFill>
                  <a:schemeClr val="bg1"/>
                </a:solidFill>
              </a:rPr>
              <a:t>Kontrola nakoupených zvířat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9E5C5460-229E-46C8-A712-CC31798542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59419" y="3564607"/>
            <a:ext cx="3432581" cy="3293393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53812026-3FC6-44DA-94EF-3B81640494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59419" y="3564607"/>
            <a:ext cx="3432581" cy="3293393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99D3B5B5-6BA8-5F08-C5FB-4938DDAC197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786" r="33965" b="2"/>
          <a:stretch/>
        </p:blipFill>
        <p:spPr>
          <a:xfrm>
            <a:off x="6854073" y="2923953"/>
            <a:ext cx="3454390" cy="3454390"/>
          </a:xfrm>
          <a:custGeom>
            <a:avLst/>
            <a:gdLst/>
            <a:ahLst/>
            <a:cxnLst/>
            <a:rect l="l" t="t" r="r" b="b"/>
            <a:pathLst>
              <a:path w="2452978" h="2452978">
                <a:moveTo>
                  <a:pt x="1226489" y="0"/>
                </a:moveTo>
                <a:cubicBezTo>
                  <a:pt x="1903860" y="0"/>
                  <a:pt x="2452978" y="549118"/>
                  <a:pt x="2452978" y="1226489"/>
                </a:cubicBezTo>
                <a:cubicBezTo>
                  <a:pt x="2452978" y="1903860"/>
                  <a:pt x="1903860" y="2452978"/>
                  <a:pt x="1226489" y="2452978"/>
                </a:cubicBezTo>
                <a:cubicBezTo>
                  <a:pt x="549118" y="2452978"/>
                  <a:pt x="0" y="1903860"/>
                  <a:pt x="0" y="1226489"/>
                </a:cubicBezTo>
                <a:cubicBezTo>
                  <a:pt x="0" y="549118"/>
                  <a:pt x="549118" y="0"/>
                  <a:pt x="1226489" y="0"/>
                </a:cubicBezTo>
                <a:close/>
              </a:path>
            </a:pathLst>
          </a:custGeom>
        </p:spPr>
      </p:pic>
      <p:pic>
        <p:nvPicPr>
          <p:cNvPr id="7" name="Obrázek 6" descr="Veš prasečí (Haematopinus suis) - ChovZvířat.cz">
            <a:extLst>
              <a:ext uri="{FF2B5EF4-FFF2-40B4-BE49-F238E27FC236}">
                <a16:creationId xmlns:a16="http://schemas.microsoft.com/office/drawing/2014/main" id="{16E59C34-542D-4C1B-5492-B829C938D09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81" r="16016" b="-3"/>
          <a:stretch/>
        </p:blipFill>
        <p:spPr bwMode="auto">
          <a:xfrm>
            <a:off x="8444193" y="156675"/>
            <a:ext cx="2952748" cy="2952748"/>
          </a:xfrm>
          <a:custGeom>
            <a:avLst/>
            <a:gdLst/>
            <a:ahLst/>
            <a:cxnLst/>
            <a:rect l="l" t="t" r="r" b="b"/>
            <a:pathLst>
              <a:path w="2361890" h="2361890">
                <a:moveTo>
                  <a:pt x="1180945" y="0"/>
                </a:moveTo>
                <a:cubicBezTo>
                  <a:pt x="1833163" y="0"/>
                  <a:pt x="2361890" y="528727"/>
                  <a:pt x="2361890" y="1180945"/>
                </a:cubicBezTo>
                <a:cubicBezTo>
                  <a:pt x="2361890" y="1833163"/>
                  <a:pt x="1833163" y="2361890"/>
                  <a:pt x="1180945" y="2361890"/>
                </a:cubicBezTo>
                <a:cubicBezTo>
                  <a:pt x="528727" y="2361890"/>
                  <a:pt x="0" y="1833163"/>
                  <a:pt x="0" y="1180945"/>
                </a:cubicBezTo>
                <a:cubicBezTo>
                  <a:pt x="0" y="528727"/>
                  <a:pt x="528727" y="0"/>
                  <a:pt x="1180945" y="0"/>
                </a:cubicBezTo>
                <a:close/>
              </a:path>
            </a:pathLst>
          </a:custGeom>
          <a:noFill/>
        </p:spPr>
      </p:pic>
      <p:grpSp>
        <p:nvGrpSpPr>
          <p:cNvPr id="51" name="Graphic 185">
            <a:extLst>
              <a:ext uri="{FF2B5EF4-FFF2-40B4-BE49-F238E27FC236}">
                <a16:creationId xmlns:a16="http://schemas.microsoft.com/office/drawing/2014/main" id="{0C156BF8-7FF7-440F-BE2B-417DFFE8BF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28634" y="59870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B7067280-C3E7-4DF6-A345-B9FEF6EF8D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A78365A8-666B-4417-9D3C-554E6E6B2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E71CAAFA-0A31-4308-AB9F-B1C84ABDF9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96AB1D25-144D-4BB4-A45C-60B8A094F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069F0FB4-779A-48FC-AC33-784F177C92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189012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FE4E6F22-7BB7-2438-9788-AE8AAE9A9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2368" y="694268"/>
            <a:ext cx="3553510" cy="5477932"/>
          </a:xfrm>
        </p:spPr>
        <p:txBody>
          <a:bodyPr>
            <a:normAutofit/>
          </a:bodyPr>
          <a:lstStyle/>
          <a:p>
            <a:pPr algn="ctr"/>
            <a:r>
              <a:rPr lang="cs-CZ" dirty="0">
                <a:solidFill>
                  <a:schemeClr val="bg1"/>
                </a:solidFill>
              </a:rPr>
              <a:t>Kokcidióza</a:t>
            </a:r>
          </a:p>
        </p:txBody>
      </p:sp>
      <p:grpSp>
        <p:nvGrpSpPr>
          <p:cNvPr id="10" name="Graphic 38">
            <a:extLst>
              <a:ext uri="{FF2B5EF4-FFF2-40B4-BE49-F238E27FC236}">
                <a16:creationId xmlns:a16="http://schemas.microsoft.com/office/drawing/2014/main" id="{1E8369D0-2C3B-4E27-AC6C-A246AC28CD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3D5586F-4573-4C57-9793-1EBFDC8963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EED35EF-93A0-4921-941C-ECC67AE2A4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4" name="Graphic 4">
            <a:extLst>
              <a:ext uri="{FF2B5EF4-FFF2-40B4-BE49-F238E27FC236}">
                <a16:creationId xmlns:a16="http://schemas.microsoft.com/office/drawing/2014/main" id="{C6F74901-2A71-43C3-837C-27CCD6B6D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737426" y="2203010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92DF49A-063A-4F60-BE30-D268264925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0DCBBE0-7DEE-43ED-BEE3-ABB179CFC1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9FE8DF-D1B2-4074-9BDF-C458EA0123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1C143B5-6E24-417D-A035-65747A8E9D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331ED8C-8819-4FFB-BF3C-FDA6A90D4B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A39574D-5ECC-4A94-9CB6-646D90DA5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A73D6F7-977D-4026-8F68-CA63C162C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6348370-4FD9-4A99-BB05-944D5B0B0E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D1146D46-43DB-4487-A191-0970511C3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17B7142-9D64-4D34-B23C-9471326AD6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8EB71CD-AB26-440E-A0D5-E1081DB55A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4423BD2-7458-4680-AF49-5013C9D30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5547DC8-8B87-4446-9CC9-65AF04A5FE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9" name="Oval 28">
            <a:extLst>
              <a:ext uri="{FF2B5EF4-FFF2-40B4-BE49-F238E27FC236}">
                <a16:creationId xmlns:a16="http://schemas.microsoft.com/office/drawing/2014/main" id="{EC11F68A-CC71-4196-BBF3-20CDCD75D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9502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85F9950-F10E-4E64-962B-F7034578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9502" y="4752208"/>
            <a:ext cx="365021" cy="36502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5B39C70-F457-4959-AA96-55DBC7D189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6802" y="1143000"/>
            <a:ext cx="5446849" cy="5029200"/>
          </a:xfrm>
        </p:spPr>
        <p:txBody>
          <a:bodyPr>
            <a:normAutofit/>
          </a:bodyPr>
          <a:lstStyle/>
          <a:p>
            <a:r>
              <a:rPr lang="cs-CZ" dirty="0" err="1">
                <a:solidFill>
                  <a:schemeClr val="bg1"/>
                </a:solidFill>
              </a:rPr>
              <a:t>Endoparazitóza</a:t>
            </a:r>
            <a:endParaRPr lang="cs-CZ" dirty="0">
              <a:solidFill>
                <a:schemeClr val="bg1"/>
              </a:solidFill>
            </a:endParaRPr>
          </a:p>
          <a:p>
            <a:r>
              <a:rPr lang="cs-CZ" u="sng" dirty="0">
                <a:solidFill>
                  <a:schemeClr val="bg1"/>
                </a:solidFill>
              </a:rPr>
              <a:t>Původce</a:t>
            </a:r>
            <a:r>
              <a:rPr lang="cs-CZ" dirty="0">
                <a:solidFill>
                  <a:schemeClr val="bg1"/>
                </a:solidFill>
              </a:rPr>
              <a:t>: Kokcidie prasečí</a:t>
            </a:r>
          </a:p>
          <a:p>
            <a:pPr lvl="1"/>
            <a:r>
              <a:rPr lang="cs-CZ" dirty="0">
                <a:solidFill>
                  <a:schemeClr val="bg1"/>
                </a:solidFill>
              </a:rPr>
              <a:t>Zdrojem onemocnění jsou nakažená prasata a jejich výkaly</a:t>
            </a:r>
          </a:p>
          <a:p>
            <a:pPr lvl="1"/>
            <a:r>
              <a:rPr lang="cs-CZ" dirty="0">
                <a:solidFill>
                  <a:schemeClr val="bg1"/>
                </a:solidFill>
              </a:rPr>
              <a:t>K nákaze dochází skrze znečištěnou vodu a krmivo</a:t>
            </a:r>
          </a:p>
          <a:p>
            <a:pPr lvl="1"/>
            <a:r>
              <a:rPr lang="cs-CZ" dirty="0">
                <a:solidFill>
                  <a:schemeClr val="bg1"/>
                </a:solidFill>
              </a:rPr>
              <a:t>Infekce a ničení střevní sliznice</a:t>
            </a:r>
          </a:p>
          <a:p>
            <a:r>
              <a:rPr lang="cs-CZ" u="sng" dirty="0">
                <a:solidFill>
                  <a:schemeClr val="bg1"/>
                </a:solidFill>
              </a:rPr>
              <a:t>Příznaky</a:t>
            </a:r>
            <a:r>
              <a:rPr lang="cs-CZ" dirty="0">
                <a:solidFill>
                  <a:schemeClr val="bg1"/>
                </a:solidFill>
              </a:rPr>
              <a:t>: postihuje zejména selata (5-15 dní) a mladá prasata ve věku 2-8 měsíců, nechutenství, rychlý úbytek hmotnosti, krvavý průjem, opoždění ve vývoji</a:t>
            </a:r>
          </a:p>
          <a:p>
            <a:endParaRPr lang="cs-CZ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521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98F79A4-A6C7-4101-B1E9-27E05CB7CF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2"/>
            <a:ext cx="2232251" cy="2361890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F8875E4C-CFFE-4552-ABC7-175C3CB757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2"/>
            <a:ext cx="2232251" cy="2361890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B209A37-617D-77DB-B931-9CB29931B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5403" y="633046"/>
            <a:ext cx="4539543" cy="1314996"/>
          </a:xfrm>
        </p:spPr>
        <p:txBody>
          <a:bodyPr anchor="b">
            <a:normAutofit/>
          </a:bodyPr>
          <a:lstStyle/>
          <a:p>
            <a:r>
              <a:rPr lang="cs-CZ" dirty="0">
                <a:solidFill>
                  <a:schemeClr val="bg1"/>
                </a:solidFill>
              </a:rPr>
              <a:t>Kokcidióza</a:t>
            </a: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79AFCB35-9C04-4524-A0B1-57FF6865D0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92656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D11AD2AD-0BA0-4DD3-8EEA-84686A0E71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32391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6" name="Content Placeholder 9">
            <a:extLst>
              <a:ext uri="{FF2B5EF4-FFF2-40B4-BE49-F238E27FC236}">
                <a16:creationId xmlns:a16="http://schemas.microsoft.com/office/drawing/2014/main" id="{F63CD3FB-21E6-A1DF-1550-74D3F799E7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15403" y="2125737"/>
            <a:ext cx="4539543" cy="4044463"/>
          </a:xfrm>
        </p:spPr>
        <p:txBody>
          <a:bodyPr>
            <a:normAutofit/>
          </a:bodyPr>
          <a:lstStyle/>
          <a:p>
            <a:r>
              <a:rPr lang="cs-CZ" u="sng" dirty="0">
                <a:solidFill>
                  <a:schemeClr val="bg1"/>
                </a:solidFill>
              </a:rPr>
              <a:t>Léčba</a:t>
            </a:r>
            <a:r>
              <a:rPr lang="cs-CZ" dirty="0">
                <a:solidFill>
                  <a:schemeClr val="bg1"/>
                </a:solidFill>
              </a:rPr>
              <a:t>: </a:t>
            </a:r>
          </a:p>
          <a:p>
            <a:pPr lvl="1"/>
            <a:r>
              <a:rPr lang="cs-CZ" dirty="0">
                <a:solidFill>
                  <a:schemeClr val="bg1"/>
                </a:solidFill>
              </a:rPr>
              <a:t>Podání sulfonamidu – 0,1-0,2 kg/kg ž. hm.</a:t>
            </a:r>
          </a:p>
          <a:p>
            <a:r>
              <a:rPr lang="cs-CZ" u="sng" dirty="0">
                <a:solidFill>
                  <a:schemeClr val="bg1"/>
                </a:solidFill>
              </a:rPr>
              <a:t>Prevence</a:t>
            </a:r>
            <a:r>
              <a:rPr lang="cs-CZ" dirty="0">
                <a:solidFill>
                  <a:schemeClr val="bg1"/>
                </a:solidFill>
              </a:rPr>
              <a:t>: </a:t>
            </a:r>
          </a:p>
          <a:p>
            <a:pPr lvl="1"/>
            <a:r>
              <a:rPr lang="cs-CZ" dirty="0">
                <a:solidFill>
                  <a:schemeClr val="bg1"/>
                </a:solidFill>
              </a:rPr>
              <a:t>Důsledná zoohygiena</a:t>
            </a:r>
          </a:p>
          <a:p>
            <a:pPr lvl="1"/>
            <a:r>
              <a:rPr lang="cs-CZ" dirty="0">
                <a:solidFill>
                  <a:schemeClr val="bg1"/>
                </a:solidFill>
              </a:rPr>
              <a:t>Podání </a:t>
            </a:r>
            <a:r>
              <a:rPr lang="cs-CZ" dirty="0" err="1">
                <a:solidFill>
                  <a:schemeClr val="bg1"/>
                </a:solidFill>
              </a:rPr>
              <a:t>toltrazuril</a:t>
            </a:r>
            <a:r>
              <a:rPr lang="cs-CZ" dirty="0">
                <a:solidFill>
                  <a:schemeClr val="bg1"/>
                </a:solidFill>
              </a:rPr>
              <a:t> 3-5 dní </a:t>
            </a:r>
            <a:r>
              <a:rPr lang="cs-CZ">
                <a:solidFill>
                  <a:schemeClr val="bg1"/>
                </a:solidFill>
              </a:rPr>
              <a:t>po narození</a:t>
            </a:r>
            <a:endParaRPr lang="cs-CZ" dirty="0">
              <a:solidFill>
                <a:schemeClr val="bg1"/>
              </a:solidFill>
            </a:endParaRPr>
          </a:p>
          <a:p>
            <a:pPr lvl="1"/>
            <a:r>
              <a:rPr lang="cs-CZ" dirty="0">
                <a:solidFill>
                  <a:schemeClr val="bg1"/>
                </a:solidFill>
              </a:rPr>
              <a:t>Asanace prostředky na bázi čpavku či horkou párou 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9E5C5460-229E-46C8-A712-CC31798542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59419" y="3564607"/>
            <a:ext cx="3432581" cy="3293393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53812026-3FC6-44DA-94EF-3B81640494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59419" y="3564607"/>
            <a:ext cx="3432581" cy="3293393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51" name="Graphic 185">
            <a:extLst>
              <a:ext uri="{FF2B5EF4-FFF2-40B4-BE49-F238E27FC236}">
                <a16:creationId xmlns:a16="http://schemas.microsoft.com/office/drawing/2014/main" id="{0C156BF8-7FF7-440F-BE2B-417DFFE8BF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28634" y="59870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B7067280-C3E7-4DF6-A345-B9FEF6EF8D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A78365A8-666B-4417-9D3C-554E6E6B2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E71CAAFA-0A31-4308-AB9F-B1C84ABDF9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96AB1D25-144D-4BB4-A45C-60B8A094F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069F0FB4-779A-48FC-AC33-784F177C92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3" name="Obrázek 2" descr="Obsah obrázku různé&#10;&#10;Popis byl vytvořen automaticky">
            <a:extLst>
              <a:ext uri="{FF2B5EF4-FFF2-40B4-BE49-F238E27FC236}">
                <a16:creationId xmlns:a16="http://schemas.microsoft.com/office/drawing/2014/main" id="{B9D41482-74B9-40AC-1DA9-B65C6AA8662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4211" y="2361892"/>
            <a:ext cx="3841254" cy="2743753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32802597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FE4E6F22-7BB7-2438-9788-AE8AAE9A9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2368" y="694268"/>
            <a:ext cx="3553510" cy="5477932"/>
          </a:xfrm>
        </p:spPr>
        <p:txBody>
          <a:bodyPr>
            <a:normAutofit/>
          </a:bodyPr>
          <a:lstStyle/>
          <a:p>
            <a:pPr algn="ctr"/>
            <a:r>
              <a:rPr lang="cs-CZ" dirty="0">
                <a:solidFill>
                  <a:schemeClr val="bg1"/>
                </a:solidFill>
              </a:rPr>
              <a:t>Škrkavčitost</a:t>
            </a:r>
          </a:p>
        </p:txBody>
      </p:sp>
      <p:grpSp>
        <p:nvGrpSpPr>
          <p:cNvPr id="10" name="Graphic 38">
            <a:extLst>
              <a:ext uri="{FF2B5EF4-FFF2-40B4-BE49-F238E27FC236}">
                <a16:creationId xmlns:a16="http://schemas.microsoft.com/office/drawing/2014/main" id="{1E8369D0-2C3B-4E27-AC6C-A246AC28CD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3D5586F-4573-4C57-9793-1EBFDC8963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EED35EF-93A0-4921-941C-ECC67AE2A4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4" name="Graphic 4">
            <a:extLst>
              <a:ext uri="{FF2B5EF4-FFF2-40B4-BE49-F238E27FC236}">
                <a16:creationId xmlns:a16="http://schemas.microsoft.com/office/drawing/2014/main" id="{C6F74901-2A71-43C3-837C-27CCD6B6D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737426" y="2203010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92DF49A-063A-4F60-BE30-D268264925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0DCBBE0-7DEE-43ED-BEE3-ABB179CFC1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9FE8DF-D1B2-4074-9BDF-C458EA0123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1C143B5-6E24-417D-A035-65747A8E9D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331ED8C-8819-4FFB-BF3C-FDA6A90D4B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A39574D-5ECC-4A94-9CB6-646D90DA5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A73D6F7-977D-4026-8F68-CA63C162C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6348370-4FD9-4A99-BB05-944D5B0B0E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D1146D46-43DB-4487-A191-0970511C3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17B7142-9D64-4D34-B23C-9471326AD6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8EB71CD-AB26-440E-A0D5-E1081DB55A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4423BD2-7458-4680-AF49-5013C9D30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5547DC8-8B87-4446-9CC9-65AF04A5FE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9" name="Oval 28">
            <a:extLst>
              <a:ext uri="{FF2B5EF4-FFF2-40B4-BE49-F238E27FC236}">
                <a16:creationId xmlns:a16="http://schemas.microsoft.com/office/drawing/2014/main" id="{EC11F68A-CC71-4196-BBF3-20CDCD75D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9502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85F9950-F10E-4E64-962B-F7034578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9502" y="4752208"/>
            <a:ext cx="365021" cy="36502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5B39C70-F457-4959-AA96-55DBC7D189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8873" y="801384"/>
            <a:ext cx="5446849" cy="5370816"/>
          </a:xfrm>
        </p:spPr>
        <p:txBody>
          <a:bodyPr>
            <a:normAutofit fontScale="92500" lnSpcReduction="20000"/>
          </a:bodyPr>
          <a:lstStyle/>
          <a:p>
            <a:r>
              <a:rPr lang="cs-CZ" dirty="0" err="1">
                <a:solidFill>
                  <a:schemeClr val="bg1"/>
                </a:solidFill>
              </a:rPr>
              <a:t>Endoparazitóza</a:t>
            </a:r>
            <a:endParaRPr lang="cs-CZ" dirty="0">
              <a:solidFill>
                <a:schemeClr val="bg1"/>
              </a:solidFill>
            </a:endParaRPr>
          </a:p>
          <a:p>
            <a:r>
              <a:rPr lang="cs-CZ" u="sng" dirty="0">
                <a:solidFill>
                  <a:schemeClr val="bg1"/>
                </a:solidFill>
              </a:rPr>
              <a:t>Původce</a:t>
            </a:r>
            <a:r>
              <a:rPr lang="cs-CZ" dirty="0">
                <a:solidFill>
                  <a:schemeClr val="bg1"/>
                </a:solidFill>
              </a:rPr>
              <a:t>: Škrkavka prasečí</a:t>
            </a:r>
          </a:p>
          <a:p>
            <a:pPr lvl="1"/>
            <a:r>
              <a:rPr lang="cs-CZ" dirty="0">
                <a:solidFill>
                  <a:schemeClr val="bg1"/>
                </a:solidFill>
              </a:rPr>
              <a:t>Oblý červ, délka 20-40 cm, šířka 5-6 mm</a:t>
            </a:r>
          </a:p>
          <a:p>
            <a:pPr lvl="1"/>
            <a:r>
              <a:rPr lang="cs-CZ" dirty="0">
                <a:solidFill>
                  <a:schemeClr val="bg1"/>
                </a:solidFill>
              </a:rPr>
              <a:t>Zdrojem onemocnění jsou nakažená prasata a jejich výkaly, ve kterých se nachází vajíčka škrkavek</a:t>
            </a:r>
          </a:p>
          <a:p>
            <a:pPr lvl="1"/>
            <a:r>
              <a:rPr lang="cs-CZ" dirty="0">
                <a:solidFill>
                  <a:schemeClr val="bg1"/>
                </a:solidFill>
              </a:rPr>
              <a:t>K nákaze dochází i skrze výkaly zanesené do kotce na obuvi ošetřovatelů</a:t>
            </a:r>
          </a:p>
          <a:p>
            <a:pPr lvl="1"/>
            <a:r>
              <a:rPr lang="cs-CZ" dirty="0">
                <a:solidFill>
                  <a:schemeClr val="bg1"/>
                </a:solidFill>
              </a:rPr>
              <a:t>Selata se nakazí skrz sání ze znečištěných struků</a:t>
            </a:r>
          </a:p>
          <a:p>
            <a:r>
              <a:rPr lang="cs-CZ" u="sng" dirty="0">
                <a:solidFill>
                  <a:schemeClr val="bg1"/>
                </a:solidFill>
              </a:rPr>
              <a:t>Příznaky</a:t>
            </a:r>
            <a:r>
              <a:rPr lang="cs-CZ" dirty="0">
                <a:solidFill>
                  <a:schemeClr val="bg1"/>
                </a:solidFill>
              </a:rPr>
              <a:t>:</a:t>
            </a:r>
          </a:p>
          <a:p>
            <a:pPr lvl="1"/>
            <a:r>
              <a:rPr lang="cs-CZ" dirty="0">
                <a:solidFill>
                  <a:schemeClr val="bg1"/>
                </a:solidFill>
              </a:rPr>
              <a:t>v první fázi vlhký kašel, tělesná teplota až 41, nechutenství</a:t>
            </a:r>
          </a:p>
          <a:p>
            <a:pPr lvl="1"/>
            <a:r>
              <a:rPr lang="cs-CZ" dirty="0">
                <a:solidFill>
                  <a:schemeClr val="bg1"/>
                </a:solidFill>
              </a:rPr>
              <a:t>v pozdějším stádiu poruchy NS – prasata padají na zem, křeče svalstva, zvrácené chutě</a:t>
            </a:r>
          </a:p>
          <a:p>
            <a:pPr lvl="1"/>
            <a:r>
              <a:rPr lang="cs-CZ" dirty="0">
                <a:solidFill>
                  <a:schemeClr val="bg1"/>
                </a:solidFill>
              </a:rPr>
              <a:t>může dojít až k zánětu pobřišnice a úhynu</a:t>
            </a:r>
          </a:p>
          <a:p>
            <a:endParaRPr lang="cs-CZ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29797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98F79A4-A6C7-4101-B1E9-27E05CB7CF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2"/>
            <a:ext cx="2232251" cy="2361890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F8875E4C-CFFE-4552-ABC7-175C3CB757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2"/>
            <a:ext cx="2232251" cy="2361890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B209A37-617D-77DB-B931-9CB29931B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5403" y="633046"/>
            <a:ext cx="4539543" cy="1314996"/>
          </a:xfrm>
        </p:spPr>
        <p:txBody>
          <a:bodyPr anchor="b">
            <a:normAutofit/>
          </a:bodyPr>
          <a:lstStyle/>
          <a:p>
            <a:r>
              <a:rPr lang="cs-CZ" dirty="0">
                <a:solidFill>
                  <a:schemeClr val="bg1"/>
                </a:solidFill>
              </a:rPr>
              <a:t>Škrkavčitost</a:t>
            </a: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79AFCB35-9C04-4524-A0B1-57FF6865D0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92656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D11AD2AD-0BA0-4DD3-8EEA-84686A0E71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32391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6" name="Content Placeholder 9">
            <a:extLst>
              <a:ext uri="{FF2B5EF4-FFF2-40B4-BE49-F238E27FC236}">
                <a16:creationId xmlns:a16="http://schemas.microsoft.com/office/drawing/2014/main" id="{F63CD3FB-21E6-A1DF-1550-74D3F799E7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15403" y="2125737"/>
            <a:ext cx="4614169" cy="4044463"/>
          </a:xfrm>
        </p:spPr>
        <p:txBody>
          <a:bodyPr>
            <a:normAutofit fontScale="92500" lnSpcReduction="20000"/>
          </a:bodyPr>
          <a:lstStyle/>
          <a:p>
            <a:r>
              <a:rPr lang="cs-CZ" u="sng" dirty="0">
                <a:solidFill>
                  <a:schemeClr val="bg1"/>
                </a:solidFill>
              </a:rPr>
              <a:t>Životní cyklus škrkavky:</a:t>
            </a:r>
          </a:p>
          <a:p>
            <a:pPr marL="457200" lvl="1" indent="0">
              <a:buNone/>
            </a:pPr>
            <a:r>
              <a:rPr lang="cs-CZ" dirty="0">
                <a:solidFill>
                  <a:schemeClr val="bg1"/>
                </a:solidFill>
              </a:rPr>
              <a:t>Vajíčko pozřené ve výkalech</a:t>
            </a:r>
          </a:p>
          <a:p>
            <a:pPr marL="457200" lvl="1" indent="0">
              <a:buNone/>
            </a:pPr>
            <a:r>
              <a:rPr lang="cs-CZ" dirty="0">
                <a:solidFill>
                  <a:schemeClr val="bg1"/>
                </a:solidFill>
              </a:rPr>
              <a:t>-&gt; v tenkém střevě se z vajíčka uvolní larva </a:t>
            </a:r>
          </a:p>
          <a:p>
            <a:pPr marL="457200" lvl="1" indent="0">
              <a:buNone/>
            </a:pPr>
            <a:r>
              <a:rPr lang="cs-CZ" dirty="0">
                <a:solidFill>
                  <a:schemeClr val="bg1"/>
                </a:solidFill>
              </a:rPr>
              <a:t>-&gt; průnik larvy skrz sliznici do krevních kapilár</a:t>
            </a:r>
          </a:p>
          <a:p>
            <a:pPr marL="457200" lvl="1" indent="0">
              <a:buNone/>
            </a:pPr>
            <a:r>
              <a:rPr lang="cs-CZ" dirty="0">
                <a:solidFill>
                  <a:schemeClr val="bg1"/>
                </a:solidFill>
              </a:rPr>
              <a:t>-&gt; přenos krví do jater </a:t>
            </a:r>
          </a:p>
          <a:p>
            <a:pPr marL="457200" lvl="1" indent="0">
              <a:buNone/>
            </a:pPr>
            <a:r>
              <a:rPr lang="cs-CZ" dirty="0">
                <a:solidFill>
                  <a:schemeClr val="bg1"/>
                </a:solidFill>
              </a:rPr>
              <a:t>-&gt; odtud pak přes srdce do plic</a:t>
            </a:r>
          </a:p>
          <a:p>
            <a:pPr marL="457200" lvl="1" indent="0">
              <a:buNone/>
            </a:pPr>
            <a:r>
              <a:rPr lang="cs-CZ" dirty="0">
                <a:solidFill>
                  <a:schemeClr val="bg1"/>
                </a:solidFill>
              </a:rPr>
              <a:t>-&gt; vykašlání a spolknutí larvy </a:t>
            </a:r>
          </a:p>
          <a:p>
            <a:pPr marL="457200" lvl="1" indent="0">
              <a:buNone/>
            </a:pPr>
            <a:r>
              <a:rPr lang="cs-CZ" dirty="0">
                <a:solidFill>
                  <a:schemeClr val="bg1"/>
                </a:solidFill>
              </a:rPr>
              <a:t>-&gt; cesta zpět do trávicího ústrojí, kde dospívá</a:t>
            </a:r>
          </a:p>
          <a:p>
            <a:pPr marL="457200" lvl="1" indent="0">
              <a:buNone/>
            </a:pPr>
            <a:r>
              <a:rPr lang="cs-CZ" u="sng" dirty="0">
                <a:solidFill>
                  <a:schemeClr val="bg1"/>
                </a:solidFill>
              </a:rPr>
              <a:t>Během migrace larev dochází k poškození tkání jednotlivých orgánů</a:t>
            </a:r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9E5C5460-229E-46C8-A712-CC31798542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59419" y="3564607"/>
            <a:ext cx="3432581" cy="3293393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53812026-3FC6-44DA-94EF-3B81640494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59419" y="3564607"/>
            <a:ext cx="3432581" cy="3293393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51" name="Graphic 185">
            <a:extLst>
              <a:ext uri="{FF2B5EF4-FFF2-40B4-BE49-F238E27FC236}">
                <a16:creationId xmlns:a16="http://schemas.microsoft.com/office/drawing/2014/main" id="{0C156BF8-7FF7-440F-BE2B-417DFFE8BF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28634" y="59870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B7067280-C3E7-4DF6-A345-B9FEF6EF8D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A78365A8-666B-4417-9D3C-554E6E6B2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E71CAAFA-0A31-4308-AB9F-B1C84ABDF9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96AB1D25-144D-4BB4-A45C-60B8A094F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069F0FB4-779A-48FC-AC33-784F177C92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5" name="Obrázek 4">
            <a:extLst>
              <a:ext uri="{FF2B5EF4-FFF2-40B4-BE49-F238E27FC236}">
                <a16:creationId xmlns:a16="http://schemas.microsoft.com/office/drawing/2014/main" id="{722CEB1D-A55C-50CF-E108-586EB089D0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5031" y="1828928"/>
            <a:ext cx="4570296" cy="375688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565222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98F79A4-A6C7-4101-B1E9-27E05CB7CF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2"/>
            <a:ext cx="2232251" cy="2361890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F8875E4C-CFFE-4552-ABC7-175C3CB757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2"/>
            <a:ext cx="2232251" cy="2361890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B209A37-617D-77DB-B931-9CB29931B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5403" y="633046"/>
            <a:ext cx="4539543" cy="1314996"/>
          </a:xfrm>
        </p:spPr>
        <p:txBody>
          <a:bodyPr anchor="b">
            <a:normAutofit/>
          </a:bodyPr>
          <a:lstStyle/>
          <a:p>
            <a:r>
              <a:rPr lang="cs-CZ" dirty="0">
                <a:solidFill>
                  <a:schemeClr val="bg1"/>
                </a:solidFill>
              </a:rPr>
              <a:t>Škrkavčitost</a:t>
            </a: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79AFCB35-9C04-4524-A0B1-57FF6865D0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92656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D11AD2AD-0BA0-4DD3-8EEA-84686A0E71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32391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6" name="Content Placeholder 9">
            <a:extLst>
              <a:ext uri="{FF2B5EF4-FFF2-40B4-BE49-F238E27FC236}">
                <a16:creationId xmlns:a16="http://schemas.microsoft.com/office/drawing/2014/main" id="{F63CD3FB-21E6-A1DF-1550-74D3F799E7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15403" y="2125737"/>
            <a:ext cx="4539543" cy="4044463"/>
          </a:xfrm>
        </p:spPr>
        <p:txBody>
          <a:bodyPr>
            <a:normAutofit/>
          </a:bodyPr>
          <a:lstStyle/>
          <a:p>
            <a:r>
              <a:rPr lang="cs-CZ" u="sng" dirty="0">
                <a:solidFill>
                  <a:schemeClr val="bg1"/>
                </a:solidFill>
              </a:rPr>
              <a:t>Léčba</a:t>
            </a:r>
            <a:r>
              <a:rPr lang="cs-CZ" dirty="0">
                <a:solidFill>
                  <a:schemeClr val="bg1"/>
                </a:solidFill>
              </a:rPr>
              <a:t>: </a:t>
            </a:r>
          </a:p>
          <a:p>
            <a:pPr lvl="1"/>
            <a:r>
              <a:rPr lang="cs-CZ" dirty="0">
                <a:solidFill>
                  <a:schemeClr val="bg1"/>
                </a:solidFill>
              </a:rPr>
              <a:t>Skupinově všem jedincům do krmiva </a:t>
            </a:r>
            <a:r>
              <a:rPr lang="cs-CZ" dirty="0" err="1">
                <a:solidFill>
                  <a:schemeClr val="bg1"/>
                </a:solidFill>
              </a:rPr>
              <a:t>Helmirazin</a:t>
            </a:r>
            <a:r>
              <a:rPr lang="cs-CZ" dirty="0">
                <a:solidFill>
                  <a:schemeClr val="bg1"/>
                </a:solidFill>
              </a:rPr>
              <a:t>, </a:t>
            </a:r>
            <a:r>
              <a:rPr lang="cs-CZ" dirty="0" err="1">
                <a:solidFill>
                  <a:schemeClr val="bg1"/>
                </a:solidFill>
              </a:rPr>
              <a:t>Helmisan</a:t>
            </a:r>
            <a:r>
              <a:rPr lang="cs-CZ" dirty="0">
                <a:solidFill>
                  <a:schemeClr val="bg1"/>
                </a:solidFill>
              </a:rPr>
              <a:t> nebo </a:t>
            </a:r>
            <a:r>
              <a:rPr lang="cs-CZ" dirty="0" err="1">
                <a:solidFill>
                  <a:schemeClr val="bg1"/>
                </a:solidFill>
              </a:rPr>
              <a:t>Mebenvet</a:t>
            </a:r>
            <a:endParaRPr lang="cs-CZ" dirty="0">
              <a:solidFill>
                <a:schemeClr val="bg1"/>
              </a:solidFill>
            </a:endParaRPr>
          </a:p>
          <a:p>
            <a:r>
              <a:rPr lang="cs-CZ" u="sng" dirty="0">
                <a:solidFill>
                  <a:schemeClr val="bg1"/>
                </a:solidFill>
              </a:rPr>
              <a:t>Prevence</a:t>
            </a:r>
            <a:r>
              <a:rPr lang="cs-CZ" dirty="0">
                <a:solidFill>
                  <a:schemeClr val="bg1"/>
                </a:solidFill>
              </a:rPr>
              <a:t>: </a:t>
            </a:r>
          </a:p>
          <a:p>
            <a:pPr lvl="1"/>
            <a:r>
              <a:rPr lang="cs-CZ" dirty="0">
                <a:solidFill>
                  <a:schemeClr val="bg1"/>
                </a:solidFill>
              </a:rPr>
              <a:t>Důsledná zoohygiena</a:t>
            </a:r>
          </a:p>
          <a:p>
            <a:pPr lvl="1"/>
            <a:r>
              <a:rPr lang="cs-CZ" dirty="0">
                <a:solidFill>
                  <a:schemeClr val="bg1"/>
                </a:solidFill>
              </a:rPr>
              <a:t>Pravidelné odčervení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9E5C5460-229E-46C8-A712-CC31798542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59419" y="3564607"/>
            <a:ext cx="3432581" cy="3293393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53812026-3FC6-44DA-94EF-3B81640494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59419" y="3564607"/>
            <a:ext cx="3432581" cy="3293393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51" name="Graphic 185">
            <a:extLst>
              <a:ext uri="{FF2B5EF4-FFF2-40B4-BE49-F238E27FC236}">
                <a16:creationId xmlns:a16="http://schemas.microsoft.com/office/drawing/2014/main" id="{0C156BF8-7FF7-440F-BE2B-417DFFE8BF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28634" y="59870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B7067280-C3E7-4DF6-A345-B9FEF6EF8D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A78365A8-666B-4417-9D3C-554E6E6B2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E71CAAFA-0A31-4308-AB9F-B1C84ABDF9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96AB1D25-144D-4BB4-A45C-60B8A094F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069F0FB4-779A-48FC-AC33-784F177C92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4" name="Obrázek 3" descr="skrkavka">
            <a:extLst>
              <a:ext uri="{FF2B5EF4-FFF2-40B4-BE49-F238E27FC236}">
                <a16:creationId xmlns:a16="http://schemas.microsoft.com/office/drawing/2014/main" id="{49AC7E0E-AD48-5136-E0B8-BF71CCD540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8791" y="1454178"/>
            <a:ext cx="3797587" cy="255928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5" name="Obrázek 4" descr="Obsah obrázku červ&#10;&#10;Popis byl vytvořen automaticky">
            <a:extLst>
              <a:ext uri="{FF2B5EF4-FFF2-40B4-BE49-F238E27FC236}">
                <a16:creationId xmlns:a16="http://schemas.microsoft.com/office/drawing/2014/main" id="{75A0C2A6-FD10-CB0A-0BA3-95D3E5729E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7915" y="4222347"/>
            <a:ext cx="3476057" cy="2123601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39857348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FE4E6F22-7BB7-2438-9788-AE8AAE9A9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2368" y="694268"/>
            <a:ext cx="3553510" cy="5477932"/>
          </a:xfrm>
        </p:spPr>
        <p:txBody>
          <a:bodyPr>
            <a:normAutofit/>
          </a:bodyPr>
          <a:lstStyle/>
          <a:p>
            <a:pPr algn="ctr"/>
            <a:r>
              <a:rPr lang="cs-CZ" dirty="0">
                <a:solidFill>
                  <a:schemeClr val="bg1"/>
                </a:solidFill>
              </a:rPr>
              <a:t>Svalovčitost („trichinelóza“)</a:t>
            </a:r>
          </a:p>
        </p:txBody>
      </p:sp>
      <p:grpSp>
        <p:nvGrpSpPr>
          <p:cNvPr id="10" name="Graphic 38">
            <a:extLst>
              <a:ext uri="{FF2B5EF4-FFF2-40B4-BE49-F238E27FC236}">
                <a16:creationId xmlns:a16="http://schemas.microsoft.com/office/drawing/2014/main" id="{1E8369D0-2C3B-4E27-AC6C-A246AC28CD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3D5586F-4573-4C57-9793-1EBFDC8963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EED35EF-93A0-4921-941C-ECC67AE2A4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4" name="Graphic 4">
            <a:extLst>
              <a:ext uri="{FF2B5EF4-FFF2-40B4-BE49-F238E27FC236}">
                <a16:creationId xmlns:a16="http://schemas.microsoft.com/office/drawing/2014/main" id="{C6F74901-2A71-43C3-837C-27CCD6B6D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737426" y="2203010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92DF49A-063A-4F60-BE30-D268264925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0DCBBE0-7DEE-43ED-BEE3-ABB179CFC1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9FE8DF-D1B2-4074-9BDF-C458EA0123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1C143B5-6E24-417D-A035-65747A8E9D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331ED8C-8819-4FFB-BF3C-FDA6A90D4B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A39574D-5ECC-4A94-9CB6-646D90DA5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A73D6F7-977D-4026-8F68-CA63C162C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6348370-4FD9-4A99-BB05-944D5B0B0E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D1146D46-43DB-4487-A191-0970511C3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17B7142-9D64-4D34-B23C-9471326AD6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8EB71CD-AB26-440E-A0D5-E1081DB55A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4423BD2-7458-4680-AF49-5013C9D30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5547DC8-8B87-4446-9CC9-65AF04A5FE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9" name="Oval 28">
            <a:extLst>
              <a:ext uri="{FF2B5EF4-FFF2-40B4-BE49-F238E27FC236}">
                <a16:creationId xmlns:a16="http://schemas.microsoft.com/office/drawing/2014/main" id="{EC11F68A-CC71-4196-BBF3-20CDCD75D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9502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85F9950-F10E-4E64-962B-F7034578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9502" y="4752208"/>
            <a:ext cx="365021" cy="36502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5B39C70-F457-4959-AA96-55DBC7D189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8873" y="801384"/>
            <a:ext cx="5446849" cy="5370816"/>
          </a:xfrm>
        </p:spPr>
        <p:txBody>
          <a:bodyPr>
            <a:normAutofit lnSpcReduction="10000"/>
          </a:bodyPr>
          <a:lstStyle/>
          <a:p>
            <a:r>
              <a:rPr lang="cs-CZ" dirty="0" err="1">
                <a:solidFill>
                  <a:schemeClr val="bg1"/>
                </a:solidFill>
              </a:rPr>
              <a:t>Endoparazitóza</a:t>
            </a:r>
            <a:r>
              <a:rPr lang="cs-CZ" dirty="0">
                <a:solidFill>
                  <a:schemeClr val="bg1"/>
                </a:solidFill>
              </a:rPr>
              <a:t>, zoonóza</a:t>
            </a:r>
          </a:p>
          <a:p>
            <a:r>
              <a:rPr lang="cs-CZ" u="sng" dirty="0">
                <a:solidFill>
                  <a:schemeClr val="bg1"/>
                </a:solidFill>
              </a:rPr>
              <a:t>Původce</a:t>
            </a:r>
            <a:r>
              <a:rPr lang="cs-CZ" dirty="0">
                <a:solidFill>
                  <a:schemeClr val="bg1"/>
                </a:solidFill>
              </a:rPr>
              <a:t>: Svalovec stočený</a:t>
            </a:r>
          </a:p>
          <a:p>
            <a:pPr lvl="1"/>
            <a:r>
              <a:rPr lang="cs-CZ" dirty="0">
                <a:solidFill>
                  <a:schemeClr val="bg1"/>
                </a:solidFill>
              </a:rPr>
              <a:t>Oblý červ</a:t>
            </a:r>
          </a:p>
          <a:p>
            <a:pPr lvl="1"/>
            <a:r>
              <a:rPr lang="cs-CZ" dirty="0">
                <a:solidFill>
                  <a:schemeClr val="bg1"/>
                </a:solidFill>
              </a:rPr>
              <a:t>Larvy svalovce žijí ve svalstvu nakaženého zvířete (až 20 let)</a:t>
            </a:r>
          </a:p>
          <a:p>
            <a:pPr lvl="1"/>
            <a:r>
              <a:rPr lang="cs-CZ" dirty="0">
                <a:solidFill>
                  <a:schemeClr val="bg1"/>
                </a:solidFill>
              </a:rPr>
              <a:t>K nákaze dochází pozřením masa nakaženého zvířete (zejména divoká prasata, v chovech pak skrz hlodavce)</a:t>
            </a:r>
          </a:p>
          <a:p>
            <a:r>
              <a:rPr lang="cs-CZ" u="sng" dirty="0">
                <a:solidFill>
                  <a:schemeClr val="bg1"/>
                </a:solidFill>
              </a:rPr>
              <a:t>Příznaky</a:t>
            </a:r>
            <a:r>
              <a:rPr lang="cs-CZ" dirty="0">
                <a:solidFill>
                  <a:schemeClr val="bg1"/>
                </a:solidFill>
              </a:rPr>
              <a:t>:</a:t>
            </a:r>
          </a:p>
          <a:p>
            <a:pPr lvl="1"/>
            <a:r>
              <a:rPr lang="cs-CZ" dirty="0">
                <a:solidFill>
                  <a:schemeClr val="bg1"/>
                </a:solidFill>
              </a:rPr>
              <a:t>Při mírné invazi zcela bez příznaků</a:t>
            </a:r>
          </a:p>
          <a:p>
            <a:pPr lvl="1"/>
            <a:r>
              <a:rPr lang="cs-CZ" dirty="0">
                <a:solidFill>
                  <a:schemeClr val="bg1"/>
                </a:solidFill>
              </a:rPr>
              <a:t>Při silnější invazi nechutenství, malátnost, zvracení, kolikové bolesti, průjmy, ztráty hmotnosti</a:t>
            </a:r>
          </a:p>
          <a:p>
            <a:endParaRPr lang="cs-CZ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77401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98F79A4-A6C7-4101-B1E9-27E05CB7CF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2"/>
            <a:ext cx="2232251" cy="2361890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F8875E4C-CFFE-4552-ABC7-175C3CB757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2"/>
            <a:ext cx="2232251" cy="2361890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B209A37-617D-77DB-B931-9CB29931B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5403" y="633046"/>
            <a:ext cx="4539543" cy="1314996"/>
          </a:xfrm>
        </p:spPr>
        <p:txBody>
          <a:bodyPr anchor="b">
            <a:normAutofit/>
          </a:bodyPr>
          <a:lstStyle/>
          <a:p>
            <a:r>
              <a:rPr lang="cs-CZ" dirty="0">
                <a:solidFill>
                  <a:schemeClr val="bg1"/>
                </a:solidFill>
              </a:rPr>
              <a:t>Svalovčitost</a:t>
            </a: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79AFCB35-9C04-4524-A0B1-57FF6865D0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92656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D11AD2AD-0BA0-4DD3-8EEA-84686A0E71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32391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6" name="Content Placeholder 9">
            <a:extLst>
              <a:ext uri="{FF2B5EF4-FFF2-40B4-BE49-F238E27FC236}">
                <a16:creationId xmlns:a16="http://schemas.microsoft.com/office/drawing/2014/main" id="{F63CD3FB-21E6-A1DF-1550-74D3F799E7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15403" y="2125737"/>
            <a:ext cx="4539543" cy="4044463"/>
          </a:xfrm>
        </p:spPr>
        <p:txBody>
          <a:bodyPr>
            <a:normAutofit/>
          </a:bodyPr>
          <a:lstStyle/>
          <a:p>
            <a:r>
              <a:rPr lang="cs-CZ" u="sng" dirty="0">
                <a:solidFill>
                  <a:schemeClr val="bg1"/>
                </a:solidFill>
              </a:rPr>
              <a:t>Léčba</a:t>
            </a:r>
            <a:r>
              <a:rPr lang="cs-CZ" dirty="0">
                <a:solidFill>
                  <a:schemeClr val="bg1"/>
                </a:solidFill>
              </a:rPr>
              <a:t>: </a:t>
            </a:r>
          </a:p>
          <a:p>
            <a:pPr lvl="1"/>
            <a:r>
              <a:rPr lang="cs-CZ" dirty="0">
                <a:solidFill>
                  <a:schemeClr val="bg1"/>
                </a:solidFill>
              </a:rPr>
              <a:t>Neléčí se</a:t>
            </a:r>
          </a:p>
          <a:p>
            <a:r>
              <a:rPr lang="cs-CZ" u="sng" dirty="0">
                <a:solidFill>
                  <a:schemeClr val="bg1"/>
                </a:solidFill>
              </a:rPr>
              <a:t>Prevence</a:t>
            </a:r>
            <a:r>
              <a:rPr lang="cs-CZ" dirty="0">
                <a:solidFill>
                  <a:schemeClr val="bg1"/>
                </a:solidFill>
              </a:rPr>
              <a:t>: </a:t>
            </a:r>
          </a:p>
          <a:p>
            <a:pPr lvl="1"/>
            <a:r>
              <a:rPr lang="cs-CZ" dirty="0">
                <a:solidFill>
                  <a:schemeClr val="bg1"/>
                </a:solidFill>
              </a:rPr>
              <a:t>Pravidelná trichinelóza masa jatečných prasat</a:t>
            </a:r>
          </a:p>
          <a:p>
            <a:pPr lvl="1"/>
            <a:r>
              <a:rPr lang="cs-CZ" dirty="0">
                <a:solidFill>
                  <a:schemeClr val="bg1"/>
                </a:solidFill>
              </a:rPr>
              <a:t>Deratizace stájových objektů</a:t>
            </a:r>
          </a:p>
          <a:p>
            <a:pPr lvl="1"/>
            <a:r>
              <a:rPr lang="cs-CZ" dirty="0">
                <a:solidFill>
                  <a:schemeClr val="bg1"/>
                </a:solidFill>
              </a:rPr>
              <a:t>Důsledná zoohygiena v chovu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9E5C5460-229E-46C8-A712-CC31798542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59419" y="3564607"/>
            <a:ext cx="3432581" cy="3293393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53812026-3FC6-44DA-94EF-3B81640494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59419" y="3564607"/>
            <a:ext cx="3432581" cy="3293393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51" name="Graphic 185">
            <a:extLst>
              <a:ext uri="{FF2B5EF4-FFF2-40B4-BE49-F238E27FC236}">
                <a16:creationId xmlns:a16="http://schemas.microsoft.com/office/drawing/2014/main" id="{0C156BF8-7FF7-440F-BE2B-417DFFE8BF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28634" y="59870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B7067280-C3E7-4DF6-A345-B9FEF6EF8D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A78365A8-666B-4417-9D3C-554E6E6B2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E71CAAFA-0A31-4308-AB9F-B1C84ABDF9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96AB1D25-144D-4BB4-A45C-60B8A094F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069F0FB4-779A-48FC-AC33-784F177C92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3" name="Obrázek 2">
            <a:extLst>
              <a:ext uri="{FF2B5EF4-FFF2-40B4-BE49-F238E27FC236}">
                <a16:creationId xmlns:a16="http://schemas.microsoft.com/office/drawing/2014/main" id="{2E179C63-380B-B742-6221-B35D9D58BB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5850" y="2928515"/>
            <a:ext cx="3464982" cy="329339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Obrázek 5" descr="Obsah obrázku červ, had&#10;&#10;Popis byl vytvořen automaticky">
            <a:extLst>
              <a:ext uri="{FF2B5EF4-FFF2-40B4-BE49-F238E27FC236}">
                <a16:creationId xmlns:a16="http://schemas.microsoft.com/office/drawing/2014/main" id="{C7801E97-3DF7-3B13-E037-79BFC26A1D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3515" y="431545"/>
            <a:ext cx="1631950" cy="22034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652323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677BAFB-3BD3-41BB-9107-FAE224AE2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6823A9B-C188-42D4-847C-3AD928DB1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42784" y="253140"/>
            <a:ext cx="6184555" cy="6184555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4B557F3-1A0C-4749-A6DB-EAC082DF3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4848" y="253140"/>
            <a:ext cx="6184555" cy="6184555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5D55AA6-3751-494F-868A-DCEDC5CE8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03723" y="136525"/>
            <a:ext cx="6184555" cy="6184555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ECBDB55B-D77F-1DEA-9E6B-2603E76772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1400" y="2500411"/>
            <a:ext cx="5052571" cy="981138"/>
          </a:xfrm>
        </p:spPr>
        <p:txBody>
          <a:bodyPr>
            <a:normAutofit/>
          </a:bodyPr>
          <a:lstStyle/>
          <a:p>
            <a:r>
              <a:rPr lang="cs-CZ" sz="5400" dirty="0">
                <a:solidFill>
                  <a:schemeClr val="bg1"/>
                </a:solidFill>
              </a:rPr>
              <a:t>Opakování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01B1F3E3-6549-904A-E635-B8B80A0D87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06026" y="3734689"/>
            <a:ext cx="4508641" cy="1116414"/>
          </a:xfrm>
        </p:spPr>
        <p:txBody>
          <a:bodyPr>
            <a:normAutofit/>
          </a:bodyPr>
          <a:lstStyle/>
          <a:p>
            <a:r>
              <a:rPr lang="cs-CZ" sz="2000" dirty="0">
                <a:solidFill>
                  <a:schemeClr val="bg1"/>
                </a:solidFill>
              </a:rPr>
              <a:t>Parazitózy</a:t>
            </a:r>
          </a:p>
        </p:txBody>
      </p:sp>
      <p:sp>
        <p:nvSpPr>
          <p:cNvPr id="16" name="Graphic 212">
            <a:extLst>
              <a:ext uri="{FF2B5EF4-FFF2-40B4-BE49-F238E27FC236}">
                <a16:creationId xmlns:a16="http://schemas.microsoft.com/office/drawing/2014/main" id="{4D4C00DC-4DC6-4CD2-9E31-F17E6CEBC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8" name="Graphic 212">
            <a:extLst>
              <a:ext uri="{FF2B5EF4-FFF2-40B4-BE49-F238E27FC236}">
                <a16:creationId xmlns:a16="http://schemas.microsoft.com/office/drawing/2014/main" id="{D82AB1B2-7970-42CF-8BF5-567C69E9F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grpSp>
        <p:nvGrpSpPr>
          <p:cNvPr id="20" name="Graphic 190">
            <a:extLst>
              <a:ext uri="{FF2B5EF4-FFF2-40B4-BE49-F238E27FC236}">
                <a16:creationId xmlns:a16="http://schemas.microsoft.com/office/drawing/2014/main" id="{66FB5A75-BDE2-4F12-A95B-C48788A76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80947" y="1755501"/>
            <a:ext cx="1598829" cy="531293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C86CBC8-A814-4C0C-A287-7C549693D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AA52F4F-14E6-402F-A196-668B9CA9B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4" name="Oval 23">
            <a:extLst>
              <a:ext uri="{FF2B5EF4-FFF2-40B4-BE49-F238E27FC236}">
                <a16:creationId xmlns:a16="http://schemas.microsoft.com/office/drawing/2014/main" id="{C10FB9CA-E7FA-462C-B537-F1224ED1A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8469AE7-A75B-4F37-850B-EF5974ABE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8" name="Graphic 4">
            <a:extLst>
              <a:ext uri="{FF2B5EF4-FFF2-40B4-BE49-F238E27FC236}">
                <a16:creationId xmlns:a16="http://schemas.microsoft.com/office/drawing/2014/main" id="{63301095-70B2-49AA-8DA9-A35629AD6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97506" y="4175798"/>
            <a:ext cx="1861486" cy="1861665"/>
            <a:chOff x="5734053" y="3067000"/>
            <a:chExt cx="724484" cy="724549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D218E08C-0BEA-45C2-8C09-4141DDDA0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067000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232F6090-14E0-44C6-B9FC-C91047BCDC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DB9402B-335C-4892-9E7C-C400E95BE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E7A4371D-4448-409A-93F3-0C92E3EBD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80149CB-4B8F-4FD1-AC5E-25670C9EA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92D49A1A-35B0-4620-9D1E-A782A0E978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FF46F08-B1E4-44C1-BD4A-4191D6EAD9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8DB16610-3D81-4E5C-850D-5D1245C0D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2624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E05501B2-83AC-4299-BE5A-8CA16B408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2624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7CF1B90-3B3A-403E-A94F-8B82945D07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56A1CBA9-4AC1-4C42-9429-3FF31DF282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21318D9B-FD39-402A-ADFA-0E6CC789A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333FB08F-B346-47C0-A7CD-1DE53E6C0D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12624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93AD6F2-6408-4A8E-9749-CB7388EF3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715D9D2F-1568-4BE3-A54A-69F52492B0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85393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9AB547A7-0D80-491F-98B4-C6B7CC4FC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7E2693CD-DAF5-4B26-9A2F-17673BF3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A96EEE12-952A-4693-B161-D7071D601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4228DCC-1611-4BDC-90AA-231F67EB11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DA163C3C-D3DF-461F-B6A8-90C7C227D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4D021D29-2980-41C3-AB83-DA93C105BC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AC09C1FA-1A9D-49A7-9D73-8B777140A3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244637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0B8D8CD4-7B9B-48A5-BC59-0CB859354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24463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224D0A27-A8B0-4020-9399-24127726E6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168E8EBA-9F8C-4650-B9BE-38A0A56BC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6A460BB3-2605-4AA2-AE1D-B9FB61EBF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E2E38EE-DBBE-4CC1-9498-E7193E1B2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2446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BF191D5C-7D2A-4408-A8F2-389D2360F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08F7193B-B379-4921-9F17-1841D5061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03786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B4C5E53C-6003-4F74-B1CA-C7EA1E499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CB97B2B1-1CF5-46A5-940D-AB8F57F59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783F4F1-D8CE-4453-B79B-AD976E272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6A7A4C9-F24F-4F00-A2FA-29E788A0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EB694A32-59D6-46E3-8CE4-E4C485C2CB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983EBB4C-28FF-41C6-90D6-5F30FC086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0707659D-8AE9-49B5-AB29-ECC099F49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63031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5C987ECC-9573-46EA-9C4A-7C3CAE39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6302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4DAF6708-18C2-4082-B024-6CEA32AE0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2CBB5AE-39E2-4D9B-A834-64D31B003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4592DE98-77BF-4E8E-AEB4-1934207BA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5AF5D9A0-BA94-4D2B-8479-26C55355B6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63031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CAA6A8E-7ACF-4EF7-AAD6-734A009DC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D3DD3695-F212-4BAD-BBB3-EC1F62474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22181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B1B3ECB-7594-4C5C-B62B-E686C0A89E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EE54C3C-D9E5-4782-B8F6-058EB2D63E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EAE78EEE-DC43-44E1-AB47-ACB80F94B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47D67EF-1141-4582-866E-FE02FB236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99ECC931-60A1-4628-A34B-4B68DA3CC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A587D2BE-3417-44AE-BEEF-57F88CECB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CEB2ED3-A08D-4286-B75D-893289F3F3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C7DB7BB-8173-4377-85B0-032B7BDAB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93EF69B4-3F48-4509-8BF8-926E23BC1D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C1A86650-1EF5-46E3-885D-96985105A8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47EBBDE2-BD90-481F-A671-34E2186FB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87DAF1CB-838D-4C5C-8FB7-76BF677FEB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64573DA8-D2F3-4644-AC79-83843615C4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2624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41AB53B8-0D5C-44BD-A2A9-ABBF659E1F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29B7FA60-B453-4877-8D47-CA1209DF9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7A6D2414-BCCC-40E8-B990-47642EFE96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0F37C2B-B7E6-420D-AD39-3AE4A2FBE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2624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6417E45-D7FC-40B8-AD49-941B28D18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2624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2A8D1963-0C59-476C-AAFA-A7AF4FF50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8539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6BE777A9-EC29-46FC-AD21-AC7FD89B13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C63BA1CE-93FB-42C7-8381-765E50023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7F30F275-ADC8-4FD1-8B4B-673B37517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DB20529C-F2DD-4607-8DEE-19A932968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B8029A9A-DFF9-49CE-8CEE-95A6695F3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85391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6822C2EC-B05D-4CE6-9D59-164769D0E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244634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53A0760F-F576-4A97-94AF-8BBE590844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CA76721C-646A-4910-AD1A-BE6B67767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065D4766-CAEC-4074-A9E2-6110A12389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4F1A0AC6-319D-49D8-A4FB-17A70E8E8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79502B48-2B92-45BF-B9AC-1102B38078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24463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363AFA7-321F-431C-B2FD-ADCB4D24BD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33EDDE1B-7379-4973-8CFD-F3C737104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1F20B58A-2DB8-46B2-9E93-9C8C817DC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A5A3EF12-3DA1-4505-A44B-1B9634887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5B08812B-9264-47E7-8EC8-1233869F6B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2A29F226-A243-410B-BEE4-EBA9DD76F8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0378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9DF57348-F837-475C-A7AA-3C7210041E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63028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E41B89A-9A45-4947-ADB0-940040049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6C1F1525-32BC-46E1-84E6-C2BB88730B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C73A8972-BA44-40C6-B045-83E78C4D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C196E956-03D1-4F79-826A-A2F5E3DEF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6302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ADA7B07B-EAC8-4FA5-B14F-3ABF8BA7A2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63029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93C28672-FF9E-4FE0-AC47-2FDD26CD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4221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E347BAB3-EA9C-4ADD-AE5E-28F2E3C53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321920C4-EE31-4F03-A0D5-A280D3F4B1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6EBB3D05-4C78-4F10-8D03-8909DBCFB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42217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C65F531-84E4-463F-8791-EB6EDFA63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4221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A63BB6A3-D482-43F2-9F5F-20E163CC4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BDCCD34-EB5D-4194-8A28-1424E98AE4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81330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F058544E-163D-4FFF-9A69-0B3A3F2D66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1041486-0577-4F0E-8DD5-5E20E26729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71D11099-C84E-43AC-9F20-92460E1708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E598FB87-8AFF-4C56-9E2C-776F4641E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7701E761-16DE-4350-9718-DD81B37FB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552E747F-E415-4348-A11A-4CABCB64B5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C6472F13-E6DE-4469-9563-F478261B6E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4057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5C72FE15-910B-4622-A14C-AFA2DFCC02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BAB8F759-DEFA-4D35-B76E-6D3034FB77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A1BBCEBD-DCE2-4354-B878-49ABEC367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2CBB3A18-0021-403F-8E24-8805829B4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8FDF7AAC-1EC6-4409-90AB-DBB984883D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B9999E8-7D25-4049-8328-685B556DC6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E77FC8A9-DEAE-424D-B460-12E0F3268D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997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54F9C69A-0DCF-444A-B970-32B412048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BD94DDA-54FF-48EE-9DAC-C0EA6F91D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E18A6989-0132-4CB7-BB68-EEBC4E080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1357332-D19F-4C2B-B474-21D5539B90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295C7590-8B80-428C-95A9-638B26542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A0E8A31-7520-4726-9D96-43BA87407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9407EEE0-5D8E-4CCC-A91B-0CB523227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3" y="365896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3799DFCC-868B-4257-B530-8E8D616CC5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99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F7F5EEB5-FE82-45A8-97C4-88460ABAFB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49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CD76E4C7-EB07-499D-9BC3-FF39C8B61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86EFDF8D-E5F7-4EB8-B8DA-3CC7E21D88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2CA6506B-EACA-4FB2-81AB-E028F44786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0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193E4771-2787-4901-93D8-7E90F3F479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0EA31773-15F1-4605-8787-6891ABB211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71811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1302C213-2CD5-4168-9534-111E6E81A8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B9B36C24-2336-41FD-BAC4-6CD69DFD5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CA3AFAFE-D376-4A7B-928B-833531472D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7C685A00-A4F7-4250-BAAA-70978DADE4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E52682F3-EDD5-4BDC-BB19-A4540873A8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2C5E1880-CFBA-4547-9C23-6D2C433048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39AAF4F-2AAD-4A02-A7FA-FE28D5286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7" y="3777362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05614144-9309-41ED-8E05-839A6EEFF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1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24324D6F-A81D-45F2-BA36-C53F1AB0C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3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6B00668D-07BC-47CF-9D1E-F94EC7C56F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701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CF78A89-29F2-4973-8463-DF3C57EFB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54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F5BCB645-FB02-40FC-99A4-06CA3F1B2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102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6115A3A-2FBE-4633-A426-37D05BC071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50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AEFD8D2F-B95A-4C0A-AE85-53171B29F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481330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4DD4F397-1F35-4E06-8EC1-8F58C51912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B031E5E0-C77D-49F7-ADF2-258D23052D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3F044DE9-FE64-4C30-8191-7E1547880C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9B18BCEB-85ED-4077-ACB7-FEB2F6443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00C0927E-2CCF-4F8E-8A54-22B8A93C97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48132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D0C3350E-04F5-4FED-9991-4DD964E099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4057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F43D0338-A6C9-4866-8D0C-072664518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405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40EA171B-27E2-4100-9D5F-123CF6E7F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22FD540C-F3DF-40F5-B2BE-BBD113EF4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57768D93-FAD4-4236-969B-B8EE8E88F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405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0F5E0490-21C2-4EF6-950D-38814F32C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40588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E981C9B-710F-4034-AE82-28B1B07245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997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CC62C2CC-DBAE-4877-8F55-02FE00AE8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D8F57D8B-1988-441F-9DAE-A525DA5E9D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6715F028-3A13-4D5F-86C4-74C0AD81D6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DC6C9B50-47B3-44E7-B897-43D010A18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9973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F3F602F0-702E-4D5F-A4FC-0E602C02B9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9F379870-B34C-4DFC-9F0A-BDAB8C89F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6589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641092AC-FED1-4D1D-B57C-0AC883CA95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EA8A0B5E-5BB1-46AF-AC31-7D3756F354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1C519384-2192-432B-B768-64B4BC2DA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13C77A9D-44F0-4289-A611-D8AF81357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A54AEDC-E418-4E02-A713-6CE30C0CDD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1" y="36589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24FECFE3-9F31-47B0-B17F-CF2A1CEE85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9" y="371813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68167DF4-8B16-419B-B7BA-2FD5FF6CC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A543D24F-44C0-4DDF-A30E-8C8407548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63DEAE3C-3931-41EE-B4A1-F9385602BE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B11945CD-32F6-4C09-82AF-551051231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92" y="371812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9109F44F-512F-4792-AED2-ECA80DDE16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0" y="37181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29B9E19B-BC56-46F2-BFFF-1688CEA55A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77737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573BDDE-4AED-43FB-B8D1-B5F3708931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EFFDA684-6DFF-4629-830E-6F2ACAB8C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6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92E23250-6349-4726-AF61-08A57B3A2E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55" y="377735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8536AAE6-5497-4B0A-9C9F-4EAA1BB322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314" y="377745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52B72898-B9DE-4574-BB20-0C317954D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35572107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2043</TotalTime>
  <Words>1544</Words>
  <Application>Microsoft Office PowerPoint</Application>
  <PresentationFormat>Širokoúhlá obrazovka</PresentationFormat>
  <Paragraphs>170</Paragraphs>
  <Slides>18</Slides>
  <Notes>18</Notes>
  <HiddenSlides>0</HiddenSlides>
  <MMClips>0</MMClips>
  <ScaleCrop>false</ScaleCrop>
  <HeadingPairs>
    <vt:vector size="6" baseType="variant">
      <vt:variant>
        <vt:lpstr>Použitá písma</vt:lpstr>
      </vt:variant>
      <vt:variant>
        <vt:i4>5</vt:i4>
      </vt:variant>
      <vt:variant>
        <vt:lpstr>Motiv</vt:lpstr>
      </vt:variant>
      <vt:variant>
        <vt:i4>2</vt:i4>
      </vt:variant>
      <vt:variant>
        <vt:lpstr>Nadpisy snímků</vt:lpstr>
      </vt:variant>
      <vt:variant>
        <vt:i4>18</vt:i4>
      </vt:variant>
    </vt:vector>
  </HeadingPairs>
  <TitlesOfParts>
    <vt:vector size="25" baseType="lpstr">
      <vt:lpstr>Arial</vt:lpstr>
      <vt:lpstr>Calibri</vt:lpstr>
      <vt:lpstr>Calibri Light</vt:lpstr>
      <vt:lpstr>Symbol</vt:lpstr>
      <vt:lpstr>Times New Roman</vt:lpstr>
      <vt:lpstr>Motiv Office</vt:lpstr>
      <vt:lpstr>Motiv Office</vt:lpstr>
      <vt:lpstr>Nemoci prasat I.</vt:lpstr>
      <vt:lpstr>zdraví a nemoc?</vt:lpstr>
      <vt:lpstr>orgánové a infekční nemoci?</vt:lpstr>
      <vt:lpstr>Orgánové (nenakažlivé) nemoci</vt:lpstr>
      <vt:lpstr>Infekční (nakažlivé) nemoci</vt:lpstr>
      <vt:lpstr>Parazitózy</vt:lpstr>
      <vt:lpstr>Svrab („prašivina“)</vt:lpstr>
      <vt:lpstr>Svrab</vt:lpstr>
      <vt:lpstr>Zavšivení </vt:lpstr>
      <vt:lpstr>Zavšivení</vt:lpstr>
      <vt:lpstr>Kokcidióza</vt:lpstr>
      <vt:lpstr>Kokcidióza</vt:lpstr>
      <vt:lpstr>Škrkavčitost</vt:lpstr>
      <vt:lpstr>Škrkavčitost</vt:lpstr>
      <vt:lpstr>Škrkavčitost</vt:lpstr>
      <vt:lpstr>Svalovčitost („trichinelóza“)</vt:lpstr>
      <vt:lpstr>Svalovčitost</vt:lpstr>
      <vt:lpstr>Opakování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Etologie hospodářských zvířat</dc:title>
  <dc:creator>Bulušková Kamila</dc:creator>
  <cp:lastModifiedBy>Bulušková Kamila</cp:lastModifiedBy>
  <cp:revision>2</cp:revision>
  <cp:lastPrinted>2023-03-10T11:30:01Z</cp:lastPrinted>
  <dcterms:created xsi:type="dcterms:W3CDTF">2022-12-01T10:03:51Z</dcterms:created>
  <dcterms:modified xsi:type="dcterms:W3CDTF">2023-03-12T17:29:45Z</dcterms:modified>
</cp:coreProperties>
</file>